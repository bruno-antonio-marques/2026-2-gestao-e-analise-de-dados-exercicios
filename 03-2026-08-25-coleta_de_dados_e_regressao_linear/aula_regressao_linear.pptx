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0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24.xml" ContentType="application/vnd.openxmlformats-officedocument.presentationml.slide+xml"/>
  <Override PartName="/ppt/slides/slide7.xml" ContentType="application/vnd.openxmlformats-officedocument.presentationml.slide+xml"/>
  <Override PartName="/ppt/slides/slide25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26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s/slide27.xml" ContentType="application/vnd.openxmlformats-officedocument.presentationml.slide+xml"/>
  <Override PartName="/ppt/slideMasters/slideMaster1.xml" ContentType="application/vnd.openxmlformats-officedocument.presentationml.slide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mover o slide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notas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5378AFA5-C619-4378-A078-7F975340CE15}" type="slidenum"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1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3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6F0D617-58B0-48D7-90B7-0ABD06AE683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27</a:t>
            </a:fld>
            <a:endParaRPr lang="pt-B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1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6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CF82339-5E22-4774-A41C-D5077A7CFDF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27</a:t>
            </a:fld>
            <a:endParaRPr lang="pt-B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1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9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32CDC57-B2C3-4941-9063-6C71E463BAB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27</a:t>
            </a:fld>
            <a:endParaRPr lang="pt-B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2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2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428A320-4A8A-433E-A69D-53BE28680A4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27</a:t>
            </a:fld>
            <a:endParaRPr lang="pt-B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2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5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B3089D3-5D6F-42CE-AB8E-58CF3913945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27</a:t>
            </a:fld>
            <a:endParaRPr lang="pt-B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2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8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123CE71-EA05-4A05-B67C-61384B4DEF3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27</a:t>
            </a:fld>
            <a:endParaRPr lang="pt-B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3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1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8EAD43F-5E83-47A3-B9B9-19825C96484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27</a:t>
            </a:fld>
            <a:endParaRPr lang="pt-B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3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4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34702DB-8DE4-4F01-BE98-7D877F64387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27</a:t>
            </a:fld>
            <a:endParaRPr lang="pt-B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3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7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BB42EA1-DD21-4E6E-AD80-24CF294E840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27</a:t>
            </a:fld>
            <a:endParaRPr lang="pt-B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3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0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705375B-3AB8-433E-B77B-974C1CEBD09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27</a:t>
            </a:fld>
            <a:endParaRPr lang="pt-B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4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3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5EBC192-9766-451E-87BD-69D38AB8990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27</a:t>
            </a:fld>
            <a:endParaRPr lang="pt-B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4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6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EB55894-F565-45A1-A1A5-6437A1E4E44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27</a:t>
            </a:fld>
            <a:endParaRPr lang="pt-B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4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9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ECE7957-8246-49A0-BC49-1ED0C878779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27</a:t>
            </a:fld>
            <a:endParaRPr lang="pt-B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5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2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9499BBC-699D-48AF-8C01-859A7618C65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27</a:t>
            </a:fld>
            <a:endParaRPr lang="pt-B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5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5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920942A-8D24-4686-85B1-BBAEAFC417A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27</a:t>
            </a:fld>
            <a:endParaRPr lang="pt-B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5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8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78DA961-13F2-4E03-A574-547C01212FF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27</a:t>
            </a:fld>
            <a:endParaRPr lang="pt-B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6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1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5020DCC-A5BB-4D9E-B7C1-28667E21EA7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27</a:t>
            </a:fld>
            <a:endParaRPr lang="pt-B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6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4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E6C90ED-1C05-4490-8969-6C578336794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27</a:t>
            </a:fld>
            <a:endParaRPr lang="pt-B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6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7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8034C3C-9B27-4836-9BC2-2475D698A29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27</a:t>
            </a:fld>
            <a:endParaRPr lang="pt-B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6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0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1C826EC-B353-4AF3-98DB-181ED4F86B4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27</a:t>
            </a:fld>
            <a:endParaRPr lang="pt-B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7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3" name="PlaceHolder 3"/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FB174DC-31FE-4815-8830-E9F5212497D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27</a:t>
            </a:fld>
            <a:endParaRPr lang="pt-B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7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6" name="PlaceHolder 3"/>
          <p:cNvSpPr>
            <a:spLocks noGrp="1"/>
          </p:cNvSpPr>
          <p:nvPr>
            <p:ph type="sldNum" idx="2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0214C49-61FD-4B3E-BF29-4A69C0E8BB1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27</a:t>
            </a:fld>
            <a:endParaRPr lang="pt-B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720" cy="720"/>
          </a:xfrm>
          <a:prstGeom prst="rect">
            <a:avLst/>
          </a:prstGeom>
          <a:ln w="0">
            <a:noFill/>
          </a:ln>
        </p:spPr>
      </p:sp>
      <p:sp>
        <p:nvSpPr>
          <p:cNvPr id="77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9" name="PlaceHolder 3"/>
          <p:cNvSpPr>
            <a:spLocks noGrp="1"/>
          </p:cNvSpPr>
          <p:nvPr>
            <p:ph type="sldNum" idx="2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0486F6E-3017-4E78-9B13-4E322F185D9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27</a:t>
            </a:fld>
            <a:endParaRPr lang="pt-B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8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2" name="PlaceHolder 3"/>
          <p:cNvSpPr>
            <a:spLocks noGrp="1"/>
          </p:cNvSpPr>
          <p:nvPr>
            <p:ph type="sldNum" idx="2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2562497-A9E9-4BF1-955A-5E9F4186306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27</a:t>
            </a:fld>
            <a:endParaRPr lang="pt-B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3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720" cy="720"/>
          </a:xfrm>
          <a:prstGeom prst="rect">
            <a:avLst/>
          </a:prstGeom>
          <a:ln w="0">
            <a:noFill/>
          </a:ln>
        </p:spPr>
      </p:sp>
      <p:sp>
        <p:nvSpPr>
          <p:cNvPr id="78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5" name="PlaceHolder 3"/>
          <p:cNvSpPr>
            <a:spLocks noGrp="1"/>
          </p:cNvSpPr>
          <p:nvPr>
            <p:ph type="sldNum" idx="2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2BBA3B1-7669-40A6-9840-483EEAC5D2E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27</a:t>
            </a:fld>
            <a:endParaRPr lang="pt-B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8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8" name="PlaceHolder 3"/>
          <p:cNvSpPr>
            <a:spLocks noGrp="1"/>
          </p:cNvSpPr>
          <p:nvPr>
            <p:ph type="sldNum" idx="2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6C1330C-22F9-464E-BA8D-84979D89424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27</a:t>
            </a:fld>
            <a:endParaRPr lang="pt-B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9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1" name="PlaceHolder 3"/>
          <p:cNvSpPr>
            <a:spLocks noGrp="1"/>
          </p:cNvSpPr>
          <p:nvPr>
            <p:ph type="sldNum" idx="3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14ED1BB-4E7B-4C9C-9119-73FEDC451D6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B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>
              <a:buNone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 formato do texto do título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 formato de texto dos tópicos</a:t>
            </a:r>
            <a:endParaRPr lang="pt-BR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2.º nível de tópicos</a:t>
            </a:r>
            <a:endParaRPr lang="pt-BR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3.º nível de tópicos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4.º nível de tópicos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5.º nível de tópicos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6.º nível de tópicos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7.º nível de tópicos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image" Target="../media/image7.png"/><Relationship Id="rId4" Type="http://schemas.openxmlformats.org/officeDocument/2006/relationships/image" Target="../media/image7.png"/><Relationship Id="rId5" Type="http://schemas.openxmlformats.org/officeDocument/2006/relationships/image" Target="../media/image7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4"/>
          <p:cNvSpPr/>
          <p:nvPr/>
        </p:nvSpPr>
        <p:spPr>
          <a:xfrm>
            <a:off x="702360" y="1188720"/>
            <a:ext cx="64040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4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Aula 03 - Regressão Linear</a:t>
            </a:r>
            <a:endParaRPr lang="pt-BR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5"/>
          <p:cNvSpPr/>
          <p:nvPr/>
        </p:nvSpPr>
        <p:spPr>
          <a:xfrm>
            <a:off x="713160" y="2200320"/>
            <a:ext cx="69490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D7EAFE"/>
                </a:solidFill>
                <a:effectLst/>
                <a:uFillTx/>
                <a:latin typeface="Aptos"/>
              </a:rPr>
              <a:t>Professor Miguél Suares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6"/>
          <p:cNvSpPr/>
          <p:nvPr/>
        </p:nvSpPr>
        <p:spPr>
          <a:xfrm>
            <a:off x="749880" y="4023360"/>
            <a:ext cx="3291480" cy="776880"/>
          </a:xfrm>
          <a:prstGeom prst="roundRect">
            <a:avLst>
              <a:gd name="adj" fmla="val 9412"/>
            </a:avLst>
          </a:prstGeom>
          <a:solidFill>
            <a:srgbClr val="132F55"/>
          </a:solidFill>
          <a:ln w="15240">
            <a:solidFill>
              <a:srgbClr val="4DA3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7"/>
          <p:cNvSpPr/>
          <p:nvPr/>
        </p:nvSpPr>
        <p:spPr>
          <a:xfrm>
            <a:off x="887040" y="4096440"/>
            <a:ext cx="3017160" cy="63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0" u="none" strike="noStrike">
                <a:solidFill>
                  <a:srgbClr val="FFFFFF"/>
                </a:solidFill>
                <a:effectLst/>
                <a:uFillTx/>
                <a:latin typeface="Cambria Math"/>
                <a:ea typeface="Cambria Math"/>
              </a:rPr>
              <a:t>ŷ = wx + b</a:t>
            </a:r>
            <a:endParaRPr lang="pt-BR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Shape 8"/>
          <p:cNvSpPr/>
          <p:nvPr/>
        </p:nvSpPr>
        <p:spPr>
          <a:xfrm>
            <a:off x="4937760" y="4160520"/>
            <a:ext cx="1188360" cy="456840"/>
          </a:xfrm>
          <a:prstGeom prst="roundRect">
            <a:avLst>
              <a:gd name="adj" fmla="val 16000"/>
            </a:avLst>
          </a:prstGeom>
          <a:solidFill>
            <a:srgbClr val="EAF4FF"/>
          </a:solidFill>
          <a:ln w="15240">
            <a:solidFill>
              <a:srgbClr val="EAF4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9"/>
          <p:cNvSpPr/>
          <p:nvPr/>
        </p:nvSpPr>
        <p:spPr>
          <a:xfrm>
            <a:off x="5010840" y="4233600"/>
            <a:ext cx="10422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dados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Shape 10"/>
          <p:cNvSpPr/>
          <p:nvPr/>
        </p:nvSpPr>
        <p:spPr>
          <a:xfrm>
            <a:off x="6263640" y="4389120"/>
            <a:ext cx="640080" cy="360"/>
          </a:xfrm>
          <a:prstGeom prst="line">
            <a:avLst/>
          </a:prstGeom>
          <a:ln w="19050">
            <a:solidFill>
              <a:srgbClr val="FFFF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Shape 11"/>
          <p:cNvSpPr/>
          <p:nvPr/>
        </p:nvSpPr>
        <p:spPr>
          <a:xfrm>
            <a:off x="7086600" y="4160520"/>
            <a:ext cx="1508400" cy="456840"/>
          </a:xfrm>
          <a:prstGeom prst="roundRect">
            <a:avLst>
              <a:gd name="adj" fmla="val 16000"/>
            </a:avLst>
          </a:prstGeom>
          <a:solidFill>
            <a:srgbClr val="EAF4FF"/>
          </a:solidFill>
          <a:ln w="15240">
            <a:solidFill>
              <a:srgbClr val="EAF4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12"/>
          <p:cNvSpPr/>
          <p:nvPr/>
        </p:nvSpPr>
        <p:spPr>
          <a:xfrm>
            <a:off x="7159680" y="4233600"/>
            <a:ext cx="13622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modelo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Shape 13"/>
          <p:cNvSpPr/>
          <p:nvPr/>
        </p:nvSpPr>
        <p:spPr>
          <a:xfrm>
            <a:off x="8732520" y="4389120"/>
            <a:ext cx="640080" cy="360"/>
          </a:xfrm>
          <a:prstGeom prst="line">
            <a:avLst/>
          </a:prstGeom>
          <a:ln w="19050">
            <a:solidFill>
              <a:srgbClr val="FFFF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Shape 14"/>
          <p:cNvSpPr/>
          <p:nvPr/>
        </p:nvSpPr>
        <p:spPr>
          <a:xfrm>
            <a:off x="9555480" y="4160520"/>
            <a:ext cx="1508400" cy="456840"/>
          </a:xfrm>
          <a:prstGeom prst="roundRect">
            <a:avLst>
              <a:gd name="adj" fmla="val 16000"/>
            </a:avLst>
          </a:prstGeom>
          <a:solidFill>
            <a:srgbClr val="EAF4FF"/>
          </a:solidFill>
          <a:ln w="15240">
            <a:solidFill>
              <a:srgbClr val="EAF4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15"/>
          <p:cNvSpPr/>
          <p:nvPr/>
        </p:nvSpPr>
        <p:spPr>
          <a:xfrm>
            <a:off x="9628560" y="4233600"/>
            <a:ext cx="13622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previsão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16"/>
          <p:cNvSpPr/>
          <p:nvPr/>
        </p:nvSpPr>
        <p:spPr>
          <a:xfrm>
            <a:off x="749880" y="5039280"/>
            <a:ext cx="30171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BBD7FF"/>
                </a:solidFill>
                <a:effectLst/>
                <a:uFillTx/>
                <a:latin typeface="Aptos"/>
              </a:rPr>
              <a:t>UNIP • GTI – Oferta 2026 - Gestão e Análise de Dados</a:t>
            </a:r>
            <a:endParaRPr lang="pt-BR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" name="Retângulo 18"/>
          <p:cNvSpPr/>
          <p:nvPr/>
        </p:nvSpPr>
        <p:spPr>
          <a:xfrm>
            <a:off x="0" y="0"/>
            <a:ext cx="12191760" cy="712800"/>
          </a:xfrm>
          <a:prstGeom prst="rect">
            <a:avLst/>
          </a:prstGeom>
          <a:solidFill>
            <a:srgbClr val="4472C4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5" name="Retângulo 20"/>
          <p:cNvSpPr/>
          <p:nvPr/>
        </p:nvSpPr>
        <p:spPr>
          <a:xfrm>
            <a:off x="-360" y="5852160"/>
            <a:ext cx="12191760" cy="712800"/>
          </a:xfrm>
          <a:prstGeom prst="rect">
            <a:avLst/>
          </a:prstGeom>
          <a:solidFill>
            <a:srgbClr val="4472C4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26" name="Imagem 25"/>
          <p:cNvPicPr/>
          <p:nvPr/>
        </p:nvPicPr>
        <p:blipFill>
          <a:blip r:embed="rId1"/>
          <a:stretch/>
        </p:blipFill>
        <p:spPr>
          <a:xfrm>
            <a:off x="4116960" y="0"/>
            <a:ext cx="3533400" cy="712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Shape 0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Shape 1"/>
          <p:cNvSpPr/>
          <p:nvPr/>
        </p:nvSpPr>
        <p:spPr>
          <a:xfrm>
            <a:off x="0" y="0"/>
            <a:ext cx="164160" cy="68576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3"/>
          <p:cNvSpPr/>
          <p:nvPr/>
        </p:nvSpPr>
        <p:spPr>
          <a:xfrm>
            <a:off x="502920" y="511920"/>
            <a:ext cx="1078956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0B1F3A"/>
                </a:solidFill>
                <a:effectLst/>
                <a:uFillTx/>
                <a:latin typeface="Aptos Display"/>
                <a:ea typeface="Aptos Display"/>
              </a:rPr>
              <a:t>AGENDA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4"/>
          <p:cNvSpPr/>
          <p:nvPr/>
        </p:nvSpPr>
        <p:spPr>
          <a:xfrm>
            <a:off x="502920" y="6446520"/>
            <a:ext cx="32000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Regressão Linear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5"/>
          <p:cNvSpPr/>
          <p:nvPr/>
        </p:nvSpPr>
        <p:spPr>
          <a:xfrm>
            <a:off x="11247120" y="641916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01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6"/>
          <p:cNvSpPr/>
          <p:nvPr/>
        </p:nvSpPr>
        <p:spPr>
          <a:xfrm>
            <a:off x="731520" y="1234440"/>
            <a:ext cx="456840" cy="456840"/>
          </a:xfrm>
          <a:prstGeom prst="ellipse">
            <a:avLst/>
          </a:prstGeom>
          <a:solidFill>
            <a:srgbClr val="2563EB"/>
          </a:solidFill>
          <a:ln w="1524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7"/>
          <p:cNvSpPr/>
          <p:nvPr/>
        </p:nvSpPr>
        <p:spPr>
          <a:xfrm>
            <a:off x="731520" y="1344240"/>
            <a:ext cx="4568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1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8"/>
          <p:cNvSpPr/>
          <p:nvPr/>
        </p:nvSpPr>
        <p:spPr>
          <a:xfrm>
            <a:off x="1371600" y="1325880"/>
            <a:ext cx="68576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Revisão de Funções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Shape 9"/>
          <p:cNvSpPr/>
          <p:nvPr/>
        </p:nvSpPr>
        <p:spPr>
          <a:xfrm>
            <a:off x="731520" y="2057400"/>
            <a:ext cx="456840" cy="456840"/>
          </a:xfrm>
          <a:prstGeom prst="ellipse">
            <a:avLst/>
          </a:prstGeom>
          <a:solidFill>
            <a:srgbClr val="2563EB"/>
          </a:solidFill>
          <a:ln w="1524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10"/>
          <p:cNvSpPr/>
          <p:nvPr/>
        </p:nvSpPr>
        <p:spPr>
          <a:xfrm>
            <a:off x="731520" y="2167200"/>
            <a:ext cx="4568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2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11"/>
          <p:cNvSpPr/>
          <p:nvPr/>
        </p:nvSpPr>
        <p:spPr>
          <a:xfrm>
            <a:off x="1371600" y="2148840"/>
            <a:ext cx="68576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Conhecendo a Regressão Linear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12"/>
          <p:cNvSpPr/>
          <p:nvPr/>
        </p:nvSpPr>
        <p:spPr>
          <a:xfrm>
            <a:off x="731520" y="2880360"/>
            <a:ext cx="456840" cy="45684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13"/>
          <p:cNvSpPr/>
          <p:nvPr/>
        </p:nvSpPr>
        <p:spPr>
          <a:xfrm>
            <a:off x="731520" y="2990160"/>
            <a:ext cx="4568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2563EB"/>
                </a:solidFill>
                <a:effectLst/>
                <a:uFillTx/>
                <a:latin typeface="Aptos"/>
              </a:rPr>
              <a:t>3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14"/>
          <p:cNvSpPr/>
          <p:nvPr/>
        </p:nvSpPr>
        <p:spPr>
          <a:xfrm>
            <a:off x="1371600" y="2971800"/>
            <a:ext cx="68576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Medir erro com resíduos e MSE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Shape 15"/>
          <p:cNvSpPr/>
          <p:nvPr/>
        </p:nvSpPr>
        <p:spPr>
          <a:xfrm>
            <a:off x="731520" y="3703320"/>
            <a:ext cx="456840" cy="45684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16"/>
          <p:cNvSpPr/>
          <p:nvPr/>
        </p:nvSpPr>
        <p:spPr>
          <a:xfrm>
            <a:off x="731520" y="3813120"/>
            <a:ext cx="4568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2563EB"/>
                </a:solidFill>
                <a:effectLst/>
                <a:uFillTx/>
                <a:latin typeface="Aptos"/>
              </a:rPr>
              <a:t>4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17"/>
          <p:cNvSpPr/>
          <p:nvPr/>
        </p:nvSpPr>
        <p:spPr>
          <a:xfrm>
            <a:off x="1371600" y="3794760"/>
            <a:ext cx="68576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Entender mínimos quadrados, gradiente e SGD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Shape 18"/>
          <p:cNvSpPr/>
          <p:nvPr/>
        </p:nvSpPr>
        <p:spPr>
          <a:xfrm>
            <a:off x="731520" y="4526280"/>
            <a:ext cx="456840" cy="45684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19"/>
          <p:cNvSpPr/>
          <p:nvPr/>
        </p:nvSpPr>
        <p:spPr>
          <a:xfrm>
            <a:off x="731520" y="4636080"/>
            <a:ext cx="4568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2563EB"/>
                </a:solidFill>
                <a:effectLst/>
                <a:uFillTx/>
                <a:latin typeface="Aptos"/>
              </a:rPr>
              <a:t>5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20"/>
          <p:cNvSpPr/>
          <p:nvPr/>
        </p:nvSpPr>
        <p:spPr>
          <a:xfrm>
            <a:off x="1371600" y="4617720"/>
            <a:ext cx="68576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Aplicar uma regressão linear simples em Python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Shape 21"/>
          <p:cNvSpPr/>
          <p:nvPr/>
        </p:nvSpPr>
        <p:spPr>
          <a:xfrm>
            <a:off x="8412480" y="1280160"/>
            <a:ext cx="2651400" cy="776880"/>
          </a:xfrm>
          <a:prstGeom prst="roundRect">
            <a:avLst>
              <a:gd name="adj" fmla="val 9412"/>
            </a:avLst>
          </a:prstGeom>
          <a:solidFill>
            <a:srgbClr val="EAF4FF"/>
          </a:solidFill>
          <a:ln w="1524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22"/>
          <p:cNvSpPr/>
          <p:nvPr/>
        </p:nvSpPr>
        <p:spPr>
          <a:xfrm>
            <a:off x="8485560" y="1353240"/>
            <a:ext cx="2505240" cy="63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Parte 0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Funções → Modelos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Shape 23"/>
          <p:cNvSpPr/>
          <p:nvPr/>
        </p:nvSpPr>
        <p:spPr>
          <a:xfrm>
            <a:off x="8412480" y="2377440"/>
            <a:ext cx="2651400" cy="77688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524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24"/>
          <p:cNvSpPr/>
          <p:nvPr/>
        </p:nvSpPr>
        <p:spPr>
          <a:xfrm>
            <a:off x="8485560" y="2450520"/>
            <a:ext cx="2505240" cy="63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Parte I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Problema de regressão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Shape 25"/>
          <p:cNvSpPr/>
          <p:nvPr/>
        </p:nvSpPr>
        <p:spPr>
          <a:xfrm>
            <a:off x="8412480" y="3474720"/>
            <a:ext cx="2651400" cy="77688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524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26"/>
          <p:cNvSpPr/>
          <p:nvPr/>
        </p:nvSpPr>
        <p:spPr>
          <a:xfrm>
            <a:off x="8485560" y="3547800"/>
            <a:ext cx="2505240" cy="63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 lnSpcReduction="9999"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Parte II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Modelo, erro e otimização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Shape 27"/>
          <p:cNvSpPr/>
          <p:nvPr/>
        </p:nvSpPr>
        <p:spPr>
          <a:xfrm>
            <a:off x="8412480" y="4572000"/>
            <a:ext cx="2651400" cy="77688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524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28"/>
          <p:cNvSpPr/>
          <p:nvPr/>
        </p:nvSpPr>
        <p:spPr>
          <a:xfrm>
            <a:off x="8485560" y="4645080"/>
            <a:ext cx="2505240" cy="63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Parte III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Python e exercício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0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Shape 1"/>
          <p:cNvSpPr/>
          <p:nvPr/>
        </p:nvSpPr>
        <p:spPr>
          <a:xfrm>
            <a:off x="0" y="0"/>
            <a:ext cx="164160" cy="68576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3"/>
          <p:cNvSpPr/>
          <p:nvPr/>
        </p:nvSpPr>
        <p:spPr>
          <a:xfrm>
            <a:off x="502920" y="511920"/>
            <a:ext cx="1078956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0B1F3A"/>
                </a:solidFill>
                <a:effectLst/>
                <a:uFillTx/>
                <a:latin typeface="Aptos Display"/>
              </a:rPr>
              <a:t>Funções de Primeiro Grau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4"/>
          <p:cNvSpPr/>
          <p:nvPr/>
        </p:nvSpPr>
        <p:spPr>
          <a:xfrm>
            <a:off x="502920" y="6446520"/>
            <a:ext cx="32000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Regressão Linear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5"/>
          <p:cNvSpPr/>
          <p:nvPr/>
        </p:nvSpPr>
        <p:spPr>
          <a:xfrm>
            <a:off x="11247120" y="641916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02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Shape 6"/>
          <p:cNvSpPr/>
          <p:nvPr/>
        </p:nvSpPr>
        <p:spPr>
          <a:xfrm>
            <a:off x="822960" y="4576320"/>
            <a:ext cx="1919880" cy="86832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24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7"/>
          <p:cNvSpPr/>
          <p:nvPr/>
        </p:nvSpPr>
        <p:spPr>
          <a:xfrm>
            <a:off x="896040" y="4649400"/>
            <a:ext cx="1773720" cy="72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Entrada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x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Shape 8"/>
          <p:cNvSpPr/>
          <p:nvPr/>
        </p:nvSpPr>
        <p:spPr>
          <a:xfrm>
            <a:off x="2880360" y="5005800"/>
            <a:ext cx="1280160" cy="360"/>
          </a:xfrm>
          <a:prstGeom prst="line">
            <a:avLst/>
          </a:prstGeom>
          <a:ln w="19050">
            <a:solidFill>
              <a:srgbClr val="334155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Shape 9"/>
          <p:cNvSpPr/>
          <p:nvPr/>
        </p:nvSpPr>
        <p:spPr>
          <a:xfrm>
            <a:off x="4297680" y="4393440"/>
            <a:ext cx="2742840" cy="1234080"/>
          </a:xfrm>
          <a:prstGeom prst="roundRect">
            <a:avLst>
              <a:gd name="adj" fmla="val 5926"/>
            </a:avLst>
          </a:prstGeom>
          <a:solidFill>
            <a:srgbClr val="EAF4FF"/>
          </a:solidFill>
          <a:ln w="1524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10"/>
          <p:cNvSpPr/>
          <p:nvPr/>
        </p:nvSpPr>
        <p:spPr>
          <a:xfrm>
            <a:off x="4370760" y="4466520"/>
            <a:ext cx="2596680" cy="108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Função / fórmula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y = f(x)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Shape 11"/>
          <p:cNvSpPr/>
          <p:nvPr/>
        </p:nvSpPr>
        <p:spPr>
          <a:xfrm>
            <a:off x="7178040" y="5005800"/>
            <a:ext cx="1280160" cy="360"/>
          </a:xfrm>
          <a:prstGeom prst="line">
            <a:avLst/>
          </a:prstGeom>
          <a:ln w="19050">
            <a:solidFill>
              <a:srgbClr val="334155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Shape 12"/>
          <p:cNvSpPr/>
          <p:nvPr/>
        </p:nvSpPr>
        <p:spPr>
          <a:xfrm>
            <a:off x="8595360" y="4576320"/>
            <a:ext cx="1919880" cy="86832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24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13"/>
          <p:cNvSpPr/>
          <p:nvPr/>
        </p:nvSpPr>
        <p:spPr>
          <a:xfrm>
            <a:off x="8668440" y="4649400"/>
            <a:ext cx="1773720" cy="72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Saída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y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Shape 14"/>
          <p:cNvSpPr/>
          <p:nvPr/>
        </p:nvSpPr>
        <p:spPr>
          <a:xfrm>
            <a:off x="3429000" y="3341880"/>
            <a:ext cx="4525920" cy="59400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524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15"/>
          <p:cNvSpPr/>
          <p:nvPr/>
        </p:nvSpPr>
        <p:spPr>
          <a:xfrm>
            <a:off x="3566160" y="3414960"/>
            <a:ext cx="4251600" cy="44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0B1F3A"/>
                </a:solidFill>
                <a:effectLst/>
                <a:uFillTx/>
                <a:latin typeface="Cambria Math"/>
                <a:ea typeface="Cambria Math"/>
              </a:rPr>
              <a:t>y = 2x + 10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16"/>
          <p:cNvSpPr/>
          <p:nvPr/>
        </p:nvSpPr>
        <p:spPr>
          <a:xfrm>
            <a:off x="960120" y="1170360"/>
            <a:ext cx="9875160" cy="68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 fontScale="85000" lnSpcReduction="9999"/>
          </a:bodyPr>
          <a:p>
            <a:pPr marL="285840" indent="-285840" defTabSz="914400">
              <a:lnSpc>
                <a:spcPct val="100000"/>
              </a:lnSpc>
              <a:buClr>
                <a:srgbClr val="334155"/>
              </a:buClr>
              <a:buFont typeface="Arial"/>
              <a:buChar char="•"/>
            </a:pPr>
            <a:r>
              <a:rPr lang="en-US" sz="1800" b="0" u="none" strike="noStrike">
                <a:solidFill>
                  <a:srgbClr val="334155"/>
                </a:solidFill>
                <a:effectLst/>
                <a:uFillTx/>
                <a:latin typeface="Aptos"/>
              </a:rPr>
              <a:t>Na matemática tradicional, função é uma regra, uma “formula” já é conhecida.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334155"/>
              </a:buClr>
              <a:buFont typeface="Arial"/>
              <a:buChar char="•"/>
            </a:pPr>
            <a:r>
              <a:rPr lang="en-US" sz="1800" b="0" u="none" strike="noStrike">
                <a:solidFill>
                  <a:srgbClr val="334155"/>
                </a:solidFill>
                <a:effectLst/>
                <a:uFillTx/>
                <a:latin typeface="Aptos"/>
              </a:rPr>
              <a:t>Normalmente essa “formula”, vamos chama-la de MODELO, já nos é fornecida.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334155"/>
              </a:buClr>
              <a:buFont typeface="Arial"/>
              <a:buChar char="•"/>
            </a:pPr>
            <a:r>
              <a:rPr lang="en-US" sz="1800" b="0" u="none" strike="noStrike">
                <a:solidFill>
                  <a:srgbClr val="334155"/>
                </a:solidFill>
                <a:effectLst/>
                <a:uFillTx/>
                <a:latin typeface="Aptos"/>
              </a:rPr>
              <a:t>O trabalho é aplicar a “formula” a uma entrada X e obter uma saída Y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Shape 14"/>
          <p:cNvSpPr/>
          <p:nvPr/>
        </p:nvSpPr>
        <p:spPr>
          <a:xfrm>
            <a:off x="3429000" y="2101320"/>
            <a:ext cx="4525920" cy="59400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524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15"/>
          <p:cNvSpPr/>
          <p:nvPr/>
        </p:nvSpPr>
        <p:spPr>
          <a:xfrm>
            <a:off x="3566160" y="2174400"/>
            <a:ext cx="4251600" cy="44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0B1F3A"/>
                </a:solidFill>
                <a:effectLst/>
                <a:uFillTx/>
                <a:latin typeface="Cambria Math"/>
                <a:ea typeface="Cambria Math"/>
              </a:rPr>
              <a:t>f(x) = 2x + 10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Shape 8"/>
          <p:cNvSpPr/>
          <p:nvPr/>
        </p:nvSpPr>
        <p:spPr>
          <a:xfrm>
            <a:off x="5564520" y="2695320"/>
            <a:ext cx="360" cy="594360"/>
          </a:xfrm>
          <a:prstGeom prst="line">
            <a:avLst/>
          </a:prstGeom>
          <a:ln w="19050">
            <a:solidFill>
              <a:srgbClr val="334155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Shape 1"/>
          <p:cNvSpPr/>
          <p:nvPr/>
        </p:nvSpPr>
        <p:spPr>
          <a:xfrm>
            <a:off x="0" y="0"/>
            <a:ext cx="164160" cy="68576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3"/>
          <p:cNvSpPr/>
          <p:nvPr/>
        </p:nvSpPr>
        <p:spPr>
          <a:xfrm>
            <a:off x="502920" y="511920"/>
            <a:ext cx="1078956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0B1F3A"/>
                </a:solidFill>
                <a:effectLst/>
                <a:uFillTx/>
                <a:latin typeface="Aptos Display"/>
                <a:ea typeface="Aptos Display"/>
              </a:rPr>
              <a:t>Exemplo: aplicar a “formula” ou MODELO 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4"/>
          <p:cNvSpPr/>
          <p:nvPr/>
        </p:nvSpPr>
        <p:spPr>
          <a:xfrm>
            <a:off x="502920" y="6446520"/>
            <a:ext cx="32000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Regressão Linear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5"/>
          <p:cNvSpPr/>
          <p:nvPr/>
        </p:nvSpPr>
        <p:spPr>
          <a:xfrm>
            <a:off x="11247120" y="641916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03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6"/>
          <p:cNvSpPr/>
          <p:nvPr/>
        </p:nvSpPr>
        <p:spPr>
          <a:xfrm>
            <a:off x="730800" y="1851840"/>
            <a:ext cx="3382920" cy="6397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524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7"/>
          <p:cNvSpPr/>
          <p:nvPr/>
        </p:nvSpPr>
        <p:spPr>
          <a:xfrm>
            <a:off x="867960" y="1924920"/>
            <a:ext cx="310860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rgbClr val="0B1F3A"/>
                </a:solidFill>
                <a:effectLst/>
                <a:uFillTx/>
                <a:latin typeface="Cambria Math"/>
                <a:ea typeface="Cambria Math"/>
              </a:rPr>
              <a:t>f(x) = 2x + 10</a:t>
            </a:r>
            <a:endParaRPr lang="pt-B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Shape 8"/>
          <p:cNvSpPr/>
          <p:nvPr/>
        </p:nvSpPr>
        <p:spPr>
          <a:xfrm>
            <a:off x="852840" y="4393440"/>
            <a:ext cx="1416960" cy="52992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524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9"/>
          <p:cNvSpPr/>
          <p:nvPr/>
        </p:nvSpPr>
        <p:spPr>
          <a:xfrm>
            <a:off x="925920" y="4466520"/>
            <a:ext cx="12708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x = 5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Shape 10"/>
          <p:cNvSpPr/>
          <p:nvPr/>
        </p:nvSpPr>
        <p:spPr>
          <a:xfrm>
            <a:off x="2406960" y="4649400"/>
            <a:ext cx="731520" cy="360"/>
          </a:xfrm>
          <a:prstGeom prst="line">
            <a:avLst/>
          </a:prstGeom>
          <a:ln w="19050">
            <a:solidFill>
              <a:srgbClr val="334155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11"/>
          <p:cNvSpPr/>
          <p:nvPr/>
        </p:nvSpPr>
        <p:spPr>
          <a:xfrm>
            <a:off x="3321720" y="4393440"/>
            <a:ext cx="1828440" cy="529920"/>
          </a:xfrm>
          <a:prstGeom prst="roundRect">
            <a:avLst>
              <a:gd name="adj" fmla="val 13793"/>
            </a:avLst>
          </a:prstGeom>
          <a:solidFill>
            <a:srgbClr val="EAF4FF"/>
          </a:solidFill>
          <a:ln w="1524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12"/>
          <p:cNvSpPr/>
          <p:nvPr/>
        </p:nvSpPr>
        <p:spPr>
          <a:xfrm>
            <a:off x="3394800" y="4466520"/>
            <a:ext cx="16822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2·(5) + 10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Shape 13"/>
          <p:cNvSpPr/>
          <p:nvPr/>
        </p:nvSpPr>
        <p:spPr>
          <a:xfrm>
            <a:off x="5287320" y="4649400"/>
            <a:ext cx="777240" cy="360"/>
          </a:xfrm>
          <a:prstGeom prst="line">
            <a:avLst/>
          </a:prstGeom>
          <a:ln w="19050">
            <a:solidFill>
              <a:srgbClr val="334155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14"/>
          <p:cNvSpPr/>
          <p:nvPr/>
        </p:nvSpPr>
        <p:spPr>
          <a:xfrm>
            <a:off x="6247800" y="4393440"/>
            <a:ext cx="1508400" cy="52992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524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15"/>
          <p:cNvSpPr/>
          <p:nvPr/>
        </p:nvSpPr>
        <p:spPr>
          <a:xfrm>
            <a:off x="6320880" y="4466520"/>
            <a:ext cx="13622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y = 20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16"/>
          <p:cNvSpPr/>
          <p:nvPr/>
        </p:nvSpPr>
        <p:spPr>
          <a:xfrm>
            <a:off x="730800" y="1344240"/>
            <a:ext cx="72234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 fontScale="70000" lnSpcReduction="1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Como o modelo já existe, não há aprendizado: há apenas cálculo.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6"/>
          <p:cNvSpPr/>
          <p:nvPr/>
        </p:nvSpPr>
        <p:spPr>
          <a:xfrm>
            <a:off x="746280" y="2756880"/>
            <a:ext cx="3382920" cy="6397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524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7"/>
          <p:cNvSpPr/>
          <p:nvPr/>
        </p:nvSpPr>
        <p:spPr>
          <a:xfrm>
            <a:off x="883440" y="2829960"/>
            <a:ext cx="310860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rgbClr val="0B1F3A"/>
                </a:solidFill>
                <a:effectLst/>
                <a:uFillTx/>
                <a:latin typeface="Cambria Math"/>
                <a:ea typeface="Cambria Math"/>
              </a:rPr>
              <a:t>y = 2x + 10</a:t>
            </a:r>
            <a:endParaRPr lang="pt-B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Shape 10"/>
          <p:cNvSpPr/>
          <p:nvPr/>
        </p:nvSpPr>
        <p:spPr>
          <a:xfrm>
            <a:off x="2101680" y="2529000"/>
            <a:ext cx="360" cy="168480"/>
          </a:xfrm>
          <a:prstGeom prst="line">
            <a:avLst/>
          </a:prstGeom>
          <a:ln w="19050">
            <a:solidFill>
              <a:srgbClr val="334155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16"/>
          <p:cNvSpPr/>
          <p:nvPr/>
        </p:nvSpPr>
        <p:spPr>
          <a:xfrm>
            <a:off x="746280" y="3684960"/>
            <a:ext cx="72234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 fontScale="77500" lnSpcReduction="19999"/>
          </a:bodyPr>
          <a:p>
            <a:pPr marL="343080" indent="-343080" defTabSz="914400">
              <a:lnSpc>
                <a:spcPct val="100000"/>
              </a:lnSpc>
              <a:buClr>
                <a:srgbClr val="0B1F3A"/>
              </a:buClr>
              <a:buFont typeface="Arial"/>
              <a:buChar char="•"/>
            </a:pPr>
            <a:r>
              <a:rPr lang="en-US" sz="20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Dado o modelo </a:t>
            </a:r>
            <a:r>
              <a:rPr lang="en-US" sz="2000" b="1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Aptos"/>
              </a:rPr>
              <a:t>y = 2x + 10 </a:t>
            </a:r>
            <a:r>
              <a:rPr lang="en-US" sz="20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, calcule o valor para entrada </a:t>
            </a:r>
            <a:r>
              <a:rPr lang="en-US" sz="20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5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16"/>
          <p:cNvSpPr/>
          <p:nvPr/>
        </p:nvSpPr>
        <p:spPr>
          <a:xfrm>
            <a:off x="784800" y="5139000"/>
            <a:ext cx="72234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 fontScale="92500" lnSpcReduction="9999"/>
          </a:bodyPr>
          <a:p>
            <a:pPr marL="343080" indent="-343080" defTabSz="914400">
              <a:lnSpc>
                <a:spcPct val="100000"/>
              </a:lnSpc>
              <a:buClr>
                <a:srgbClr val="0B1F3A"/>
              </a:buClr>
              <a:buFont typeface="Arial"/>
              <a:buChar char="•"/>
            </a:pPr>
            <a:r>
              <a:rPr lang="en-US" sz="20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Neste MODELO, para entrada </a:t>
            </a:r>
            <a:r>
              <a:rPr lang="en-US" sz="20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x=5</a:t>
            </a:r>
            <a:r>
              <a:rPr lang="en-US" sz="20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 , a saída é </a:t>
            </a:r>
            <a:r>
              <a:rPr lang="en-US" sz="2000" b="1" u="none" strike="noStrike">
                <a:solidFill>
                  <a:srgbClr val="002060"/>
                </a:solidFill>
                <a:effectLst/>
                <a:uFillTx/>
                <a:latin typeface="Aptos"/>
              </a:rPr>
              <a:t>y=20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4" name="Imagem 39"/>
          <p:cNvPicPr/>
          <p:nvPr/>
        </p:nvPicPr>
        <p:blipFill>
          <a:blip r:embed="rId1"/>
          <a:stretch/>
        </p:blipFill>
        <p:spPr>
          <a:xfrm>
            <a:off x="8298720" y="1265040"/>
            <a:ext cx="3161880" cy="3952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Shape 1"/>
          <p:cNvSpPr/>
          <p:nvPr/>
        </p:nvSpPr>
        <p:spPr>
          <a:xfrm>
            <a:off x="0" y="0"/>
            <a:ext cx="164160" cy="68576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3"/>
          <p:cNvSpPr/>
          <p:nvPr/>
        </p:nvSpPr>
        <p:spPr>
          <a:xfrm>
            <a:off x="502920" y="511920"/>
            <a:ext cx="1078956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0B1F3A"/>
                </a:solidFill>
                <a:effectLst/>
                <a:uFillTx/>
                <a:latin typeface="Aptos Display"/>
                <a:ea typeface="Aptos Display"/>
              </a:rPr>
              <a:t>Exemplo: aplicar a “formula” ou MODELO 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4"/>
          <p:cNvSpPr/>
          <p:nvPr/>
        </p:nvSpPr>
        <p:spPr>
          <a:xfrm>
            <a:off x="502920" y="6446520"/>
            <a:ext cx="32000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Regressão Linear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5"/>
          <p:cNvSpPr/>
          <p:nvPr/>
        </p:nvSpPr>
        <p:spPr>
          <a:xfrm>
            <a:off x="11247120" y="641916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03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16"/>
          <p:cNvSpPr/>
          <p:nvPr/>
        </p:nvSpPr>
        <p:spPr>
          <a:xfrm>
            <a:off x="730800" y="1344240"/>
            <a:ext cx="72234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Para o modelo abaixo, calcule as entradas a seguir: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Shape 6"/>
          <p:cNvSpPr/>
          <p:nvPr/>
        </p:nvSpPr>
        <p:spPr>
          <a:xfrm>
            <a:off x="746280" y="1732680"/>
            <a:ext cx="3382920" cy="6397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524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7"/>
          <p:cNvSpPr/>
          <p:nvPr/>
        </p:nvSpPr>
        <p:spPr>
          <a:xfrm>
            <a:off x="883440" y="1805760"/>
            <a:ext cx="310860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rgbClr val="0B1F3A"/>
                </a:solidFill>
                <a:effectLst/>
                <a:uFillTx/>
                <a:latin typeface="Cambria Math"/>
                <a:ea typeface="Cambria Math"/>
              </a:rPr>
              <a:t>y = 2x + 10</a:t>
            </a:r>
            <a:endParaRPr lang="pt-B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16"/>
          <p:cNvSpPr/>
          <p:nvPr/>
        </p:nvSpPr>
        <p:spPr>
          <a:xfrm>
            <a:off x="707040" y="2513880"/>
            <a:ext cx="72234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343080" indent="-343080" defTabSz="914400">
              <a:lnSpc>
                <a:spcPct val="100000"/>
              </a:lnSpc>
              <a:buClr>
                <a:srgbClr val="0B1F3A"/>
              </a:buClr>
              <a:buFont typeface="Arial"/>
              <a:buChar char="•"/>
            </a:pPr>
            <a:r>
              <a:rPr lang="en-US" sz="20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Tabela de entradas: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3" name="Imagem 39"/>
          <p:cNvPicPr/>
          <p:nvPr/>
        </p:nvPicPr>
        <p:blipFill>
          <a:blip r:embed="rId1"/>
          <a:stretch/>
        </p:blipFill>
        <p:spPr>
          <a:xfrm>
            <a:off x="4900320" y="1786680"/>
            <a:ext cx="3572280" cy="4465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" name="Shape 7"/>
          <p:cNvSpPr/>
          <p:nvPr/>
        </p:nvSpPr>
        <p:spPr>
          <a:xfrm>
            <a:off x="850320" y="2965680"/>
            <a:ext cx="959760" cy="525600"/>
          </a:xfrm>
          <a:prstGeom prst="rect">
            <a:avLst/>
          </a:prstGeom>
          <a:solidFill>
            <a:srgbClr val="EAF4FF"/>
          </a:solidFill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8"/>
          <p:cNvSpPr/>
          <p:nvPr/>
        </p:nvSpPr>
        <p:spPr>
          <a:xfrm>
            <a:off x="869760" y="3002400"/>
            <a:ext cx="905040" cy="45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Shape 9"/>
          <p:cNvSpPr/>
          <p:nvPr/>
        </p:nvSpPr>
        <p:spPr>
          <a:xfrm>
            <a:off x="1802520" y="2965680"/>
            <a:ext cx="959760" cy="525600"/>
          </a:xfrm>
          <a:prstGeom prst="rect">
            <a:avLst/>
          </a:prstGeom>
          <a:solidFill>
            <a:srgbClr val="EAF4FF"/>
          </a:solidFill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10"/>
          <p:cNvSpPr/>
          <p:nvPr/>
        </p:nvSpPr>
        <p:spPr>
          <a:xfrm>
            <a:off x="1829880" y="3002400"/>
            <a:ext cx="905040" cy="45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y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Shape 11"/>
          <p:cNvSpPr/>
          <p:nvPr/>
        </p:nvSpPr>
        <p:spPr>
          <a:xfrm>
            <a:off x="842400" y="3491640"/>
            <a:ext cx="959760" cy="525600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12"/>
          <p:cNvSpPr/>
          <p:nvPr/>
        </p:nvSpPr>
        <p:spPr>
          <a:xfrm>
            <a:off x="869760" y="3528000"/>
            <a:ext cx="905040" cy="45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1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Shape 13"/>
          <p:cNvSpPr/>
          <p:nvPr/>
        </p:nvSpPr>
        <p:spPr>
          <a:xfrm>
            <a:off x="1802520" y="3491640"/>
            <a:ext cx="959760" cy="525600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14"/>
          <p:cNvSpPr/>
          <p:nvPr/>
        </p:nvSpPr>
        <p:spPr>
          <a:xfrm>
            <a:off x="1829880" y="3528000"/>
            <a:ext cx="905040" cy="45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12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Shape 15"/>
          <p:cNvSpPr/>
          <p:nvPr/>
        </p:nvSpPr>
        <p:spPr>
          <a:xfrm>
            <a:off x="842400" y="4017240"/>
            <a:ext cx="959760" cy="525600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16"/>
          <p:cNvSpPr/>
          <p:nvPr/>
        </p:nvSpPr>
        <p:spPr>
          <a:xfrm>
            <a:off x="869760" y="4053960"/>
            <a:ext cx="905040" cy="45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2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Shape 17"/>
          <p:cNvSpPr/>
          <p:nvPr/>
        </p:nvSpPr>
        <p:spPr>
          <a:xfrm>
            <a:off x="1802520" y="4017240"/>
            <a:ext cx="959760" cy="525600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18"/>
          <p:cNvSpPr/>
          <p:nvPr/>
        </p:nvSpPr>
        <p:spPr>
          <a:xfrm>
            <a:off x="1829880" y="4053960"/>
            <a:ext cx="905040" cy="45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14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Shape 19"/>
          <p:cNvSpPr/>
          <p:nvPr/>
        </p:nvSpPr>
        <p:spPr>
          <a:xfrm>
            <a:off x="842400" y="4543200"/>
            <a:ext cx="959760" cy="525600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20"/>
          <p:cNvSpPr/>
          <p:nvPr/>
        </p:nvSpPr>
        <p:spPr>
          <a:xfrm>
            <a:off x="869760" y="4579560"/>
            <a:ext cx="905040" cy="45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3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Shape 21"/>
          <p:cNvSpPr/>
          <p:nvPr/>
        </p:nvSpPr>
        <p:spPr>
          <a:xfrm>
            <a:off x="1802520" y="4543200"/>
            <a:ext cx="959760" cy="525600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22"/>
          <p:cNvSpPr/>
          <p:nvPr/>
        </p:nvSpPr>
        <p:spPr>
          <a:xfrm>
            <a:off x="1829880" y="4579560"/>
            <a:ext cx="905040" cy="45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16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Shape 23"/>
          <p:cNvSpPr/>
          <p:nvPr/>
        </p:nvSpPr>
        <p:spPr>
          <a:xfrm>
            <a:off x="842400" y="5068800"/>
            <a:ext cx="959760" cy="525600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24"/>
          <p:cNvSpPr/>
          <p:nvPr/>
        </p:nvSpPr>
        <p:spPr>
          <a:xfrm>
            <a:off x="869760" y="5105520"/>
            <a:ext cx="905040" cy="45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4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Shape 25"/>
          <p:cNvSpPr/>
          <p:nvPr/>
        </p:nvSpPr>
        <p:spPr>
          <a:xfrm>
            <a:off x="1802520" y="5068800"/>
            <a:ext cx="959760" cy="525600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26"/>
          <p:cNvSpPr/>
          <p:nvPr/>
        </p:nvSpPr>
        <p:spPr>
          <a:xfrm>
            <a:off x="1829880" y="5105520"/>
            <a:ext cx="905040" cy="45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18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Shape 27"/>
          <p:cNvSpPr/>
          <p:nvPr/>
        </p:nvSpPr>
        <p:spPr>
          <a:xfrm>
            <a:off x="842400" y="5594760"/>
            <a:ext cx="959760" cy="525600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28"/>
          <p:cNvSpPr/>
          <p:nvPr/>
        </p:nvSpPr>
        <p:spPr>
          <a:xfrm>
            <a:off x="869760" y="5631120"/>
            <a:ext cx="905040" cy="45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5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Shape 29"/>
          <p:cNvSpPr/>
          <p:nvPr/>
        </p:nvSpPr>
        <p:spPr>
          <a:xfrm>
            <a:off x="1802520" y="5594760"/>
            <a:ext cx="959760" cy="525600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30"/>
          <p:cNvSpPr/>
          <p:nvPr/>
        </p:nvSpPr>
        <p:spPr>
          <a:xfrm>
            <a:off x="1829880" y="5631120"/>
            <a:ext cx="905040" cy="45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20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Shape 0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Shape 1"/>
          <p:cNvSpPr/>
          <p:nvPr/>
        </p:nvSpPr>
        <p:spPr>
          <a:xfrm>
            <a:off x="0" y="0"/>
            <a:ext cx="164160" cy="68576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3"/>
          <p:cNvSpPr/>
          <p:nvPr/>
        </p:nvSpPr>
        <p:spPr>
          <a:xfrm>
            <a:off x="502920" y="511920"/>
            <a:ext cx="1078956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0B1F3A"/>
                </a:solidFill>
                <a:effectLst/>
                <a:uFillTx/>
                <a:latin typeface="Aptos Display"/>
                <a:ea typeface="Aptos Display"/>
              </a:rPr>
              <a:t>E se fosse o contrário?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4"/>
          <p:cNvSpPr/>
          <p:nvPr/>
        </p:nvSpPr>
        <p:spPr>
          <a:xfrm>
            <a:off x="502920" y="6446520"/>
            <a:ext cx="32000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Regressão Linear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5"/>
          <p:cNvSpPr/>
          <p:nvPr/>
        </p:nvSpPr>
        <p:spPr>
          <a:xfrm>
            <a:off x="11247120" y="641916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04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6"/>
          <p:cNvSpPr/>
          <p:nvPr/>
        </p:nvSpPr>
        <p:spPr>
          <a:xfrm>
            <a:off x="731520" y="1143000"/>
            <a:ext cx="6400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 fontScale="70000" lnSpcReduction="1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Agora temos exemplos de entrada e resposta, mas não temos a fórmula.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7"/>
          <p:cNvSpPr/>
          <p:nvPr/>
        </p:nvSpPr>
        <p:spPr>
          <a:xfrm>
            <a:off x="830880" y="1828800"/>
            <a:ext cx="959760" cy="525600"/>
          </a:xfrm>
          <a:prstGeom prst="rect">
            <a:avLst/>
          </a:prstGeom>
          <a:solidFill>
            <a:srgbClr val="EAF4FF"/>
          </a:solidFill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8"/>
          <p:cNvSpPr/>
          <p:nvPr/>
        </p:nvSpPr>
        <p:spPr>
          <a:xfrm>
            <a:off x="850320" y="1865520"/>
            <a:ext cx="905040" cy="45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Shape 9"/>
          <p:cNvSpPr/>
          <p:nvPr/>
        </p:nvSpPr>
        <p:spPr>
          <a:xfrm>
            <a:off x="1783080" y="1828800"/>
            <a:ext cx="959760" cy="525600"/>
          </a:xfrm>
          <a:prstGeom prst="rect">
            <a:avLst/>
          </a:prstGeom>
          <a:solidFill>
            <a:srgbClr val="EAF4FF"/>
          </a:solidFill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10"/>
          <p:cNvSpPr/>
          <p:nvPr/>
        </p:nvSpPr>
        <p:spPr>
          <a:xfrm>
            <a:off x="1810440" y="1865520"/>
            <a:ext cx="905040" cy="45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y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Shape 11"/>
          <p:cNvSpPr/>
          <p:nvPr/>
        </p:nvSpPr>
        <p:spPr>
          <a:xfrm>
            <a:off x="822960" y="2354760"/>
            <a:ext cx="959760" cy="525600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12"/>
          <p:cNvSpPr/>
          <p:nvPr/>
        </p:nvSpPr>
        <p:spPr>
          <a:xfrm>
            <a:off x="850320" y="2391120"/>
            <a:ext cx="905040" cy="45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1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Shape 13"/>
          <p:cNvSpPr/>
          <p:nvPr/>
        </p:nvSpPr>
        <p:spPr>
          <a:xfrm>
            <a:off x="1783080" y="2354760"/>
            <a:ext cx="959760" cy="525600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14"/>
          <p:cNvSpPr/>
          <p:nvPr/>
        </p:nvSpPr>
        <p:spPr>
          <a:xfrm>
            <a:off x="1810440" y="2391120"/>
            <a:ext cx="905040" cy="45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12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Shape 15"/>
          <p:cNvSpPr/>
          <p:nvPr/>
        </p:nvSpPr>
        <p:spPr>
          <a:xfrm>
            <a:off x="822960" y="2880360"/>
            <a:ext cx="959760" cy="525600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16"/>
          <p:cNvSpPr/>
          <p:nvPr/>
        </p:nvSpPr>
        <p:spPr>
          <a:xfrm>
            <a:off x="850320" y="2917080"/>
            <a:ext cx="905040" cy="45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2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Shape 17"/>
          <p:cNvSpPr/>
          <p:nvPr/>
        </p:nvSpPr>
        <p:spPr>
          <a:xfrm>
            <a:off x="1783080" y="2880360"/>
            <a:ext cx="959760" cy="525600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18"/>
          <p:cNvSpPr/>
          <p:nvPr/>
        </p:nvSpPr>
        <p:spPr>
          <a:xfrm>
            <a:off x="1810440" y="2917080"/>
            <a:ext cx="905040" cy="45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14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Shape 19"/>
          <p:cNvSpPr/>
          <p:nvPr/>
        </p:nvSpPr>
        <p:spPr>
          <a:xfrm>
            <a:off x="822960" y="3406320"/>
            <a:ext cx="959760" cy="525600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20"/>
          <p:cNvSpPr/>
          <p:nvPr/>
        </p:nvSpPr>
        <p:spPr>
          <a:xfrm>
            <a:off x="850320" y="3442680"/>
            <a:ext cx="905040" cy="45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3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Shape 21"/>
          <p:cNvSpPr/>
          <p:nvPr/>
        </p:nvSpPr>
        <p:spPr>
          <a:xfrm>
            <a:off x="1783080" y="3406320"/>
            <a:ext cx="959760" cy="525600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22"/>
          <p:cNvSpPr/>
          <p:nvPr/>
        </p:nvSpPr>
        <p:spPr>
          <a:xfrm>
            <a:off x="1810440" y="3442680"/>
            <a:ext cx="905040" cy="45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16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Shape 23"/>
          <p:cNvSpPr/>
          <p:nvPr/>
        </p:nvSpPr>
        <p:spPr>
          <a:xfrm>
            <a:off x="822960" y="3931920"/>
            <a:ext cx="959760" cy="525600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24"/>
          <p:cNvSpPr/>
          <p:nvPr/>
        </p:nvSpPr>
        <p:spPr>
          <a:xfrm>
            <a:off x="850320" y="3968640"/>
            <a:ext cx="905040" cy="45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4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Shape 25"/>
          <p:cNvSpPr/>
          <p:nvPr/>
        </p:nvSpPr>
        <p:spPr>
          <a:xfrm>
            <a:off x="1783080" y="3931920"/>
            <a:ext cx="959760" cy="525600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26"/>
          <p:cNvSpPr/>
          <p:nvPr/>
        </p:nvSpPr>
        <p:spPr>
          <a:xfrm>
            <a:off x="1810440" y="3968640"/>
            <a:ext cx="905040" cy="45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18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Shape 27"/>
          <p:cNvSpPr/>
          <p:nvPr/>
        </p:nvSpPr>
        <p:spPr>
          <a:xfrm>
            <a:off x="822960" y="4457880"/>
            <a:ext cx="959760" cy="525600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28"/>
          <p:cNvSpPr/>
          <p:nvPr/>
        </p:nvSpPr>
        <p:spPr>
          <a:xfrm>
            <a:off x="850320" y="4494240"/>
            <a:ext cx="905040" cy="45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5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Shape 29"/>
          <p:cNvSpPr/>
          <p:nvPr/>
        </p:nvSpPr>
        <p:spPr>
          <a:xfrm>
            <a:off x="1783080" y="4457880"/>
            <a:ext cx="959760" cy="525600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30"/>
          <p:cNvSpPr/>
          <p:nvPr/>
        </p:nvSpPr>
        <p:spPr>
          <a:xfrm>
            <a:off x="1810440" y="4494240"/>
            <a:ext cx="905040" cy="45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20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Shape 31"/>
          <p:cNvSpPr/>
          <p:nvPr/>
        </p:nvSpPr>
        <p:spPr>
          <a:xfrm>
            <a:off x="4663440" y="1987200"/>
            <a:ext cx="2194200" cy="1005480"/>
          </a:xfrm>
          <a:prstGeom prst="roundRect">
            <a:avLst>
              <a:gd name="adj" fmla="val 7273"/>
            </a:avLst>
          </a:prstGeom>
          <a:solidFill>
            <a:srgbClr val="FFF7ED"/>
          </a:solidFill>
          <a:ln w="1524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32"/>
          <p:cNvSpPr/>
          <p:nvPr/>
        </p:nvSpPr>
        <p:spPr>
          <a:xfrm>
            <a:off x="4736520" y="2060640"/>
            <a:ext cx="2048040" cy="85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Modelo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?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Shape 33"/>
          <p:cNvSpPr/>
          <p:nvPr/>
        </p:nvSpPr>
        <p:spPr>
          <a:xfrm>
            <a:off x="3063240" y="2462760"/>
            <a:ext cx="1463040" cy="360"/>
          </a:xfrm>
          <a:prstGeom prst="line">
            <a:avLst/>
          </a:prstGeom>
          <a:ln w="19050">
            <a:solidFill>
              <a:srgbClr val="334155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Shape 34"/>
          <p:cNvSpPr/>
          <p:nvPr/>
        </p:nvSpPr>
        <p:spPr>
          <a:xfrm>
            <a:off x="7040880" y="2462760"/>
            <a:ext cx="1188720" cy="360"/>
          </a:xfrm>
          <a:prstGeom prst="line">
            <a:avLst/>
          </a:prstGeom>
          <a:ln w="19050">
            <a:solidFill>
              <a:srgbClr val="334155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Shape 35"/>
          <p:cNvSpPr/>
          <p:nvPr/>
        </p:nvSpPr>
        <p:spPr>
          <a:xfrm>
            <a:off x="8412480" y="1987200"/>
            <a:ext cx="2102760" cy="100548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524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36"/>
          <p:cNvSpPr/>
          <p:nvPr/>
        </p:nvSpPr>
        <p:spPr>
          <a:xfrm>
            <a:off x="8485560" y="2060640"/>
            <a:ext cx="1956600" cy="85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Novas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previsões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37"/>
          <p:cNvSpPr/>
          <p:nvPr/>
        </p:nvSpPr>
        <p:spPr>
          <a:xfrm>
            <a:off x="3584520" y="1639800"/>
            <a:ext cx="68576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 fontScale="77500" lnSpcReduction="1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2563EB"/>
                </a:solidFill>
                <a:effectLst/>
                <a:uFillTx/>
                <a:latin typeface="Aptos"/>
              </a:rPr>
              <a:t>Pergunta: qual regra poderia explicar os dados observados?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5" name="Imagem 40"/>
          <p:cNvPicPr/>
          <p:nvPr/>
        </p:nvPicPr>
        <p:blipFill>
          <a:blip r:embed="rId1"/>
          <a:stretch/>
        </p:blipFill>
        <p:spPr>
          <a:xfrm>
            <a:off x="4306320" y="3143160"/>
            <a:ext cx="3868200" cy="3322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Shape 0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Shape 1"/>
          <p:cNvSpPr/>
          <p:nvPr/>
        </p:nvSpPr>
        <p:spPr>
          <a:xfrm>
            <a:off x="0" y="0"/>
            <a:ext cx="164160" cy="68576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3"/>
          <p:cNvSpPr/>
          <p:nvPr/>
        </p:nvSpPr>
        <p:spPr>
          <a:xfrm>
            <a:off x="502920" y="511920"/>
            <a:ext cx="1078956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0B1F3A"/>
                </a:solidFill>
                <a:effectLst/>
                <a:uFillTx/>
                <a:latin typeface="Aptos Display"/>
                <a:ea typeface="Aptos Display"/>
              </a:rPr>
              <a:t>Programação tradicional × Aprendizado de Máquina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4"/>
          <p:cNvSpPr/>
          <p:nvPr/>
        </p:nvSpPr>
        <p:spPr>
          <a:xfrm>
            <a:off x="502920" y="6446520"/>
            <a:ext cx="32000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Regressão Linear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5"/>
          <p:cNvSpPr/>
          <p:nvPr/>
        </p:nvSpPr>
        <p:spPr>
          <a:xfrm>
            <a:off x="11247120" y="641916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05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Shape 6"/>
          <p:cNvSpPr/>
          <p:nvPr/>
        </p:nvSpPr>
        <p:spPr>
          <a:xfrm>
            <a:off x="2240280" y="2240280"/>
            <a:ext cx="432360" cy="360"/>
          </a:xfrm>
          <a:prstGeom prst="line">
            <a:avLst/>
          </a:prstGeom>
          <a:ln w="19050">
            <a:solidFill>
              <a:srgbClr val="334155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Shape 7"/>
          <p:cNvSpPr/>
          <p:nvPr/>
        </p:nvSpPr>
        <p:spPr>
          <a:xfrm>
            <a:off x="4663440" y="2240280"/>
            <a:ext cx="333360" cy="360"/>
          </a:xfrm>
          <a:prstGeom prst="line">
            <a:avLst/>
          </a:prstGeom>
          <a:ln w="19050">
            <a:solidFill>
              <a:srgbClr val="334155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Shape 8"/>
          <p:cNvSpPr/>
          <p:nvPr/>
        </p:nvSpPr>
        <p:spPr>
          <a:xfrm>
            <a:off x="2240280" y="4617720"/>
            <a:ext cx="432360" cy="360"/>
          </a:xfrm>
          <a:prstGeom prst="line">
            <a:avLst/>
          </a:prstGeom>
          <a:ln w="19050">
            <a:solidFill>
              <a:srgbClr val="334155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Shape 9"/>
          <p:cNvSpPr/>
          <p:nvPr/>
        </p:nvSpPr>
        <p:spPr>
          <a:xfrm>
            <a:off x="4663440" y="4617720"/>
            <a:ext cx="263160" cy="360"/>
          </a:xfrm>
          <a:prstGeom prst="line">
            <a:avLst/>
          </a:prstGeom>
          <a:ln w="19050">
            <a:solidFill>
              <a:srgbClr val="334155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Shape 10"/>
          <p:cNvSpPr/>
          <p:nvPr/>
        </p:nvSpPr>
        <p:spPr>
          <a:xfrm>
            <a:off x="822960" y="1920240"/>
            <a:ext cx="1371240" cy="6397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524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11"/>
          <p:cNvSpPr/>
          <p:nvPr/>
        </p:nvSpPr>
        <p:spPr>
          <a:xfrm>
            <a:off x="896040" y="1993320"/>
            <a:ext cx="122508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Dados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Shape 12"/>
          <p:cNvSpPr/>
          <p:nvPr/>
        </p:nvSpPr>
        <p:spPr>
          <a:xfrm>
            <a:off x="2746080" y="1824120"/>
            <a:ext cx="1782720" cy="822600"/>
          </a:xfrm>
          <a:prstGeom prst="roundRect">
            <a:avLst>
              <a:gd name="adj" fmla="val 8889"/>
            </a:avLst>
          </a:prstGeom>
          <a:solidFill>
            <a:srgbClr val="EAF4FF"/>
          </a:solidFill>
          <a:ln w="1524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13"/>
          <p:cNvSpPr/>
          <p:nvPr/>
        </p:nvSpPr>
        <p:spPr>
          <a:xfrm>
            <a:off x="2819160" y="1897560"/>
            <a:ext cx="1636560" cy="67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Regras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(modelo)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Shape 14"/>
          <p:cNvSpPr/>
          <p:nvPr/>
        </p:nvSpPr>
        <p:spPr>
          <a:xfrm>
            <a:off x="5067360" y="1901880"/>
            <a:ext cx="1645560" cy="6397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524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15"/>
          <p:cNvSpPr/>
          <p:nvPr/>
        </p:nvSpPr>
        <p:spPr>
          <a:xfrm>
            <a:off x="5140440" y="1974960"/>
            <a:ext cx="149940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Respostas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16"/>
          <p:cNvSpPr/>
          <p:nvPr/>
        </p:nvSpPr>
        <p:spPr>
          <a:xfrm>
            <a:off x="822960" y="1325880"/>
            <a:ext cx="3840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Programação tradicional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Shape 17"/>
          <p:cNvSpPr/>
          <p:nvPr/>
        </p:nvSpPr>
        <p:spPr>
          <a:xfrm>
            <a:off x="822960" y="4206240"/>
            <a:ext cx="1508400" cy="82260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524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18"/>
          <p:cNvSpPr/>
          <p:nvPr/>
        </p:nvSpPr>
        <p:spPr>
          <a:xfrm>
            <a:off x="896040" y="4279320"/>
            <a:ext cx="1362240" cy="67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Dados +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respostas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Shape 19"/>
          <p:cNvSpPr/>
          <p:nvPr/>
        </p:nvSpPr>
        <p:spPr>
          <a:xfrm>
            <a:off x="2746080" y="4155840"/>
            <a:ext cx="1828440" cy="914040"/>
          </a:xfrm>
          <a:prstGeom prst="roundRect">
            <a:avLst>
              <a:gd name="adj" fmla="val 8000"/>
            </a:avLst>
          </a:prstGeom>
          <a:solidFill>
            <a:srgbClr val="EAF4FF"/>
          </a:solidFill>
          <a:ln w="1524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20"/>
          <p:cNvSpPr/>
          <p:nvPr/>
        </p:nvSpPr>
        <p:spPr>
          <a:xfrm>
            <a:off x="2819160" y="4229280"/>
            <a:ext cx="1682280" cy="76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Algoritmo de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aprendizado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Shape 21"/>
          <p:cNvSpPr/>
          <p:nvPr/>
        </p:nvSpPr>
        <p:spPr>
          <a:xfrm>
            <a:off x="5067360" y="4279320"/>
            <a:ext cx="1645560" cy="6397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524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22"/>
          <p:cNvSpPr/>
          <p:nvPr/>
        </p:nvSpPr>
        <p:spPr>
          <a:xfrm>
            <a:off x="5140440" y="4352400"/>
            <a:ext cx="149940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Modelo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23"/>
          <p:cNvSpPr/>
          <p:nvPr/>
        </p:nvSpPr>
        <p:spPr>
          <a:xfrm>
            <a:off x="822960" y="3611880"/>
            <a:ext cx="3840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Machine Learning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Shape 24"/>
          <p:cNvSpPr/>
          <p:nvPr/>
        </p:nvSpPr>
        <p:spPr>
          <a:xfrm>
            <a:off x="6853320" y="4297680"/>
            <a:ext cx="4627080" cy="731160"/>
          </a:xfrm>
          <a:prstGeom prst="roundRect">
            <a:avLst>
              <a:gd name="adj" fmla="val 10000"/>
            </a:avLst>
          </a:prstGeom>
          <a:solidFill>
            <a:schemeClr val="accent4">
              <a:lumMod val="60000"/>
              <a:lumOff val="40000"/>
            </a:schemeClr>
          </a:solidFill>
          <a:ln w="1524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25"/>
          <p:cNvSpPr/>
          <p:nvPr/>
        </p:nvSpPr>
        <p:spPr>
          <a:xfrm>
            <a:off x="6940080" y="4370760"/>
            <a:ext cx="442872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rgbClr val="0B1F3A"/>
                </a:solidFill>
                <a:effectLst/>
                <a:uFillTx/>
                <a:latin typeface="Cambria Math"/>
                <a:ea typeface="Cambria Math"/>
              </a:rPr>
              <a:t>Entrada x + saída y→ modelo f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Shape 26"/>
          <p:cNvSpPr/>
          <p:nvPr/>
        </p:nvSpPr>
        <p:spPr>
          <a:xfrm>
            <a:off x="6783120" y="1899720"/>
            <a:ext cx="4697280" cy="731160"/>
          </a:xfrm>
          <a:prstGeom prst="roundRect">
            <a:avLst>
              <a:gd name="adj" fmla="val 10000"/>
            </a:avLst>
          </a:prstGeom>
          <a:solidFill>
            <a:schemeClr val="tx2">
              <a:lumMod val="20000"/>
              <a:lumOff val="80000"/>
            </a:schemeClr>
          </a:solidFill>
          <a:ln w="1524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27"/>
          <p:cNvSpPr/>
          <p:nvPr/>
        </p:nvSpPr>
        <p:spPr>
          <a:xfrm>
            <a:off x="6853320" y="1991160"/>
            <a:ext cx="457236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0B1F3A"/>
                </a:solidFill>
                <a:effectLst/>
                <a:uFillTx/>
                <a:latin typeface="Cambria Math"/>
                <a:ea typeface="Cambria Math"/>
              </a:rPr>
              <a:t>Entrada x + modelo f  → saída y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Shape 0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Shape 1"/>
          <p:cNvSpPr/>
          <p:nvPr/>
        </p:nvSpPr>
        <p:spPr>
          <a:xfrm>
            <a:off x="0" y="0"/>
            <a:ext cx="164160" cy="68576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 3"/>
          <p:cNvSpPr/>
          <p:nvPr/>
        </p:nvSpPr>
        <p:spPr>
          <a:xfrm>
            <a:off x="502920" y="511920"/>
            <a:ext cx="1078956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0B1F3A"/>
                </a:solidFill>
                <a:effectLst/>
                <a:uFillTx/>
                <a:latin typeface="Aptos Display"/>
                <a:ea typeface="Aptos Display"/>
              </a:rPr>
              <a:t>Na Regressão Linear, escolhemos uma família de modelos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4"/>
          <p:cNvSpPr/>
          <p:nvPr/>
        </p:nvSpPr>
        <p:spPr>
          <a:xfrm>
            <a:off x="502920" y="6446520"/>
            <a:ext cx="32000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Regressão Linear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5"/>
          <p:cNvSpPr/>
          <p:nvPr/>
        </p:nvSpPr>
        <p:spPr>
          <a:xfrm>
            <a:off x="11247120" y="641916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06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6"/>
          <p:cNvSpPr/>
          <p:nvPr/>
        </p:nvSpPr>
        <p:spPr>
          <a:xfrm>
            <a:off x="777240" y="1143000"/>
            <a:ext cx="102409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marL="343080" indent="-343080" defTabSz="914400">
              <a:lnSpc>
                <a:spcPct val="170000"/>
              </a:lnSpc>
              <a:buClr>
                <a:srgbClr val="FF0000"/>
              </a:buClr>
              <a:buFont typeface="Arial"/>
              <a:buChar char="•"/>
            </a:pPr>
            <a:r>
              <a:rPr lang="en-US" sz="14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Não pedimos ao computador para inventar</a:t>
            </a:r>
            <a:r>
              <a:rPr lang="en-US" sz="14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 qualquer fórmula. 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70000"/>
              </a:lnSpc>
              <a:buClr>
                <a:srgbClr val="002060"/>
              </a:buClr>
              <a:buFont typeface="Arial"/>
              <a:buChar char="•"/>
            </a:pPr>
            <a:r>
              <a:rPr lang="en-US" sz="1400" b="1" u="none" strike="noStrike">
                <a:solidFill>
                  <a:srgbClr val="002060"/>
                </a:solidFill>
                <a:effectLst/>
                <a:uFillTx/>
                <a:latin typeface="Aptos"/>
              </a:rPr>
              <a:t>Nós escolhemos um </a:t>
            </a:r>
            <a:r>
              <a:rPr lang="en-US" sz="1400" b="1" u="sng" strike="noStrike">
                <a:solidFill>
                  <a:schemeClr val="accent6">
                    <a:lumMod val="50000"/>
                  </a:schemeClr>
                </a:solidFill>
                <a:effectLst/>
                <a:uFillTx/>
                <a:latin typeface="Aptos"/>
              </a:rPr>
              <a:t>formato</a:t>
            </a:r>
            <a:r>
              <a:rPr lang="en-US" sz="14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 e aprendemos seus parâmetros.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Shape 7"/>
          <p:cNvSpPr/>
          <p:nvPr/>
        </p:nvSpPr>
        <p:spPr>
          <a:xfrm>
            <a:off x="2926080" y="2057400"/>
            <a:ext cx="5851800" cy="914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8"/>
          <p:cNvSpPr/>
          <p:nvPr/>
        </p:nvSpPr>
        <p:spPr>
          <a:xfrm>
            <a:off x="3063240" y="2130480"/>
            <a:ext cx="5577480" cy="76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0" u="none" strike="noStrike">
                <a:solidFill>
                  <a:srgbClr val="0B1F3A"/>
                </a:solidFill>
                <a:effectLst/>
                <a:uFillTx/>
                <a:latin typeface="Cambria Math"/>
                <a:ea typeface="Cambria Math"/>
              </a:rPr>
              <a:t>ŷ = </a:t>
            </a:r>
            <a:r>
              <a:rPr lang="en-US" sz="3600" b="0" u="none" strike="noStrike">
                <a:solidFill>
                  <a:srgbClr val="FF0000"/>
                </a:solidFill>
                <a:effectLst/>
                <a:uFillTx/>
                <a:latin typeface="Cambria Math"/>
                <a:ea typeface="Cambria Math"/>
              </a:rPr>
              <a:t>w</a:t>
            </a:r>
            <a:r>
              <a:rPr lang="en-US" sz="3600" b="0" u="none" strike="noStrike">
                <a:solidFill>
                  <a:srgbClr val="0B1F3A"/>
                </a:solidFill>
                <a:effectLst/>
                <a:uFillTx/>
                <a:latin typeface="Cambria Math"/>
                <a:ea typeface="Cambria Math"/>
              </a:rPr>
              <a:t>x + </a:t>
            </a:r>
            <a:r>
              <a:rPr lang="en-US" sz="3600" b="0" u="none" strike="noStrike">
                <a:solidFill>
                  <a:srgbClr val="FF0000"/>
                </a:solidFill>
                <a:effectLst/>
                <a:uFillTx/>
                <a:latin typeface="Cambria Math"/>
                <a:ea typeface="Cambria Math"/>
              </a:rPr>
              <a:t>b</a:t>
            </a:r>
            <a:endParaRPr lang="pt-B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 9"/>
          <p:cNvSpPr/>
          <p:nvPr/>
        </p:nvSpPr>
        <p:spPr>
          <a:xfrm>
            <a:off x="1234440" y="4724640"/>
            <a:ext cx="2331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6">
                    <a:lumMod val="50000"/>
                  </a:schemeClr>
                </a:solidFill>
                <a:effectLst/>
                <a:uFillTx/>
                <a:latin typeface="Aptos"/>
              </a:rPr>
              <a:t>Formato conhecido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Shape 10"/>
          <p:cNvSpPr/>
          <p:nvPr/>
        </p:nvSpPr>
        <p:spPr>
          <a:xfrm>
            <a:off x="1234440" y="5136120"/>
            <a:ext cx="2285640" cy="59400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524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11"/>
          <p:cNvSpPr/>
          <p:nvPr/>
        </p:nvSpPr>
        <p:spPr>
          <a:xfrm>
            <a:off x="1307520" y="5209560"/>
            <a:ext cx="2139480" cy="44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função linear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12"/>
          <p:cNvSpPr/>
          <p:nvPr/>
        </p:nvSpPr>
        <p:spPr>
          <a:xfrm>
            <a:off x="4663440" y="4724640"/>
            <a:ext cx="31086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 fontScale="92500" lnSpcReduction="9999"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Parâmetros desconhecidos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Shape 13"/>
          <p:cNvSpPr/>
          <p:nvPr/>
        </p:nvSpPr>
        <p:spPr>
          <a:xfrm>
            <a:off x="5074920" y="5136120"/>
            <a:ext cx="2102760" cy="594000"/>
          </a:xfrm>
          <a:prstGeom prst="roundRect">
            <a:avLst>
              <a:gd name="adj" fmla="val 12308"/>
            </a:avLst>
          </a:prstGeom>
          <a:solidFill>
            <a:srgbClr val="FFF7ED"/>
          </a:solidFill>
          <a:ln w="1524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14"/>
          <p:cNvSpPr/>
          <p:nvPr/>
        </p:nvSpPr>
        <p:spPr>
          <a:xfrm>
            <a:off x="5148000" y="5209560"/>
            <a:ext cx="1956600" cy="44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w  e  b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15"/>
          <p:cNvSpPr/>
          <p:nvPr/>
        </p:nvSpPr>
        <p:spPr>
          <a:xfrm>
            <a:off x="8595360" y="4724640"/>
            <a:ext cx="20113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sng" strike="noStrike">
                <a:solidFill>
                  <a:srgbClr val="2563EB"/>
                </a:solidFill>
                <a:effectLst/>
                <a:uFillTx/>
                <a:latin typeface="Aptos"/>
              </a:rPr>
              <a:t>Aprendizado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Shape 16"/>
          <p:cNvSpPr/>
          <p:nvPr/>
        </p:nvSpPr>
        <p:spPr>
          <a:xfrm>
            <a:off x="8183880" y="5136120"/>
            <a:ext cx="2834280" cy="59400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524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17"/>
          <p:cNvSpPr/>
          <p:nvPr/>
        </p:nvSpPr>
        <p:spPr>
          <a:xfrm>
            <a:off x="8256960" y="5209560"/>
            <a:ext cx="2688120" cy="44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encontrar </a:t>
            </a:r>
            <a:r>
              <a:rPr lang="en-US" sz="16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w</a:t>
            </a:r>
            <a:r>
              <a:rPr lang="en-US" sz="16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 e </a:t>
            </a:r>
            <a:r>
              <a:rPr lang="en-US" sz="16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b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9"/>
          <p:cNvSpPr/>
          <p:nvPr/>
        </p:nvSpPr>
        <p:spPr>
          <a:xfrm>
            <a:off x="777240" y="3147120"/>
            <a:ext cx="33958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6">
                    <a:lumMod val="50000"/>
                  </a:schemeClr>
                </a:solidFill>
                <a:effectLst/>
                <a:uFillTx/>
                <a:latin typeface="Aptos"/>
              </a:rPr>
              <a:t>A entrada será conhecida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Shape 10"/>
          <p:cNvSpPr/>
          <p:nvPr/>
        </p:nvSpPr>
        <p:spPr>
          <a:xfrm>
            <a:off x="1023840" y="3508920"/>
            <a:ext cx="2569320" cy="59400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524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11"/>
          <p:cNvSpPr/>
          <p:nvPr/>
        </p:nvSpPr>
        <p:spPr>
          <a:xfrm>
            <a:off x="1023840" y="3582360"/>
            <a:ext cx="2496240" cy="44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 lnSpcReduction="9999"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Entrada X será fornecida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 9"/>
          <p:cNvSpPr/>
          <p:nvPr/>
        </p:nvSpPr>
        <p:spPr>
          <a:xfrm>
            <a:off x="8183880" y="3202560"/>
            <a:ext cx="33958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6">
                    <a:lumMod val="50000"/>
                  </a:schemeClr>
                </a:solidFill>
                <a:effectLst/>
                <a:uFillTx/>
                <a:latin typeface="Aptos"/>
              </a:rPr>
              <a:t>A saída será conhecida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Shape 10"/>
          <p:cNvSpPr/>
          <p:nvPr/>
        </p:nvSpPr>
        <p:spPr>
          <a:xfrm>
            <a:off x="8430480" y="3564000"/>
            <a:ext cx="2569320" cy="59400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524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11"/>
          <p:cNvSpPr/>
          <p:nvPr/>
        </p:nvSpPr>
        <p:spPr>
          <a:xfrm>
            <a:off x="8430480" y="3637440"/>
            <a:ext cx="2496240" cy="44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 lnSpcReduction="9999"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Saída Y será fornecida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Shape 0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Shape 1"/>
          <p:cNvSpPr/>
          <p:nvPr/>
        </p:nvSpPr>
        <p:spPr>
          <a:xfrm>
            <a:off x="0" y="0"/>
            <a:ext cx="164160" cy="68576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3"/>
          <p:cNvSpPr/>
          <p:nvPr/>
        </p:nvSpPr>
        <p:spPr>
          <a:xfrm>
            <a:off x="502920" y="511920"/>
            <a:ext cx="1078956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0B1F3A"/>
                </a:solidFill>
                <a:effectLst/>
                <a:uFillTx/>
                <a:latin typeface="Aptos Display"/>
                <a:ea typeface="Aptos Display"/>
              </a:rPr>
              <a:t>Parte I — O problema de regressão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 4"/>
          <p:cNvSpPr/>
          <p:nvPr/>
        </p:nvSpPr>
        <p:spPr>
          <a:xfrm>
            <a:off x="502920" y="6446520"/>
            <a:ext cx="32000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Regressão Linear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5"/>
          <p:cNvSpPr/>
          <p:nvPr/>
        </p:nvSpPr>
        <p:spPr>
          <a:xfrm>
            <a:off x="11247120" y="641916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07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6"/>
          <p:cNvSpPr/>
          <p:nvPr/>
        </p:nvSpPr>
        <p:spPr>
          <a:xfrm>
            <a:off x="868680" y="102420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 fontScale="85000" lnSpcReduction="9999"/>
          </a:bodyPr>
          <a:p>
            <a:pPr defTabSz="914400">
              <a:lnSpc>
                <a:spcPct val="100000"/>
              </a:lnSpc>
            </a:pPr>
            <a:r>
              <a:rPr lang="en-US" sz="20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Considere o Exemplo: </a:t>
            </a: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João é corretor de imóveis e especializado em apartamentos. João tem uma estimativa de preço dos apartamentos baseados na lista a seguir: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Shape 7"/>
          <p:cNvSpPr/>
          <p:nvPr/>
        </p:nvSpPr>
        <p:spPr>
          <a:xfrm>
            <a:off x="920520" y="5320440"/>
            <a:ext cx="2742840" cy="868320"/>
          </a:xfrm>
          <a:prstGeom prst="roundRect">
            <a:avLst>
              <a:gd name="adj" fmla="val 8421"/>
            </a:avLst>
          </a:prstGeom>
          <a:solidFill>
            <a:srgbClr val="EAF4FF"/>
          </a:solidFill>
          <a:ln w="1524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8"/>
          <p:cNvSpPr/>
          <p:nvPr/>
        </p:nvSpPr>
        <p:spPr>
          <a:xfrm>
            <a:off x="993600" y="5393880"/>
            <a:ext cx="2596680" cy="72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 fontScale="92500" lnSpcReduction="9999"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Variáveis independentes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X – Área (m</a:t>
            </a:r>
            <a:r>
              <a:rPr lang="en-US" sz="1800" b="1" u="none" strike="noStrike" baseline="30000">
                <a:solidFill>
                  <a:srgbClr val="0B1F3A"/>
                </a:solidFill>
                <a:effectLst/>
                <a:uFillTx/>
                <a:latin typeface="Aptos"/>
              </a:rPr>
              <a:t>2</a:t>
            </a:r>
            <a:r>
              <a:rPr lang="en-US" sz="18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)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Shape 9"/>
          <p:cNvSpPr/>
          <p:nvPr/>
        </p:nvSpPr>
        <p:spPr>
          <a:xfrm>
            <a:off x="3846240" y="5759280"/>
            <a:ext cx="1280160" cy="360"/>
          </a:xfrm>
          <a:prstGeom prst="line">
            <a:avLst/>
          </a:prstGeom>
          <a:ln w="19050">
            <a:solidFill>
              <a:srgbClr val="334155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Shape 10"/>
          <p:cNvSpPr/>
          <p:nvPr/>
        </p:nvSpPr>
        <p:spPr>
          <a:xfrm>
            <a:off x="5309640" y="5320440"/>
            <a:ext cx="2194200" cy="868320"/>
          </a:xfrm>
          <a:prstGeom prst="roundRect">
            <a:avLst>
              <a:gd name="adj" fmla="val 8421"/>
            </a:avLst>
          </a:prstGeom>
          <a:solidFill>
            <a:srgbClr val="FF0000"/>
          </a:solidFill>
          <a:ln w="1524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 11"/>
          <p:cNvSpPr/>
          <p:nvPr/>
        </p:nvSpPr>
        <p:spPr>
          <a:xfrm>
            <a:off x="5382720" y="5393880"/>
            <a:ext cx="2048040" cy="72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Modelo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f(X)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Shape 12"/>
          <p:cNvSpPr/>
          <p:nvPr/>
        </p:nvSpPr>
        <p:spPr>
          <a:xfrm>
            <a:off x="7686720" y="5759280"/>
            <a:ext cx="1280160" cy="360"/>
          </a:xfrm>
          <a:prstGeom prst="line">
            <a:avLst/>
          </a:prstGeom>
          <a:ln w="19050">
            <a:solidFill>
              <a:srgbClr val="334155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Shape 13"/>
          <p:cNvSpPr/>
          <p:nvPr/>
        </p:nvSpPr>
        <p:spPr>
          <a:xfrm>
            <a:off x="9150120" y="5320440"/>
            <a:ext cx="2285640" cy="868320"/>
          </a:xfrm>
          <a:prstGeom prst="roundRect">
            <a:avLst>
              <a:gd name="adj" fmla="val 8421"/>
            </a:avLst>
          </a:prstGeom>
          <a:solidFill>
            <a:srgbClr val="EAF4FF"/>
          </a:solidFill>
          <a:ln w="1524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14"/>
          <p:cNvSpPr/>
          <p:nvPr/>
        </p:nvSpPr>
        <p:spPr>
          <a:xfrm>
            <a:off x="9223200" y="5393880"/>
            <a:ext cx="2139480" cy="72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 fontScale="92500" lnSpcReduction="9999"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Variável dependente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Y – Preço (R$)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0" name="Tabela 41"/>
          <p:cNvGraphicFramePr/>
          <p:nvPr/>
        </p:nvGraphicFramePr>
        <p:xfrm>
          <a:off x="839160" y="1654920"/>
          <a:ext cx="3568320" cy="2494440"/>
        </p:xfrm>
        <a:graphic>
          <a:graphicData uri="http://schemas.openxmlformats.org/drawingml/2006/table">
            <a:tbl>
              <a:tblPr/>
              <a:tblGrid>
                <a:gridCol w="1309680"/>
                <a:gridCol w="2258640"/>
              </a:tblGrid>
              <a:tr h="19152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Área (m</a:t>
                      </a:r>
                      <a:r>
                        <a:rPr lang="pt-BR" sz="1800" b="1" u="none" strike="noStrike" baseline="30000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2</a:t>
                      </a:r>
                      <a:r>
                        <a:rPr lang="pt-BR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)</a:t>
                      </a:r>
                      <a:endParaRPr lang="pt-BR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Preço (R$ mil)</a:t>
                      </a:r>
                      <a:endParaRPr lang="pt-BR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37080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40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220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37080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50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260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37080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60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310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37080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70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350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37080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80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410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231" name="Text 6"/>
          <p:cNvSpPr/>
          <p:nvPr/>
        </p:nvSpPr>
        <p:spPr>
          <a:xfrm>
            <a:off x="822960" y="4356000"/>
            <a:ext cx="10423800" cy="53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 fontScale="55000" lnSpcReduction="19999"/>
          </a:bodyPr>
          <a:p>
            <a:pPr defTabSz="914400">
              <a:lnSpc>
                <a:spcPct val="120000"/>
              </a:lnSpc>
            </a:pPr>
            <a:r>
              <a:rPr lang="pt-BR" sz="23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João consegiu um cliente que estava interessado em um apartamento de 65 m</a:t>
            </a:r>
            <a:r>
              <a:rPr lang="pt-BR" sz="2300" b="0" u="none" strike="noStrike" baseline="30000">
                <a:solidFill>
                  <a:schemeClr val="dk1"/>
                </a:solidFill>
                <a:effectLst/>
                <a:uFillTx/>
                <a:latin typeface="Aptos"/>
              </a:rPr>
              <a:t>2 </a:t>
            </a:r>
            <a:r>
              <a:rPr lang="pt-BR" sz="23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. Mas joão não sabia precificar com segurança um apartamento de 65 m</a:t>
            </a:r>
            <a:r>
              <a:rPr lang="pt-BR" sz="2300" b="0" u="none" strike="noStrike" baseline="30000">
                <a:solidFill>
                  <a:schemeClr val="dk1"/>
                </a:solidFill>
                <a:effectLst/>
                <a:uFillTx/>
                <a:latin typeface="Aptos"/>
              </a:rPr>
              <a:t>2 </a:t>
            </a:r>
            <a:r>
              <a:rPr lang="pt-BR" sz="23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já que este item não existia em sua lista. Como joão poderia resolver o problema ?</a:t>
            </a:r>
            <a:endParaRPr lang="pt-B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8"/>
          <p:cNvSpPr/>
          <p:nvPr/>
        </p:nvSpPr>
        <p:spPr>
          <a:xfrm>
            <a:off x="1530360" y="4964040"/>
            <a:ext cx="15228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entrada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 8"/>
          <p:cNvSpPr/>
          <p:nvPr/>
        </p:nvSpPr>
        <p:spPr>
          <a:xfrm>
            <a:off x="9529200" y="4982400"/>
            <a:ext cx="15228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saída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8"/>
          <p:cNvSpPr/>
          <p:nvPr/>
        </p:nvSpPr>
        <p:spPr>
          <a:xfrm>
            <a:off x="5645160" y="4966560"/>
            <a:ext cx="15228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Formula ?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5" name="Tabela 53"/>
          <p:cNvGraphicFramePr/>
          <p:nvPr/>
        </p:nvGraphicFramePr>
        <p:xfrm>
          <a:off x="5663520" y="1646640"/>
          <a:ext cx="3568320" cy="2865240"/>
        </p:xfrm>
        <a:graphic>
          <a:graphicData uri="http://schemas.openxmlformats.org/drawingml/2006/table">
            <a:tbl>
              <a:tblPr/>
              <a:tblGrid>
                <a:gridCol w="1309680"/>
                <a:gridCol w="2258640"/>
              </a:tblGrid>
              <a:tr h="19152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Área (m</a:t>
                      </a:r>
                      <a:r>
                        <a:rPr lang="pt-BR" sz="1800" b="1" u="none" strike="noStrike" baseline="30000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2</a:t>
                      </a:r>
                      <a:r>
                        <a:rPr lang="pt-BR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)</a:t>
                      </a:r>
                      <a:endParaRPr lang="pt-BR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Preço (R$ mil)</a:t>
                      </a:r>
                      <a:endParaRPr lang="pt-BR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37080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40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220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37080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50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260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37080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60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310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37080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ptos"/>
                        </a:rPr>
                        <a:t>65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ptos"/>
                        </a:rPr>
                        <a:t>?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37080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70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350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37080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80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410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236" name="Seta: para a Direita 54"/>
          <p:cNvSpPr/>
          <p:nvPr/>
        </p:nvSpPr>
        <p:spPr>
          <a:xfrm>
            <a:off x="4593240" y="2642040"/>
            <a:ext cx="978120" cy="4842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472C4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Shape 0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Shape 1"/>
          <p:cNvSpPr/>
          <p:nvPr/>
        </p:nvSpPr>
        <p:spPr>
          <a:xfrm>
            <a:off x="0" y="0"/>
            <a:ext cx="164160" cy="68576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3"/>
          <p:cNvSpPr/>
          <p:nvPr/>
        </p:nvSpPr>
        <p:spPr>
          <a:xfrm>
            <a:off x="502920" y="511920"/>
            <a:ext cx="1078956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0B1F3A"/>
                </a:solidFill>
                <a:effectLst/>
                <a:uFillTx/>
                <a:latin typeface="Aptos Display"/>
                <a:ea typeface="Aptos Display"/>
              </a:rPr>
              <a:t>Parte I — O problema de regressão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4"/>
          <p:cNvSpPr/>
          <p:nvPr/>
        </p:nvSpPr>
        <p:spPr>
          <a:xfrm>
            <a:off x="502920" y="6446520"/>
            <a:ext cx="32000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Regressão Linear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5"/>
          <p:cNvSpPr/>
          <p:nvPr/>
        </p:nvSpPr>
        <p:spPr>
          <a:xfrm>
            <a:off x="11247120" y="641916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07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42" name="Tabela 53"/>
          <p:cNvGraphicFramePr/>
          <p:nvPr/>
        </p:nvGraphicFramePr>
        <p:xfrm>
          <a:off x="502920" y="2404440"/>
          <a:ext cx="3568320" cy="2865240"/>
        </p:xfrm>
        <a:graphic>
          <a:graphicData uri="http://schemas.openxmlformats.org/drawingml/2006/table">
            <a:tbl>
              <a:tblPr/>
              <a:tblGrid>
                <a:gridCol w="1309680"/>
                <a:gridCol w="2258640"/>
              </a:tblGrid>
              <a:tr h="19152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Área (m</a:t>
                      </a:r>
                      <a:r>
                        <a:rPr lang="pt-BR" sz="1800" b="1" u="none" strike="noStrike" baseline="30000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2</a:t>
                      </a:r>
                      <a:r>
                        <a:rPr lang="pt-BR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)</a:t>
                      </a:r>
                      <a:endParaRPr lang="pt-BR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Preço (R$ mil)</a:t>
                      </a:r>
                      <a:endParaRPr lang="pt-BR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37080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40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220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37080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50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260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37080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60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310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37080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ptos"/>
                        </a:rPr>
                        <a:t>65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ptos"/>
                        </a:rPr>
                        <a:t>?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37080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70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350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37080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80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410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243" name="Seta: para a Direita 54"/>
          <p:cNvSpPr/>
          <p:nvPr/>
        </p:nvSpPr>
        <p:spPr>
          <a:xfrm>
            <a:off x="4205520" y="3173400"/>
            <a:ext cx="513000" cy="3744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472C4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244" name="Imagem 17"/>
          <p:cNvPicPr/>
          <p:nvPr/>
        </p:nvPicPr>
        <p:blipFill>
          <a:blip r:embed="rId1"/>
          <a:stretch/>
        </p:blipFill>
        <p:spPr>
          <a:xfrm>
            <a:off x="4852800" y="1551960"/>
            <a:ext cx="6724440" cy="459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5" name="Text 6"/>
          <p:cNvSpPr/>
          <p:nvPr/>
        </p:nvSpPr>
        <p:spPr>
          <a:xfrm>
            <a:off x="868680" y="102420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defTabSz="914400">
              <a:lnSpc>
                <a:spcPct val="100000"/>
              </a:lnSpc>
            </a:pPr>
            <a:r>
              <a:rPr lang="pt-BR" sz="20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Como ficam os dados em um plano cartesiano R</a:t>
            </a:r>
            <a:r>
              <a:rPr lang="pt-BR" sz="2000" b="1" u="none" strike="noStrike" baseline="30000">
                <a:solidFill>
                  <a:srgbClr val="0B1F3A"/>
                </a:solidFill>
                <a:effectLst/>
                <a:uFillTx/>
                <a:latin typeface="Aptos"/>
              </a:rPr>
              <a:t>2</a:t>
            </a:r>
            <a:r>
              <a:rPr lang="pt-BR" sz="20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, ou seja, gráfico x,y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Shape 0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Shape 1"/>
          <p:cNvSpPr/>
          <p:nvPr/>
        </p:nvSpPr>
        <p:spPr>
          <a:xfrm>
            <a:off x="0" y="0"/>
            <a:ext cx="164160" cy="68576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 3"/>
          <p:cNvSpPr/>
          <p:nvPr/>
        </p:nvSpPr>
        <p:spPr>
          <a:xfrm>
            <a:off x="502920" y="511920"/>
            <a:ext cx="1078956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0B1F3A"/>
                </a:solidFill>
                <a:effectLst/>
                <a:uFillTx/>
                <a:latin typeface="Aptos Display"/>
                <a:ea typeface="Aptos Display"/>
              </a:rPr>
              <a:t>Parte I — O problema de regressão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 4"/>
          <p:cNvSpPr/>
          <p:nvPr/>
        </p:nvSpPr>
        <p:spPr>
          <a:xfrm>
            <a:off x="502920" y="6446520"/>
            <a:ext cx="32000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Regressão Linear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5"/>
          <p:cNvSpPr/>
          <p:nvPr/>
        </p:nvSpPr>
        <p:spPr>
          <a:xfrm>
            <a:off x="11247120" y="641916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07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51" name="Tabela 53"/>
          <p:cNvGraphicFramePr/>
          <p:nvPr/>
        </p:nvGraphicFramePr>
        <p:xfrm>
          <a:off x="508680" y="1965240"/>
          <a:ext cx="3568320" cy="2865240"/>
        </p:xfrm>
        <a:graphic>
          <a:graphicData uri="http://schemas.openxmlformats.org/drawingml/2006/table">
            <a:tbl>
              <a:tblPr/>
              <a:tblGrid>
                <a:gridCol w="1309680"/>
                <a:gridCol w="2258640"/>
              </a:tblGrid>
              <a:tr h="19152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Área (m</a:t>
                      </a:r>
                      <a:r>
                        <a:rPr lang="pt-BR" sz="1800" b="1" u="none" strike="noStrike" baseline="30000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2</a:t>
                      </a:r>
                      <a:r>
                        <a:rPr lang="pt-BR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)</a:t>
                      </a:r>
                      <a:endParaRPr lang="pt-BR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Preço (R$ mil)</a:t>
                      </a:r>
                      <a:endParaRPr lang="pt-BR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37080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40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220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37080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50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260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37080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60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310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37080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ptos"/>
                        </a:rPr>
                        <a:t>65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ptos"/>
                        </a:rPr>
                        <a:t>?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37080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70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350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37080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80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410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252" name="Seta: para a Direita 54"/>
          <p:cNvSpPr/>
          <p:nvPr/>
        </p:nvSpPr>
        <p:spPr>
          <a:xfrm>
            <a:off x="4173840" y="2431440"/>
            <a:ext cx="513000" cy="3744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472C4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53" name="Text 6"/>
          <p:cNvSpPr/>
          <p:nvPr/>
        </p:nvSpPr>
        <p:spPr>
          <a:xfrm>
            <a:off x="502920" y="1024200"/>
            <a:ext cx="11073960" cy="87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 fontScale="85000" lnSpcReduction="9999"/>
          </a:bodyPr>
          <a:p>
            <a:pPr defTabSz="914400">
              <a:lnSpc>
                <a:spcPct val="160000"/>
              </a:lnSpc>
            </a:pPr>
            <a:r>
              <a:rPr lang="pt-BR" sz="20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Fala a “formula”, ou seja, o modelo, a equação que fornece a solução...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A </a:t>
            </a:r>
            <a:r>
              <a:rPr lang="en-US" sz="2000" b="0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formula</a:t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desenhará uma </a:t>
            </a:r>
            <a:r>
              <a:rPr lang="en-US" sz="2000" b="0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linha reta (linear) </a:t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que se </a:t>
            </a: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ajustará o maximo possível a todos os pontos</a:t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4" name="Imagem 8"/>
          <p:cNvPicPr/>
          <p:nvPr/>
        </p:nvPicPr>
        <p:blipFill>
          <a:blip r:embed="rId1"/>
          <a:stretch/>
        </p:blipFill>
        <p:spPr>
          <a:xfrm>
            <a:off x="4847040" y="1874520"/>
            <a:ext cx="6657480" cy="4571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5" name="Shape 7"/>
          <p:cNvSpPr/>
          <p:nvPr/>
        </p:nvSpPr>
        <p:spPr>
          <a:xfrm>
            <a:off x="318960" y="5588280"/>
            <a:ext cx="1408680" cy="281160"/>
          </a:xfrm>
          <a:prstGeom prst="roundRect">
            <a:avLst>
              <a:gd name="adj" fmla="val 8421"/>
            </a:avLst>
          </a:prstGeom>
          <a:solidFill>
            <a:srgbClr val="EAF4FF"/>
          </a:solidFill>
          <a:ln w="1524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 8"/>
          <p:cNvSpPr/>
          <p:nvPr/>
        </p:nvSpPr>
        <p:spPr>
          <a:xfrm>
            <a:off x="324360" y="5650920"/>
            <a:ext cx="140868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 fontScale="85000" lnSpcReduction="19999"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X – Área (m</a:t>
            </a:r>
            <a:r>
              <a:rPr lang="en-US" sz="1800" b="1" u="none" strike="noStrike" baseline="30000">
                <a:solidFill>
                  <a:srgbClr val="0B1F3A"/>
                </a:solidFill>
                <a:effectLst/>
                <a:uFillTx/>
                <a:latin typeface="Aptos"/>
              </a:rPr>
              <a:t>2</a:t>
            </a:r>
            <a:r>
              <a:rPr lang="en-US" sz="18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)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Shape 9"/>
          <p:cNvSpPr/>
          <p:nvPr/>
        </p:nvSpPr>
        <p:spPr>
          <a:xfrm>
            <a:off x="1803240" y="5744520"/>
            <a:ext cx="236520" cy="360"/>
          </a:xfrm>
          <a:prstGeom prst="line">
            <a:avLst/>
          </a:prstGeom>
          <a:ln w="19050">
            <a:solidFill>
              <a:srgbClr val="334155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58" name="Shape 10"/>
          <p:cNvSpPr/>
          <p:nvPr/>
        </p:nvSpPr>
        <p:spPr>
          <a:xfrm>
            <a:off x="2056320" y="5569560"/>
            <a:ext cx="886680" cy="323640"/>
          </a:xfrm>
          <a:prstGeom prst="roundRect">
            <a:avLst>
              <a:gd name="adj" fmla="val 8421"/>
            </a:avLst>
          </a:prstGeom>
          <a:solidFill>
            <a:srgbClr val="FF0000"/>
          </a:solidFill>
          <a:ln w="1524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 11"/>
          <p:cNvSpPr/>
          <p:nvPr/>
        </p:nvSpPr>
        <p:spPr>
          <a:xfrm>
            <a:off x="2086200" y="5580360"/>
            <a:ext cx="868680" cy="29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 fontScale="62500" lnSpcReduction="19999"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Modelo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f(X)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Shape 12"/>
          <p:cNvSpPr/>
          <p:nvPr/>
        </p:nvSpPr>
        <p:spPr>
          <a:xfrm>
            <a:off x="3015720" y="5744520"/>
            <a:ext cx="262440" cy="360"/>
          </a:xfrm>
          <a:prstGeom prst="line">
            <a:avLst/>
          </a:prstGeom>
          <a:ln w="19050">
            <a:solidFill>
              <a:srgbClr val="334155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Shape 13"/>
          <p:cNvSpPr/>
          <p:nvPr/>
        </p:nvSpPr>
        <p:spPr>
          <a:xfrm>
            <a:off x="3296520" y="5522040"/>
            <a:ext cx="1390320" cy="371160"/>
          </a:xfrm>
          <a:prstGeom prst="roundRect">
            <a:avLst>
              <a:gd name="adj" fmla="val 8421"/>
            </a:avLst>
          </a:prstGeom>
          <a:solidFill>
            <a:srgbClr val="EAF4FF"/>
          </a:solidFill>
          <a:ln w="1524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 14"/>
          <p:cNvSpPr/>
          <p:nvPr/>
        </p:nvSpPr>
        <p:spPr>
          <a:xfrm>
            <a:off x="3369960" y="5532120"/>
            <a:ext cx="125640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 fontScale="77500" lnSpcReduction="19999"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Y – Preço (R$)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 8"/>
          <p:cNvSpPr/>
          <p:nvPr/>
        </p:nvSpPr>
        <p:spPr>
          <a:xfrm>
            <a:off x="289800" y="5261400"/>
            <a:ext cx="1306800" cy="28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entrada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Text 8"/>
          <p:cNvSpPr/>
          <p:nvPr/>
        </p:nvSpPr>
        <p:spPr>
          <a:xfrm>
            <a:off x="3302280" y="5225040"/>
            <a:ext cx="1306800" cy="28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saída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 8"/>
          <p:cNvSpPr/>
          <p:nvPr/>
        </p:nvSpPr>
        <p:spPr>
          <a:xfrm>
            <a:off x="1852200" y="5278320"/>
            <a:ext cx="1306800" cy="28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Fórmula ?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Shape 1"/>
          <p:cNvSpPr/>
          <p:nvPr/>
        </p:nvSpPr>
        <p:spPr>
          <a:xfrm>
            <a:off x="0" y="0"/>
            <a:ext cx="164160" cy="68576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 3"/>
          <p:cNvSpPr/>
          <p:nvPr/>
        </p:nvSpPr>
        <p:spPr>
          <a:xfrm>
            <a:off x="502920" y="511920"/>
            <a:ext cx="1078956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0B1F3A"/>
                </a:solidFill>
                <a:effectLst/>
                <a:uFillTx/>
                <a:latin typeface="Aptos Display"/>
                <a:ea typeface="Aptos Display"/>
              </a:rPr>
              <a:t>Modelo linear simples – Equação da Reta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4"/>
          <p:cNvSpPr/>
          <p:nvPr/>
        </p:nvSpPr>
        <p:spPr>
          <a:xfrm>
            <a:off x="502920" y="6446520"/>
            <a:ext cx="32000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Regressão Linear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5"/>
          <p:cNvSpPr/>
          <p:nvPr/>
        </p:nvSpPr>
        <p:spPr>
          <a:xfrm>
            <a:off x="11247120" y="641916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09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Shape 6"/>
          <p:cNvSpPr/>
          <p:nvPr/>
        </p:nvSpPr>
        <p:spPr>
          <a:xfrm>
            <a:off x="868680" y="1188720"/>
            <a:ext cx="3200040" cy="74952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524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 7"/>
          <p:cNvSpPr/>
          <p:nvPr/>
        </p:nvSpPr>
        <p:spPr>
          <a:xfrm>
            <a:off x="1005840" y="1261800"/>
            <a:ext cx="292572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0" u="none" strike="noStrike">
                <a:solidFill>
                  <a:srgbClr val="0B1F3A"/>
                </a:solidFill>
                <a:effectLst/>
                <a:uFillTx/>
                <a:latin typeface="Cambria Math"/>
                <a:ea typeface="Cambria Math"/>
              </a:rPr>
              <a:t>ŷ = </a:t>
            </a:r>
            <a:r>
              <a:rPr lang="en-US" sz="3200" b="0" u="none" strike="noStrike">
                <a:solidFill>
                  <a:srgbClr val="FF0000"/>
                </a:solidFill>
                <a:effectLst/>
                <a:uFillTx/>
                <a:latin typeface="Cambria Math"/>
                <a:ea typeface="Cambria Math"/>
              </a:rPr>
              <a:t>w</a:t>
            </a:r>
            <a:r>
              <a:rPr lang="en-US" sz="3200" b="0" u="none" strike="noStrike">
                <a:solidFill>
                  <a:srgbClr val="0B1F3A"/>
                </a:solidFill>
                <a:effectLst/>
                <a:uFillTx/>
                <a:latin typeface="Cambria Math"/>
                <a:ea typeface="Cambria Math"/>
              </a:rPr>
              <a:t>x + </a:t>
            </a:r>
            <a:r>
              <a:rPr lang="en-US" sz="3200" b="0" u="none" strike="noStrike">
                <a:solidFill>
                  <a:srgbClr val="FF0000"/>
                </a:solidFill>
                <a:effectLst/>
                <a:uFillTx/>
                <a:latin typeface="Cambria Math"/>
                <a:ea typeface="Cambria Math"/>
              </a:rPr>
              <a:t>b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Shape 8"/>
          <p:cNvSpPr/>
          <p:nvPr/>
        </p:nvSpPr>
        <p:spPr>
          <a:xfrm>
            <a:off x="6492240" y="5623560"/>
            <a:ext cx="4480560" cy="360"/>
          </a:xfrm>
          <a:prstGeom prst="line">
            <a:avLst/>
          </a:prstGeom>
          <a:ln w="12700">
            <a:solidFill>
              <a:srgbClr val="33415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Shape 9"/>
          <p:cNvSpPr/>
          <p:nvPr/>
        </p:nvSpPr>
        <p:spPr>
          <a:xfrm>
            <a:off x="6492240" y="1234440"/>
            <a:ext cx="360" cy="4389120"/>
          </a:xfrm>
          <a:prstGeom prst="line">
            <a:avLst/>
          </a:prstGeom>
          <a:ln w="12700">
            <a:solidFill>
              <a:srgbClr val="33415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Shape 10"/>
          <p:cNvSpPr/>
          <p:nvPr/>
        </p:nvSpPr>
        <p:spPr>
          <a:xfrm>
            <a:off x="6805800" y="4569840"/>
            <a:ext cx="3673800" cy="360"/>
          </a:xfrm>
          <a:prstGeom prst="line">
            <a:avLst/>
          </a:prstGeom>
          <a:ln w="2794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Shape 11"/>
          <p:cNvSpPr/>
          <p:nvPr/>
        </p:nvSpPr>
        <p:spPr>
          <a:xfrm>
            <a:off x="6988680" y="4397400"/>
            <a:ext cx="82080" cy="8208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6" name="Shape 12"/>
          <p:cNvSpPr/>
          <p:nvPr/>
        </p:nvSpPr>
        <p:spPr>
          <a:xfrm>
            <a:off x="7571160" y="3958560"/>
            <a:ext cx="82080" cy="8208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7" name="Shape 13"/>
          <p:cNvSpPr/>
          <p:nvPr/>
        </p:nvSpPr>
        <p:spPr>
          <a:xfrm>
            <a:off x="8153640" y="3607200"/>
            <a:ext cx="82080" cy="8208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8" name="Shape 14"/>
          <p:cNvSpPr/>
          <p:nvPr/>
        </p:nvSpPr>
        <p:spPr>
          <a:xfrm>
            <a:off x="8781120" y="3080520"/>
            <a:ext cx="82080" cy="8208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9" name="Shape 15"/>
          <p:cNvSpPr/>
          <p:nvPr/>
        </p:nvSpPr>
        <p:spPr>
          <a:xfrm>
            <a:off x="9497880" y="2597760"/>
            <a:ext cx="82080" cy="8208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0" name="Shape 16"/>
          <p:cNvSpPr/>
          <p:nvPr/>
        </p:nvSpPr>
        <p:spPr>
          <a:xfrm>
            <a:off x="10125000" y="2071080"/>
            <a:ext cx="82080" cy="8208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1" name="Shape 17"/>
          <p:cNvSpPr/>
          <p:nvPr/>
        </p:nvSpPr>
        <p:spPr>
          <a:xfrm>
            <a:off x="7498080" y="4553640"/>
            <a:ext cx="1097280" cy="360"/>
          </a:xfrm>
          <a:prstGeom prst="line">
            <a:avLst/>
          </a:prstGeom>
          <a:ln w="25400">
            <a:solidFill>
              <a:srgbClr val="16A34A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 18"/>
          <p:cNvSpPr/>
          <p:nvPr/>
        </p:nvSpPr>
        <p:spPr>
          <a:xfrm>
            <a:off x="8641080" y="3703320"/>
            <a:ext cx="1828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6A34A"/>
                </a:solidFill>
                <a:effectLst/>
                <a:uFillTx/>
                <a:latin typeface="Aptos"/>
              </a:rPr>
              <a:t>inclinação = w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Shape 19"/>
          <p:cNvSpPr/>
          <p:nvPr/>
        </p:nvSpPr>
        <p:spPr>
          <a:xfrm>
            <a:off x="6492240" y="4590000"/>
            <a:ext cx="594360" cy="360"/>
          </a:xfrm>
          <a:prstGeom prst="line">
            <a:avLst/>
          </a:prstGeom>
          <a:ln w="254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 20"/>
          <p:cNvSpPr/>
          <p:nvPr/>
        </p:nvSpPr>
        <p:spPr>
          <a:xfrm>
            <a:off x="7040880" y="4663440"/>
            <a:ext cx="20113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intercepto = b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 21"/>
          <p:cNvSpPr/>
          <p:nvPr/>
        </p:nvSpPr>
        <p:spPr>
          <a:xfrm>
            <a:off x="868680" y="2198520"/>
            <a:ext cx="5120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 fontScale="850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w</a:t>
            </a:r>
            <a:r>
              <a:rPr lang="en-US" sz="1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 – INCLINAÇÃO - indica quanto a previsão tende a mudar quando x aumenta uma unidade.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 22"/>
          <p:cNvSpPr/>
          <p:nvPr/>
        </p:nvSpPr>
        <p:spPr>
          <a:xfrm>
            <a:off x="868680" y="2862000"/>
            <a:ext cx="51202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 fontScale="850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b</a:t>
            </a:r>
            <a:r>
              <a:rPr lang="en-US" sz="1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 – DESLOCAMENTO - desloca a reta para cima ou para baixo; sem ele, a reta passa pela origem.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3"/>
          <p:cNvSpPr/>
          <p:nvPr/>
        </p:nvSpPr>
        <p:spPr>
          <a:xfrm>
            <a:off x="272520" y="3571200"/>
            <a:ext cx="611136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FF0000"/>
                </a:solidFill>
                <a:effectLst/>
                <a:uFillTx/>
                <a:latin typeface="Aptos Display"/>
                <a:ea typeface="Aptos Display"/>
              </a:rPr>
              <a:t>Mas como calcular a Equação da Reta ?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 22"/>
          <p:cNvSpPr/>
          <p:nvPr/>
        </p:nvSpPr>
        <p:spPr>
          <a:xfrm>
            <a:off x="868680" y="4151520"/>
            <a:ext cx="5120280" cy="147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7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Em outras palavras: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70000"/>
              </a:lnSpc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Como calcular o valor de</a:t>
            </a:r>
            <a:r>
              <a:rPr lang="en-US" sz="1800" b="0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 “w”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70000"/>
              </a:lnSpc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Como calcular o valor de </a:t>
            </a:r>
            <a:r>
              <a:rPr lang="en-US" sz="1800" b="0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“b”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Shape 1"/>
          <p:cNvSpPr/>
          <p:nvPr/>
        </p:nvSpPr>
        <p:spPr>
          <a:xfrm>
            <a:off x="0" y="0"/>
            <a:ext cx="164160" cy="68576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0" name="Text 4"/>
          <p:cNvSpPr/>
          <p:nvPr/>
        </p:nvSpPr>
        <p:spPr>
          <a:xfrm>
            <a:off x="502920" y="6446520"/>
            <a:ext cx="32000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Regressão Linear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Text 5"/>
          <p:cNvSpPr/>
          <p:nvPr/>
        </p:nvSpPr>
        <p:spPr>
          <a:xfrm>
            <a:off x="11247120" y="641916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09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Shape 6"/>
          <p:cNvSpPr/>
          <p:nvPr/>
        </p:nvSpPr>
        <p:spPr>
          <a:xfrm>
            <a:off x="502920" y="1819800"/>
            <a:ext cx="2677680" cy="74952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524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 7"/>
          <p:cNvSpPr/>
          <p:nvPr/>
        </p:nvSpPr>
        <p:spPr>
          <a:xfrm>
            <a:off x="640080" y="1892880"/>
            <a:ext cx="244656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0" u="none" strike="noStrike">
                <a:solidFill>
                  <a:srgbClr val="0B1F3A"/>
                </a:solidFill>
                <a:effectLst/>
                <a:uFillTx/>
                <a:latin typeface="Cambria Math"/>
                <a:ea typeface="Cambria Math"/>
              </a:rPr>
              <a:t>ŷ = </a:t>
            </a:r>
            <a:r>
              <a:rPr lang="en-US" sz="3200" b="0" u="none" strike="noStrike">
                <a:solidFill>
                  <a:srgbClr val="FF0000"/>
                </a:solidFill>
                <a:effectLst/>
                <a:uFillTx/>
                <a:latin typeface="Cambria Math"/>
                <a:ea typeface="Cambria Math"/>
              </a:rPr>
              <a:t>w*</a:t>
            </a:r>
            <a:r>
              <a:rPr lang="en-US" sz="3200" b="0" u="none" strike="noStrike">
                <a:solidFill>
                  <a:srgbClr val="0B1F3A"/>
                </a:solidFill>
                <a:effectLst/>
                <a:uFillTx/>
                <a:latin typeface="Cambria Math"/>
                <a:ea typeface="Cambria Math"/>
              </a:rPr>
              <a:t>x + </a:t>
            </a:r>
            <a:r>
              <a:rPr lang="en-US" sz="3200" b="0" u="none" strike="noStrike">
                <a:solidFill>
                  <a:srgbClr val="FF0000"/>
                </a:solidFill>
                <a:effectLst/>
                <a:uFillTx/>
                <a:latin typeface="Cambria Math"/>
                <a:ea typeface="Cambria Math"/>
              </a:rPr>
              <a:t>b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Text 3"/>
          <p:cNvSpPr/>
          <p:nvPr/>
        </p:nvSpPr>
        <p:spPr>
          <a:xfrm>
            <a:off x="502920" y="640080"/>
            <a:ext cx="693684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Aptos Display"/>
                <a:ea typeface="Aptos Display"/>
              </a:rPr>
              <a:t>Mas como calcular a Equação da Reta ?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Aptos Display"/>
                <a:ea typeface="Aptos Display"/>
              </a:rPr>
              <a:t>Resposta:</a:t>
            </a:r>
            <a:r>
              <a:rPr lang="en-US" sz="2800" b="1" u="none" strike="noStrike">
                <a:solidFill>
                  <a:srgbClr val="FF0000"/>
                </a:solidFill>
                <a:effectLst/>
                <a:uFillTx/>
                <a:latin typeface="Aptos Display"/>
                <a:ea typeface="Aptos Display"/>
              </a:rPr>
              <a:t> Método dos Mínimos Quadrados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CaixaDeTexto 26"/>
          <p:cNvSpPr/>
          <p:nvPr/>
        </p:nvSpPr>
        <p:spPr>
          <a:xfrm>
            <a:off x="502920" y="3075480"/>
            <a:ext cx="2426040" cy="706680"/>
          </a:xfrm>
          <a:prstGeom prst="rect">
            <a:avLst/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lang="pt-BR" sz="18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ptos"/>
              </a:rPr>
              <a:t> 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96" name="Tabela 27"/>
          <p:cNvGraphicFramePr/>
          <p:nvPr/>
        </p:nvGraphicFramePr>
        <p:xfrm>
          <a:off x="3576240" y="1787400"/>
          <a:ext cx="8127720" cy="4972680"/>
        </p:xfrm>
        <a:graphic>
          <a:graphicData uri="http://schemas.openxmlformats.org/drawingml/2006/table">
            <a:tbl>
              <a:tblPr/>
              <a:tblGrid>
                <a:gridCol w="848520"/>
                <a:gridCol w="679680"/>
                <a:gridCol w="1078200"/>
                <a:gridCol w="1383120"/>
                <a:gridCol w="2039760"/>
                <a:gridCol w="2097360"/>
              </a:tblGrid>
              <a:tr h="538200">
                <a:tc>
                  <a:txBody>
                    <a:bodyPr lIns="152280" tIns="114120" rIns="152280" bIns="11412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800" b="1" u="none" strike="noStrike">
                          <a:solidFill>
                            <a:srgbClr val="374151"/>
                          </a:solidFill>
                          <a:effectLst/>
                          <a:uFillTx/>
                          <a:latin typeface="KaTeX_Main"/>
                        </a:rPr>
                        <a:t>(</a:t>
                      </a:r>
                      <a:r>
                        <a:rPr lang="pt-BR" sz="1800" b="1" i="1" u="none" strike="noStrike">
                          <a:solidFill>
                            <a:srgbClr val="374151"/>
                          </a:solidFill>
                          <a:effectLst/>
                          <a:uFillTx/>
                          <a:latin typeface="KaTeX_Math"/>
                        </a:rPr>
                        <a:t>x</a:t>
                      </a:r>
                      <a:r>
                        <a:rPr lang="pt-BR" sz="1800" b="1" u="none" strike="noStrike">
                          <a:solidFill>
                            <a:srgbClr val="374151"/>
                          </a:solidFill>
                          <a:effectLst/>
                          <a:uFillTx/>
                          <a:latin typeface="KaTeX_Main"/>
                        </a:rPr>
                        <a:t>)</a:t>
                      </a:r>
                      <a:endParaRPr lang="pt-BR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52280" marR="152280" marT="114120" marB="1141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152280" tIns="114120" rIns="152280" bIns="114120" anchor="ctr">
                      <a:noAutofit/>
                    </a:bodyPr>
                    <a:p>
                      <a:endParaRPr lang="pt-BR" sz="1800" b="1" u="none" strike="noStrike">
                        <a:solidFill>
                          <a:schemeClr val="lt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ctr" marL="152280" marR="152280" marT="114120" marB="1141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blipFill rotWithShape="0">
                      <a:blip r:embed="rId2"/>
                      <a:stretch/>
                    </a:blipFill>
                  </a:tcPr>
                </a:tc>
                <a:tc>
                  <a:txBody>
                    <a:bodyPr lIns="152280" tIns="114120" rIns="152280" bIns="114120" anchor="ctr">
                      <a:noAutofit/>
                    </a:bodyPr>
                    <a:p>
                      <a:endParaRPr lang="pt-BR" sz="1800" b="1" u="none" strike="noStrike">
                        <a:solidFill>
                          <a:schemeClr val="lt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ctr" marL="152280" marR="152280" marT="114120" marB="1141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blipFill rotWithShape="0">
                      <a:blip r:embed="rId3"/>
                      <a:stretch/>
                    </a:blipFill>
                  </a:tcPr>
                </a:tc>
                <a:tc>
                  <a:txBody>
                    <a:bodyPr lIns="152280" tIns="114120" rIns="152280" bIns="114120" anchor="ctr">
                      <a:noAutofit/>
                    </a:bodyPr>
                    <a:p>
                      <a:endParaRPr lang="pt-BR" sz="1800" b="1" u="none" strike="noStrike">
                        <a:solidFill>
                          <a:schemeClr val="lt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ctr" marL="152280" marR="152280" marT="114120" marB="1141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blipFill rotWithShape="0">
                      <a:blip r:embed="rId4"/>
                      <a:stretch/>
                    </a:blipFill>
                  </a:tcPr>
                </a:tc>
                <a:tc>
                  <a:txBody>
                    <a:bodyPr lIns="152280" tIns="114120" rIns="152280" bIns="114120" anchor="ctr">
                      <a:noAutofit/>
                    </a:bodyPr>
                    <a:p>
                      <a:endParaRPr lang="pt-BR" sz="1800" b="1" u="none" strike="noStrike">
                        <a:solidFill>
                          <a:schemeClr val="lt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ctr" marL="152280" marR="152280" marT="114120" marB="1141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blipFill rotWithShape="0">
                      <a:blip r:embed="rId5"/>
                      <a:stretch/>
                    </a:blipFill>
                  </a:tcPr>
                </a:tc>
                <a:tc>
                  <a:txBody>
                    <a:bodyPr lIns="152280" tIns="114120" rIns="152280" bIns="114120" anchor="ctr">
                      <a:noAutofit/>
                    </a:bodyPr>
                    <a:p>
                      <a:endParaRPr lang="pt-BR" sz="1800" b="1" u="none" strike="noStrike">
                        <a:solidFill>
                          <a:schemeClr val="lt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ctr" marL="152280" marR="152280" marT="114120" marB="1141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blipFill rotWithShape="0">
                      <a:blip r:embed="rId6"/>
                      <a:stretch/>
                    </a:blipFill>
                  </a:tcPr>
                </a:tc>
              </a:tr>
              <a:tr h="464760">
                <a:tc>
                  <a:txBody>
                    <a:bodyPr lIns="152280" tIns="95040" rIns="152280" bIns="9504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800" b="0" u="none" strike="noStrike">
                          <a:solidFill>
                            <a:srgbClr val="4B5563"/>
                          </a:solidFill>
                          <a:effectLst/>
                          <a:uFillTx/>
                          <a:latin typeface="Inter"/>
                        </a:rPr>
                        <a:t>40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52280" marR="152280" marT="95040" marB="950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152280" tIns="95040" rIns="152280" bIns="9504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800" b="0" u="none" strike="noStrike">
                          <a:solidFill>
                            <a:srgbClr val="4B5563"/>
                          </a:solidFill>
                          <a:effectLst/>
                          <a:uFillTx/>
                          <a:latin typeface="Inter"/>
                        </a:rPr>
                        <a:t>220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52280" marR="152280" marT="95040" marB="950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152280" tIns="95040" rIns="152280" bIns="9504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800" b="0" u="none" strike="noStrike">
                          <a:solidFill>
                            <a:srgbClr val="4B5563"/>
                          </a:solidFill>
                          <a:effectLst/>
                          <a:uFillTx/>
                          <a:latin typeface="Inter"/>
                        </a:rPr>
                        <a:t>-20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52280" marR="152280" marT="95040" marB="950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152280" tIns="95040" rIns="152280" bIns="9504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800" b="0" u="none" strike="noStrike">
                          <a:solidFill>
                            <a:srgbClr val="4B5563"/>
                          </a:solidFill>
                          <a:effectLst/>
                          <a:uFillTx/>
                          <a:latin typeface="Inter"/>
                        </a:rPr>
                        <a:t>-90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52280" marR="152280" marT="95040" marB="950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152280" tIns="95040" rIns="152280" bIns="9504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800" b="0" u="none" strike="noStrike">
                          <a:solidFill>
                            <a:srgbClr val="4B5563"/>
                          </a:solidFill>
                          <a:effectLst/>
                          <a:uFillTx/>
                          <a:latin typeface="Inter"/>
                        </a:rPr>
                        <a:t>1800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52280" marR="152280" marT="95040" marB="950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152280" tIns="95040" rIns="152280" bIns="9504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800" b="0" u="none" strike="noStrike">
                          <a:solidFill>
                            <a:srgbClr val="4B5563"/>
                          </a:solidFill>
                          <a:effectLst/>
                          <a:uFillTx/>
                          <a:latin typeface="Inter"/>
                        </a:rPr>
                        <a:t>400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52280" marR="152280" marT="95040" marB="950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464760">
                <a:tc>
                  <a:txBody>
                    <a:bodyPr lIns="152280" tIns="95040" rIns="152280" bIns="9504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800" b="0" u="none" strike="noStrike">
                          <a:solidFill>
                            <a:srgbClr val="4B5563"/>
                          </a:solidFill>
                          <a:effectLst/>
                          <a:uFillTx/>
                          <a:latin typeface="Inter"/>
                        </a:rPr>
                        <a:t>50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52280" marR="152280" marT="95040" marB="950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152280" tIns="95040" rIns="152280" bIns="9504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800" b="0" u="none" strike="noStrike">
                          <a:solidFill>
                            <a:srgbClr val="4B5563"/>
                          </a:solidFill>
                          <a:effectLst/>
                          <a:uFillTx/>
                          <a:latin typeface="Inter"/>
                        </a:rPr>
                        <a:t>260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52280" marR="152280" marT="95040" marB="950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152280" tIns="95040" rIns="152280" bIns="9504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800" b="0" u="none" strike="noStrike">
                          <a:solidFill>
                            <a:srgbClr val="4B5563"/>
                          </a:solidFill>
                          <a:effectLst/>
                          <a:uFillTx/>
                          <a:latin typeface="Inter"/>
                        </a:rPr>
                        <a:t>-10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52280" marR="152280" marT="95040" marB="950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152280" tIns="95040" rIns="152280" bIns="9504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800" b="0" u="none" strike="noStrike">
                          <a:solidFill>
                            <a:srgbClr val="4B5563"/>
                          </a:solidFill>
                          <a:effectLst/>
                          <a:uFillTx/>
                          <a:latin typeface="Inter"/>
                        </a:rPr>
                        <a:t>-50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52280" marR="152280" marT="95040" marB="950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152280" tIns="95040" rIns="152280" bIns="9504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800" b="0" u="none" strike="noStrike">
                          <a:solidFill>
                            <a:srgbClr val="4B5563"/>
                          </a:solidFill>
                          <a:effectLst/>
                          <a:uFillTx/>
                          <a:latin typeface="Inter"/>
                        </a:rPr>
                        <a:t>500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52280" marR="152280" marT="95040" marB="950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152280" tIns="95040" rIns="152280" bIns="9504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800" b="0" u="none" strike="noStrike">
                          <a:solidFill>
                            <a:srgbClr val="4B5563"/>
                          </a:solidFill>
                          <a:effectLst/>
                          <a:uFillTx/>
                          <a:latin typeface="Inter"/>
                        </a:rPr>
                        <a:t>100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52280" marR="152280" marT="95040" marB="950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464760">
                <a:tc>
                  <a:txBody>
                    <a:bodyPr lIns="152280" tIns="95040" rIns="152280" bIns="9504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800" b="0" u="none" strike="noStrike">
                          <a:solidFill>
                            <a:srgbClr val="4B5563"/>
                          </a:solidFill>
                          <a:effectLst/>
                          <a:uFillTx/>
                          <a:latin typeface="Inter"/>
                        </a:rPr>
                        <a:t>60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52280" marR="152280" marT="95040" marB="950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152280" tIns="95040" rIns="152280" bIns="9504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800" b="0" u="none" strike="noStrike">
                          <a:solidFill>
                            <a:srgbClr val="4B5563"/>
                          </a:solidFill>
                          <a:effectLst/>
                          <a:uFillTx/>
                          <a:latin typeface="Inter"/>
                        </a:rPr>
                        <a:t>310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52280" marR="152280" marT="95040" marB="950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152280" tIns="95040" rIns="152280" bIns="9504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800" b="0" u="none" strike="noStrike">
                          <a:solidFill>
                            <a:srgbClr val="4B5563"/>
                          </a:solidFill>
                          <a:effectLst/>
                          <a:uFillTx/>
                          <a:latin typeface="Inter"/>
                        </a:rPr>
                        <a:t>0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52280" marR="152280" marT="95040" marB="950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152280" tIns="95040" rIns="152280" bIns="9504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800" b="0" u="none" strike="noStrike">
                          <a:solidFill>
                            <a:srgbClr val="4B5563"/>
                          </a:solidFill>
                          <a:effectLst/>
                          <a:uFillTx/>
                          <a:latin typeface="Inter"/>
                        </a:rPr>
                        <a:t>0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52280" marR="152280" marT="95040" marB="950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152280" tIns="95040" rIns="152280" bIns="9504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800" b="0" u="none" strike="noStrike">
                          <a:solidFill>
                            <a:srgbClr val="4B5563"/>
                          </a:solidFill>
                          <a:effectLst/>
                          <a:uFillTx/>
                          <a:latin typeface="Inter"/>
                        </a:rPr>
                        <a:t>0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52280" marR="152280" marT="95040" marB="950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152280" tIns="95040" rIns="152280" bIns="9504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800" b="0" u="none" strike="noStrike">
                          <a:solidFill>
                            <a:srgbClr val="4B5563"/>
                          </a:solidFill>
                          <a:effectLst/>
                          <a:uFillTx/>
                          <a:latin typeface="Inter"/>
                        </a:rPr>
                        <a:t>0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52280" marR="152280" marT="95040" marB="950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464760">
                <a:tc>
                  <a:txBody>
                    <a:bodyPr lIns="152280" tIns="95040" rIns="152280" bIns="9504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800" b="0" u="none" strike="noStrike">
                          <a:solidFill>
                            <a:srgbClr val="4B5563"/>
                          </a:solidFill>
                          <a:effectLst/>
                          <a:uFillTx/>
                          <a:latin typeface="Inter"/>
                        </a:rPr>
                        <a:t>70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52280" marR="152280" marT="95040" marB="950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152280" tIns="95040" rIns="152280" bIns="9504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800" b="0" u="none" strike="noStrike">
                          <a:solidFill>
                            <a:srgbClr val="4B5563"/>
                          </a:solidFill>
                          <a:effectLst/>
                          <a:uFillTx/>
                          <a:latin typeface="Inter"/>
                        </a:rPr>
                        <a:t>350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52280" marR="152280" marT="95040" marB="950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152280" tIns="95040" rIns="152280" bIns="9504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800" b="0" u="none" strike="noStrike">
                          <a:solidFill>
                            <a:srgbClr val="4B5563"/>
                          </a:solidFill>
                          <a:effectLst/>
                          <a:uFillTx/>
                          <a:latin typeface="Inter"/>
                        </a:rPr>
                        <a:t>10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52280" marR="152280" marT="95040" marB="950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152280" tIns="95040" rIns="152280" bIns="9504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800" b="0" u="none" strike="noStrike">
                          <a:solidFill>
                            <a:srgbClr val="4B5563"/>
                          </a:solidFill>
                          <a:effectLst/>
                          <a:uFillTx/>
                          <a:latin typeface="Inter"/>
                        </a:rPr>
                        <a:t>40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52280" marR="152280" marT="95040" marB="950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152280" tIns="95040" rIns="152280" bIns="9504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800" b="0" u="none" strike="noStrike">
                          <a:solidFill>
                            <a:srgbClr val="4B5563"/>
                          </a:solidFill>
                          <a:effectLst/>
                          <a:uFillTx/>
                          <a:latin typeface="Inter"/>
                        </a:rPr>
                        <a:t>400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52280" marR="152280" marT="95040" marB="950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152280" tIns="95040" rIns="152280" bIns="9504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800" b="0" u="none" strike="noStrike">
                          <a:solidFill>
                            <a:srgbClr val="4B5563"/>
                          </a:solidFill>
                          <a:effectLst/>
                          <a:uFillTx/>
                          <a:latin typeface="Inter"/>
                        </a:rPr>
                        <a:t>100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52280" marR="152280" marT="95040" marB="950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464760">
                <a:tc>
                  <a:txBody>
                    <a:bodyPr lIns="152280" tIns="95040" rIns="152280" bIns="9504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800" b="0" u="none" strike="noStrike">
                          <a:solidFill>
                            <a:srgbClr val="4B5563"/>
                          </a:solidFill>
                          <a:effectLst/>
                          <a:uFillTx/>
                          <a:latin typeface="Inter"/>
                        </a:rPr>
                        <a:t>80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52280" marR="152280" marT="95040" marB="950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152280" tIns="95040" rIns="152280" bIns="9504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800" b="0" u="none" strike="noStrike">
                          <a:solidFill>
                            <a:srgbClr val="4B5563"/>
                          </a:solidFill>
                          <a:effectLst/>
                          <a:uFillTx/>
                          <a:latin typeface="Inter"/>
                        </a:rPr>
                        <a:t>410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52280" marR="152280" marT="95040" marB="950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152280" tIns="95040" rIns="152280" bIns="9504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800" b="0" u="none" strike="noStrike">
                          <a:solidFill>
                            <a:srgbClr val="4B5563"/>
                          </a:solidFill>
                          <a:effectLst/>
                          <a:uFillTx/>
                          <a:latin typeface="Inter"/>
                        </a:rPr>
                        <a:t>20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52280" marR="152280" marT="95040" marB="950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152280" tIns="95040" rIns="152280" bIns="9504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800" b="0" u="none" strike="noStrike">
                          <a:solidFill>
                            <a:srgbClr val="4B5563"/>
                          </a:solidFill>
                          <a:effectLst/>
                          <a:uFillTx/>
                          <a:latin typeface="Inter"/>
                        </a:rPr>
                        <a:t>100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52280" marR="152280" marT="95040" marB="950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152280" tIns="95040" rIns="152280" bIns="9504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800" b="0" u="none" strike="noStrike">
                          <a:solidFill>
                            <a:srgbClr val="4B5563"/>
                          </a:solidFill>
                          <a:effectLst/>
                          <a:uFillTx/>
                          <a:latin typeface="Inter"/>
                        </a:rPr>
                        <a:t>2000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52280" marR="152280" marT="95040" marB="950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152280" tIns="95040" rIns="152280" bIns="9504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800" b="0" u="none" strike="noStrike">
                          <a:solidFill>
                            <a:srgbClr val="4B5563"/>
                          </a:solidFill>
                          <a:effectLst/>
                          <a:uFillTx/>
                          <a:latin typeface="Inter"/>
                        </a:rPr>
                        <a:t>400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52280" marR="152280" marT="95040" marB="950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464760">
                <a:tc>
                  <a:txBody>
                    <a:bodyPr lIns="152280" tIns="95040" rIns="152280" bIns="9504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800" b="1" u="none" strike="noStrike">
                          <a:solidFill>
                            <a:srgbClr val="4B5563"/>
                          </a:solidFill>
                          <a:effectLst/>
                          <a:uFillTx/>
                          <a:latin typeface="Inter"/>
                        </a:rPr>
                        <a:t>Soma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52280" marR="152280" marT="95040" marB="950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152280" tIns="95040" rIns="152280" bIns="9504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4B5563"/>
                        </a:solidFill>
                        <a:effectLst/>
                        <a:uFillTx/>
                        <a:latin typeface="Inter"/>
                      </a:endParaRPr>
                    </a:p>
                  </a:txBody>
                  <a:tcPr anchor="ctr" marL="152280" marR="152280" marT="95040" marB="950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152280" tIns="95040" rIns="152280" bIns="9504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4B5563"/>
                        </a:solidFill>
                        <a:effectLst/>
                        <a:uFillTx/>
                        <a:latin typeface="Inter"/>
                      </a:endParaRPr>
                    </a:p>
                  </a:txBody>
                  <a:tcPr anchor="ctr" marL="152280" marR="152280" marT="95040" marB="950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152280" tIns="95040" rIns="152280" bIns="9504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4B5563"/>
                        </a:solidFill>
                        <a:effectLst/>
                        <a:uFillTx/>
                        <a:latin typeface="Inter"/>
                      </a:endParaRPr>
                    </a:p>
                  </a:txBody>
                  <a:tcPr anchor="ctr" marL="152280" marR="152280" marT="95040" marB="950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152280" tIns="95040" rIns="152280" bIns="9504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800" b="1" u="none" strike="noStrike">
                          <a:solidFill>
                            <a:srgbClr val="4B5563"/>
                          </a:solidFill>
                          <a:effectLst/>
                          <a:uFillTx/>
                          <a:latin typeface="Inter"/>
                        </a:rPr>
                        <a:t>4700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52280" marR="152280" marT="95040" marB="950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152280" tIns="95040" rIns="152280" bIns="9504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800" b="1" u="none" strike="noStrike">
                          <a:solidFill>
                            <a:srgbClr val="4B5563"/>
                          </a:solidFill>
                          <a:effectLst/>
                          <a:uFillTx/>
                          <a:latin typeface="Inter"/>
                        </a:rPr>
                        <a:t>1000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52280" marR="152280" marT="95040" marB="950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297" name="CaixaDeTexto 28"/>
          <p:cNvSpPr/>
          <p:nvPr/>
        </p:nvSpPr>
        <p:spPr>
          <a:xfrm>
            <a:off x="560160" y="3987720"/>
            <a:ext cx="1037160" cy="520200"/>
          </a:xfrm>
          <a:prstGeom prst="rect">
            <a:avLst/>
          </a:prstGeom>
          <a:blipFill rotWithShape="0">
            <a:blip r:embed="rId7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lang="pt-BR" sz="18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ptos"/>
              </a:rPr>
              <a:t> 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CaixaDeTexto 29"/>
          <p:cNvSpPr/>
          <p:nvPr/>
        </p:nvSpPr>
        <p:spPr>
          <a:xfrm>
            <a:off x="331560" y="4729680"/>
            <a:ext cx="2921040" cy="342000"/>
          </a:xfrm>
          <a:prstGeom prst="rect">
            <a:avLst/>
          </a:prstGeom>
          <a:blipFill rotWithShape="0">
            <a:blip r:embed="rId8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lang="pt-BR" sz="18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ptos"/>
              </a:rPr>
              <a:t> 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Seta: para a Direita 30"/>
          <p:cNvSpPr/>
          <p:nvPr/>
        </p:nvSpPr>
        <p:spPr>
          <a:xfrm>
            <a:off x="3024720" y="3188520"/>
            <a:ext cx="460800" cy="4842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472C4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300" name="Shape 6"/>
          <p:cNvSpPr/>
          <p:nvPr/>
        </p:nvSpPr>
        <p:spPr>
          <a:xfrm>
            <a:off x="3782520" y="5298480"/>
            <a:ext cx="2677680" cy="74952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524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 7"/>
          <p:cNvSpPr/>
          <p:nvPr/>
        </p:nvSpPr>
        <p:spPr>
          <a:xfrm>
            <a:off x="3919680" y="5371560"/>
            <a:ext cx="244656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 fontScale="85000" lnSpcReduction="9999"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0" u="none" strike="noStrike">
                <a:solidFill>
                  <a:srgbClr val="0B1F3A"/>
                </a:solidFill>
                <a:effectLst/>
                <a:uFillTx/>
                <a:latin typeface="Cambria Math"/>
                <a:ea typeface="Cambria Math"/>
              </a:rPr>
              <a:t>ŷ = (</a:t>
            </a:r>
            <a:r>
              <a:rPr lang="en-US" sz="3200" b="0" u="none" strike="noStrike">
                <a:solidFill>
                  <a:srgbClr val="FF0000"/>
                </a:solidFill>
                <a:effectLst/>
                <a:uFillTx/>
                <a:latin typeface="Cambria Math"/>
                <a:ea typeface="Cambria Math"/>
              </a:rPr>
              <a:t>4,7)*</a:t>
            </a:r>
            <a:r>
              <a:rPr lang="en-US" sz="3200" b="0" u="none" strike="noStrike">
                <a:solidFill>
                  <a:srgbClr val="0B1F3A"/>
                </a:solidFill>
                <a:effectLst/>
                <a:uFillTx/>
                <a:latin typeface="Cambria Math"/>
                <a:ea typeface="Cambria Math"/>
              </a:rPr>
              <a:t>x + </a:t>
            </a:r>
            <a:r>
              <a:rPr lang="en-US" sz="3200" b="0" u="none" strike="noStrike">
                <a:solidFill>
                  <a:srgbClr val="FF0000"/>
                </a:solidFill>
                <a:effectLst/>
                <a:uFillTx/>
                <a:latin typeface="Cambria Math"/>
                <a:ea typeface="Cambria Math"/>
              </a:rPr>
              <a:t>b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7"/>
          <p:cNvSpPr/>
          <p:nvPr/>
        </p:nvSpPr>
        <p:spPr>
          <a:xfrm>
            <a:off x="6944400" y="5445000"/>
            <a:ext cx="304452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 fontScale="70000" lnSpcReduction="19999"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0" u="none" strike="noStrike">
                <a:solidFill>
                  <a:srgbClr val="0B1F3A"/>
                </a:solidFill>
                <a:effectLst/>
                <a:uFillTx/>
                <a:latin typeface="Cambria Math"/>
                <a:ea typeface="Cambria Math"/>
              </a:rPr>
              <a:t>Agora falta descobrir o </a:t>
            </a:r>
            <a:r>
              <a:rPr lang="en-US" sz="3200" b="0" u="none" strike="noStrike">
                <a:solidFill>
                  <a:srgbClr val="FF0000"/>
                </a:solidFill>
                <a:effectLst/>
                <a:uFillTx/>
                <a:latin typeface="Cambria Math"/>
                <a:ea typeface="Cambria Math"/>
              </a:rPr>
              <a:t>“b”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Text 7"/>
          <p:cNvSpPr/>
          <p:nvPr/>
        </p:nvSpPr>
        <p:spPr>
          <a:xfrm>
            <a:off x="500400" y="5524200"/>
            <a:ext cx="304452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 fontScale="70000" lnSpcReduction="19999"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0" u="none" strike="noStrike">
                <a:solidFill>
                  <a:srgbClr val="0B1F3A"/>
                </a:solidFill>
                <a:effectLst/>
                <a:uFillTx/>
                <a:latin typeface="Cambria Math"/>
                <a:ea typeface="Cambria Math"/>
              </a:rPr>
              <a:t>Então até aqui já temos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Shape 1"/>
          <p:cNvSpPr/>
          <p:nvPr/>
        </p:nvSpPr>
        <p:spPr>
          <a:xfrm>
            <a:off x="0" y="0"/>
            <a:ext cx="164160" cy="68576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 4"/>
          <p:cNvSpPr/>
          <p:nvPr/>
        </p:nvSpPr>
        <p:spPr>
          <a:xfrm>
            <a:off x="502920" y="6446520"/>
            <a:ext cx="32000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Regressão Linear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 5"/>
          <p:cNvSpPr/>
          <p:nvPr/>
        </p:nvSpPr>
        <p:spPr>
          <a:xfrm>
            <a:off x="11247120" y="641916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09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Shape 6"/>
          <p:cNvSpPr/>
          <p:nvPr/>
        </p:nvSpPr>
        <p:spPr>
          <a:xfrm>
            <a:off x="502920" y="1819800"/>
            <a:ext cx="2677680" cy="74952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524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 7"/>
          <p:cNvSpPr/>
          <p:nvPr/>
        </p:nvSpPr>
        <p:spPr>
          <a:xfrm>
            <a:off x="640080" y="1892880"/>
            <a:ext cx="244656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0" u="none" strike="noStrike">
                <a:solidFill>
                  <a:srgbClr val="0B1F3A"/>
                </a:solidFill>
                <a:effectLst/>
                <a:uFillTx/>
                <a:latin typeface="Cambria Math"/>
                <a:ea typeface="Cambria Math"/>
              </a:rPr>
              <a:t>ŷ = </a:t>
            </a:r>
            <a:r>
              <a:rPr lang="en-US" sz="3200" b="0" u="none" strike="noStrike">
                <a:solidFill>
                  <a:srgbClr val="FF0000"/>
                </a:solidFill>
                <a:effectLst/>
                <a:uFillTx/>
                <a:latin typeface="Cambria Math"/>
                <a:ea typeface="Cambria Math"/>
              </a:rPr>
              <a:t>w*</a:t>
            </a:r>
            <a:r>
              <a:rPr lang="en-US" sz="3200" b="0" u="none" strike="noStrike">
                <a:solidFill>
                  <a:srgbClr val="0B1F3A"/>
                </a:solidFill>
                <a:effectLst/>
                <a:uFillTx/>
                <a:latin typeface="Cambria Math"/>
                <a:ea typeface="Cambria Math"/>
              </a:rPr>
              <a:t>x + </a:t>
            </a:r>
            <a:r>
              <a:rPr lang="en-US" sz="3200" b="0" u="none" strike="noStrike">
                <a:solidFill>
                  <a:srgbClr val="FF0000"/>
                </a:solidFill>
                <a:effectLst/>
                <a:uFillTx/>
                <a:latin typeface="Cambria Math"/>
                <a:ea typeface="Cambria Math"/>
              </a:rPr>
              <a:t>b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Text 3"/>
          <p:cNvSpPr/>
          <p:nvPr/>
        </p:nvSpPr>
        <p:spPr>
          <a:xfrm>
            <a:off x="502920" y="640080"/>
            <a:ext cx="693684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Aptos Display"/>
                <a:ea typeface="Aptos Display"/>
              </a:rPr>
              <a:t>Mas como calcular a Equação da Reta ?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Aptos Display"/>
                <a:ea typeface="Aptos Display"/>
              </a:rPr>
              <a:t>Resposta:</a:t>
            </a:r>
            <a:r>
              <a:rPr lang="en-US" sz="2800" b="1" u="none" strike="noStrike">
                <a:solidFill>
                  <a:srgbClr val="FF0000"/>
                </a:solidFill>
                <a:effectLst/>
                <a:uFillTx/>
                <a:latin typeface="Aptos Display"/>
                <a:ea typeface="Aptos Display"/>
              </a:rPr>
              <a:t> Método dos Mínimos Quadrados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Seta: para a Direita 30"/>
          <p:cNvSpPr/>
          <p:nvPr/>
        </p:nvSpPr>
        <p:spPr>
          <a:xfrm>
            <a:off x="3384000" y="1970640"/>
            <a:ext cx="460800" cy="4842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472C4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311" name="Shape 6"/>
          <p:cNvSpPr/>
          <p:nvPr/>
        </p:nvSpPr>
        <p:spPr>
          <a:xfrm>
            <a:off x="3960000" y="1853640"/>
            <a:ext cx="2677680" cy="74952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524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Text 7"/>
          <p:cNvSpPr/>
          <p:nvPr/>
        </p:nvSpPr>
        <p:spPr>
          <a:xfrm>
            <a:off x="4097160" y="1926720"/>
            <a:ext cx="244656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 fontScale="85000" lnSpcReduction="9999"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0" u="none" strike="noStrike">
                <a:solidFill>
                  <a:srgbClr val="0B1F3A"/>
                </a:solidFill>
                <a:effectLst/>
                <a:uFillTx/>
                <a:latin typeface="Cambria Math"/>
                <a:ea typeface="Cambria Math"/>
              </a:rPr>
              <a:t>ŷ = (</a:t>
            </a:r>
            <a:r>
              <a:rPr lang="en-US" sz="3200" b="0" u="none" strike="noStrike">
                <a:solidFill>
                  <a:srgbClr val="FF0000"/>
                </a:solidFill>
                <a:effectLst/>
                <a:uFillTx/>
                <a:latin typeface="Cambria Math"/>
                <a:ea typeface="Cambria Math"/>
              </a:rPr>
              <a:t>4,7)*</a:t>
            </a:r>
            <a:r>
              <a:rPr lang="en-US" sz="3200" b="0" u="none" strike="noStrike">
                <a:solidFill>
                  <a:srgbClr val="0B1F3A"/>
                </a:solidFill>
                <a:effectLst/>
                <a:uFillTx/>
                <a:latin typeface="Cambria Math"/>
                <a:ea typeface="Cambria Math"/>
              </a:rPr>
              <a:t>x + </a:t>
            </a:r>
            <a:r>
              <a:rPr lang="en-US" sz="3200" b="0" u="none" strike="noStrike">
                <a:solidFill>
                  <a:srgbClr val="FF0000"/>
                </a:solidFill>
                <a:effectLst/>
                <a:uFillTx/>
                <a:latin typeface="Cambria Math"/>
                <a:ea typeface="Cambria Math"/>
              </a:rPr>
              <a:t>b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Text 7"/>
          <p:cNvSpPr/>
          <p:nvPr/>
        </p:nvSpPr>
        <p:spPr>
          <a:xfrm>
            <a:off x="6752880" y="1892880"/>
            <a:ext cx="304452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 fontScale="70000" lnSpcReduction="19999"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0" u="none" strike="noStrike">
                <a:solidFill>
                  <a:srgbClr val="0B1F3A"/>
                </a:solidFill>
                <a:effectLst/>
                <a:uFillTx/>
                <a:latin typeface="Cambria Math"/>
                <a:ea typeface="Cambria Math"/>
              </a:rPr>
              <a:t>Agora falta descobrir o </a:t>
            </a:r>
            <a:r>
              <a:rPr lang="en-US" sz="3200" b="0" u="none" strike="noStrike">
                <a:solidFill>
                  <a:srgbClr val="FF0000"/>
                </a:solidFill>
                <a:effectLst/>
                <a:uFillTx/>
                <a:latin typeface="Cambria Math"/>
                <a:ea typeface="Cambria Math"/>
              </a:rPr>
              <a:t>“b”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CaixaDeTexto 1"/>
          <p:cNvSpPr/>
          <p:nvPr/>
        </p:nvSpPr>
        <p:spPr>
          <a:xfrm>
            <a:off x="502920" y="3712680"/>
            <a:ext cx="1301760" cy="366480"/>
          </a:xfrm>
          <a:prstGeom prst="rect">
            <a:avLst/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lang="pt-BR" sz="18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ptos"/>
              </a:rPr>
              <a:t> 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Seta: para a Direita 9"/>
          <p:cNvSpPr/>
          <p:nvPr/>
        </p:nvSpPr>
        <p:spPr>
          <a:xfrm>
            <a:off x="2050200" y="3653640"/>
            <a:ext cx="460800" cy="4842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472C4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316" name="CaixaDeTexto 10"/>
          <p:cNvSpPr/>
          <p:nvPr/>
        </p:nvSpPr>
        <p:spPr>
          <a:xfrm>
            <a:off x="2756160" y="3773880"/>
            <a:ext cx="2082240" cy="276480"/>
          </a:xfrm>
          <a:prstGeom prst="rect">
            <a:avLst/>
          </a:pr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lang="pt-BR" sz="18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ptos"/>
              </a:rPr>
              <a:t> 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CaixaDeTexto 12"/>
          <p:cNvSpPr/>
          <p:nvPr/>
        </p:nvSpPr>
        <p:spPr>
          <a:xfrm>
            <a:off x="502920" y="2793240"/>
            <a:ext cx="3207960" cy="276480"/>
          </a:xfrm>
          <a:prstGeom prst="rect">
            <a:avLst/>
          </a:pr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lang="pt-BR" sz="18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ptos"/>
              </a:rPr>
              <a:t> 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CaixaDeTexto 13"/>
          <p:cNvSpPr/>
          <p:nvPr/>
        </p:nvSpPr>
        <p:spPr>
          <a:xfrm>
            <a:off x="498960" y="3114360"/>
            <a:ext cx="3344400" cy="276480"/>
          </a:xfrm>
          <a:prstGeom prst="rect">
            <a:avLst/>
          </a:prstGeom>
          <a:blipFill rotWithShape="0">
            <a:blip r:embed="rId4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lang="pt-BR" sz="18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ptos"/>
              </a:rPr>
              <a:t> 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CaixaDeTexto 14"/>
          <p:cNvSpPr/>
          <p:nvPr/>
        </p:nvSpPr>
        <p:spPr>
          <a:xfrm>
            <a:off x="-319680" y="3435480"/>
            <a:ext cx="2422440" cy="276480"/>
          </a:xfrm>
          <a:prstGeom prst="rect">
            <a:avLst/>
          </a:prstGeom>
          <a:blipFill rotWithShape="0">
            <a:blip r:embed="rId5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lang="pt-BR" sz="18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ptos"/>
              </a:rPr>
              <a:t> 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Seta: para a Direita 16"/>
          <p:cNvSpPr/>
          <p:nvPr/>
        </p:nvSpPr>
        <p:spPr>
          <a:xfrm>
            <a:off x="4908960" y="3670200"/>
            <a:ext cx="460800" cy="4842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472C4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321" name="CaixaDeTexto 17"/>
          <p:cNvSpPr/>
          <p:nvPr/>
        </p:nvSpPr>
        <p:spPr>
          <a:xfrm>
            <a:off x="5478480" y="3752640"/>
            <a:ext cx="841680" cy="319320"/>
          </a:xfrm>
          <a:prstGeom prst="rect">
            <a:avLst/>
          </a:prstGeom>
          <a:blipFill rotWithShape="0">
            <a:blip r:embed="rId6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lang="pt-BR" sz="18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ptos"/>
              </a:rPr>
              <a:t> 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Shape 6"/>
          <p:cNvSpPr/>
          <p:nvPr/>
        </p:nvSpPr>
        <p:spPr>
          <a:xfrm>
            <a:off x="4369320" y="4949280"/>
            <a:ext cx="2677680" cy="74952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524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Text 7"/>
          <p:cNvSpPr/>
          <p:nvPr/>
        </p:nvSpPr>
        <p:spPr>
          <a:xfrm>
            <a:off x="4506480" y="5022720"/>
            <a:ext cx="244656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 fontScale="85000" lnSpcReduction="9999"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0" u="none" strike="noStrike">
                <a:solidFill>
                  <a:srgbClr val="0B1F3A"/>
                </a:solidFill>
                <a:effectLst/>
                <a:uFillTx/>
                <a:latin typeface="Cambria Math"/>
                <a:ea typeface="Cambria Math"/>
              </a:rPr>
              <a:t>ŷ = (</a:t>
            </a:r>
            <a:r>
              <a:rPr lang="en-US" sz="3200" b="0" u="none" strike="noStrike">
                <a:solidFill>
                  <a:srgbClr val="FF0000"/>
                </a:solidFill>
                <a:effectLst/>
                <a:uFillTx/>
                <a:latin typeface="Cambria Math"/>
                <a:ea typeface="Cambria Math"/>
              </a:rPr>
              <a:t>4,7)*</a:t>
            </a:r>
            <a:r>
              <a:rPr lang="en-US" sz="3200" b="0" u="none" strike="noStrike">
                <a:solidFill>
                  <a:srgbClr val="0B1F3A"/>
                </a:solidFill>
                <a:effectLst/>
                <a:uFillTx/>
                <a:latin typeface="Cambria Math"/>
                <a:ea typeface="Cambria Math"/>
              </a:rPr>
              <a:t>x + </a:t>
            </a:r>
            <a:r>
              <a:rPr lang="en-US" sz="3200" b="0" u="none" strike="noStrike">
                <a:solidFill>
                  <a:srgbClr val="FF0000"/>
                </a:solidFill>
                <a:effectLst/>
                <a:uFillTx/>
                <a:latin typeface="Cambria Math"/>
                <a:ea typeface="Cambria Math"/>
              </a:rPr>
              <a:t>28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CaixaDeTexto 23"/>
          <p:cNvSpPr/>
          <p:nvPr/>
        </p:nvSpPr>
        <p:spPr>
          <a:xfrm>
            <a:off x="3087000" y="4217760"/>
            <a:ext cx="6255720" cy="58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0" u="none" strike="noStrike">
                <a:solidFill>
                  <a:srgbClr val="0B1F3A"/>
                </a:solidFill>
                <a:effectLst/>
                <a:uFillTx/>
                <a:latin typeface="Cambria Math"/>
                <a:ea typeface="Cambria Math"/>
              </a:rPr>
              <a:t>Assim, nosso modelo fica: 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Shape 0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Shape 1"/>
          <p:cNvSpPr/>
          <p:nvPr/>
        </p:nvSpPr>
        <p:spPr>
          <a:xfrm>
            <a:off x="0" y="0"/>
            <a:ext cx="164160" cy="68576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7" name="Text 3"/>
          <p:cNvSpPr/>
          <p:nvPr/>
        </p:nvSpPr>
        <p:spPr>
          <a:xfrm>
            <a:off x="502920" y="511920"/>
            <a:ext cx="1078956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0B1F3A"/>
                </a:solidFill>
                <a:effectLst/>
                <a:uFillTx/>
                <a:latin typeface="Aptos Display"/>
                <a:ea typeface="Aptos Display"/>
              </a:rPr>
              <a:t>Agora que temos nosso modelo, podemos responder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Text 4"/>
          <p:cNvSpPr/>
          <p:nvPr/>
        </p:nvSpPr>
        <p:spPr>
          <a:xfrm>
            <a:off x="502920" y="6446520"/>
            <a:ext cx="32000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Regressão Linear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Text 5"/>
          <p:cNvSpPr/>
          <p:nvPr/>
        </p:nvSpPr>
        <p:spPr>
          <a:xfrm>
            <a:off x="11247120" y="641916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07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30" name="Tabela 53"/>
          <p:cNvGraphicFramePr/>
          <p:nvPr/>
        </p:nvGraphicFramePr>
        <p:xfrm>
          <a:off x="508680" y="1965240"/>
          <a:ext cx="3568320" cy="2865240"/>
        </p:xfrm>
        <a:graphic>
          <a:graphicData uri="http://schemas.openxmlformats.org/drawingml/2006/table">
            <a:tbl>
              <a:tblPr/>
              <a:tblGrid>
                <a:gridCol w="1309680"/>
                <a:gridCol w="2258640"/>
              </a:tblGrid>
              <a:tr h="19152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Área (m</a:t>
                      </a:r>
                      <a:r>
                        <a:rPr lang="pt-BR" sz="1800" b="1" u="none" strike="noStrike" baseline="30000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2</a:t>
                      </a:r>
                      <a:r>
                        <a:rPr lang="pt-BR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)</a:t>
                      </a:r>
                      <a:endParaRPr lang="pt-BR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Preço (R$ mil)</a:t>
                      </a:r>
                      <a:endParaRPr lang="pt-BR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37080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40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220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37080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50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260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37080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60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310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37080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ptos"/>
                        </a:rPr>
                        <a:t>65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ptos"/>
                        </a:rPr>
                        <a:t>?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37080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70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350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37080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80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410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331" name="Seta: para a Direita 54"/>
          <p:cNvSpPr/>
          <p:nvPr/>
        </p:nvSpPr>
        <p:spPr>
          <a:xfrm>
            <a:off x="4173840" y="2431440"/>
            <a:ext cx="513000" cy="3744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472C4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332" name="Text 6"/>
          <p:cNvSpPr/>
          <p:nvPr/>
        </p:nvSpPr>
        <p:spPr>
          <a:xfrm>
            <a:off x="502920" y="1024200"/>
            <a:ext cx="11073960" cy="58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defTabSz="914400">
              <a:lnSpc>
                <a:spcPct val="160000"/>
              </a:lnSpc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Quanto vale um apartamento de 65m</a:t>
            </a:r>
            <a:r>
              <a:rPr lang="en-US" sz="2000" b="0" u="none" strike="noStrike" baseline="30000">
                <a:solidFill>
                  <a:schemeClr val="dk1"/>
                </a:solidFill>
                <a:effectLst/>
                <a:uFillTx/>
                <a:latin typeface="Aptos"/>
              </a:rPr>
              <a:t>2</a:t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?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Shape 7"/>
          <p:cNvSpPr/>
          <p:nvPr/>
        </p:nvSpPr>
        <p:spPr>
          <a:xfrm>
            <a:off x="318960" y="5588280"/>
            <a:ext cx="988920" cy="281160"/>
          </a:xfrm>
          <a:prstGeom prst="roundRect">
            <a:avLst>
              <a:gd name="adj" fmla="val 8421"/>
            </a:avLst>
          </a:prstGeom>
          <a:solidFill>
            <a:srgbClr val="EAF4FF"/>
          </a:solidFill>
          <a:ln w="1524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Text 8"/>
          <p:cNvSpPr/>
          <p:nvPr/>
        </p:nvSpPr>
        <p:spPr>
          <a:xfrm>
            <a:off x="324360" y="5650920"/>
            <a:ext cx="98352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 fontScale="70000" lnSpcReduction="19999"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X = 65 (m</a:t>
            </a:r>
            <a:r>
              <a:rPr lang="en-US" sz="1800" b="1" u="none" strike="noStrike" baseline="30000">
                <a:solidFill>
                  <a:srgbClr val="0B1F3A"/>
                </a:solidFill>
                <a:effectLst/>
                <a:uFillTx/>
                <a:latin typeface="Aptos"/>
              </a:rPr>
              <a:t>2</a:t>
            </a:r>
            <a:r>
              <a:rPr lang="en-US" sz="18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)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Shape 9"/>
          <p:cNvSpPr/>
          <p:nvPr/>
        </p:nvSpPr>
        <p:spPr>
          <a:xfrm>
            <a:off x="1307880" y="5704920"/>
            <a:ext cx="236520" cy="360"/>
          </a:xfrm>
          <a:prstGeom prst="line">
            <a:avLst/>
          </a:prstGeom>
          <a:ln w="19050">
            <a:solidFill>
              <a:srgbClr val="334155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36" name="Shape 10"/>
          <p:cNvSpPr/>
          <p:nvPr/>
        </p:nvSpPr>
        <p:spPr>
          <a:xfrm>
            <a:off x="1617840" y="5431680"/>
            <a:ext cx="1325520" cy="535320"/>
          </a:xfrm>
          <a:prstGeom prst="roundRect">
            <a:avLst>
              <a:gd name="adj" fmla="val 8421"/>
            </a:avLst>
          </a:prstGeom>
          <a:solidFill>
            <a:srgbClr val="FFFF00"/>
          </a:solidFill>
          <a:ln w="1524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 11"/>
          <p:cNvSpPr/>
          <p:nvPr/>
        </p:nvSpPr>
        <p:spPr>
          <a:xfrm>
            <a:off x="1672200" y="5588640"/>
            <a:ext cx="1183680" cy="28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 fontScale="77500" lnSpcReduction="19999"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Y = 4,7(x) + 28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Shape 12"/>
          <p:cNvSpPr/>
          <p:nvPr/>
        </p:nvSpPr>
        <p:spPr>
          <a:xfrm>
            <a:off x="3015720" y="5744520"/>
            <a:ext cx="262440" cy="360"/>
          </a:xfrm>
          <a:prstGeom prst="line">
            <a:avLst/>
          </a:prstGeom>
          <a:ln w="19050">
            <a:solidFill>
              <a:srgbClr val="334155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Shape 13"/>
          <p:cNvSpPr/>
          <p:nvPr/>
        </p:nvSpPr>
        <p:spPr>
          <a:xfrm>
            <a:off x="3296520" y="5522040"/>
            <a:ext cx="1390320" cy="371160"/>
          </a:xfrm>
          <a:prstGeom prst="roundRect">
            <a:avLst>
              <a:gd name="adj" fmla="val 8421"/>
            </a:avLst>
          </a:prstGeom>
          <a:solidFill>
            <a:srgbClr val="EAF4FF"/>
          </a:solidFill>
          <a:ln w="1524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Text 14"/>
          <p:cNvSpPr/>
          <p:nvPr/>
        </p:nvSpPr>
        <p:spPr>
          <a:xfrm>
            <a:off x="3369960" y="5532120"/>
            <a:ext cx="125640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 fontScale="77500" lnSpcReduction="19999"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Y = 333,5 (R$)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 8"/>
          <p:cNvSpPr/>
          <p:nvPr/>
        </p:nvSpPr>
        <p:spPr>
          <a:xfrm>
            <a:off x="182880" y="5267880"/>
            <a:ext cx="1306800" cy="28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entrada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 8"/>
          <p:cNvSpPr/>
          <p:nvPr/>
        </p:nvSpPr>
        <p:spPr>
          <a:xfrm>
            <a:off x="3302280" y="5225040"/>
            <a:ext cx="1306800" cy="28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saída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Text 8"/>
          <p:cNvSpPr/>
          <p:nvPr/>
        </p:nvSpPr>
        <p:spPr>
          <a:xfrm>
            <a:off x="1627200" y="4984200"/>
            <a:ext cx="1306800" cy="28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Fórmula ?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4" name="Imagem 9"/>
          <p:cNvPicPr/>
          <p:nvPr/>
        </p:nvPicPr>
        <p:blipFill>
          <a:blip r:embed="rId1"/>
          <a:stretch/>
        </p:blipFill>
        <p:spPr>
          <a:xfrm>
            <a:off x="4865400" y="1458720"/>
            <a:ext cx="6609960" cy="441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5" name="Shape 12"/>
          <p:cNvSpPr/>
          <p:nvPr/>
        </p:nvSpPr>
        <p:spPr>
          <a:xfrm flipV="1">
            <a:off x="3102480" y="3016440"/>
            <a:ext cx="6221160" cy="614160"/>
          </a:xfrm>
          <a:prstGeom prst="line">
            <a:avLst/>
          </a:prstGeom>
          <a:ln>
            <a:solidFill>
              <a:srgbClr val="FF0000"/>
            </a:solidFill>
            <a:tailEnd len="med" type="triangle" w="med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Shape 0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Shape 1"/>
          <p:cNvSpPr/>
          <p:nvPr/>
        </p:nvSpPr>
        <p:spPr>
          <a:xfrm>
            <a:off x="0" y="0"/>
            <a:ext cx="164160" cy="68576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8" name="Text 3"/>
          <p:cNvSpPr/>
          <p:nvPr/>
        </p:nvSpPr>
        <p:spPr>
          <a:xfrm>
            <a:off x="502920" y="511920"/>
            <a:ext cx="1078956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0B1F3A"/>
                </a:solidFill>
                <a:effectLst/>
                <a:uFillTx/>
                <a:latin typeface="Aptos Display"/>
                <a:ea typeface="Aptos Display"/>
              </a:rPr>
              <a:t>Parte II — O que significa treinar?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Text 4"/>
          <p:cNvSpPr/>
          <p:nvPr/>
        </p:nvSpPr>
        <p:spPr>
          <a:xfrm>
            <a:off x="502920" y="6446520"/>
            <a:ext cx="32000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Regressão Linear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Text 5"/>
          <p:cNvSpPr/>
          <p:nvPr/>
        </p:nvSpPr>
        <p:spPr>
          <a:xfrm>
            <a:off x="11247120" y="641916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12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 6"/>
          <p:cNvSpPr/>
          <p:nvPr/>
        </p:nvSpPr>
        <p:spPr>
          <a:xfrm>
            <a:off x="841320" y="2157840"/>
            <a:ext cx="103323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 fontScale="85000" lnSpcReduction="19999"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Treinar é encontrar os valores de </a:t>
            </a:r>
            <a:r>
              <a:rPr lang="en-US" sz="20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w</a:t>
            </a:r>
            <a:r>
              <a:rPr lang="en-US" sz="20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 e </a:t>
            </a:r>
            <a:r>
              <a:rPr lang="en-US" sz="20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b</a:t>
            </a:r>
            <a:r>
              <a:rPr lang="en-US" sz="20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 que tornam as previsões o mais próximas possível dos valores reais.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Shape 9"/>
          <p:cNvSpPr/>
          <p:nvPr/>
        </p:nvSpPr>
        <p:spPr>
          <a:xfrm>
            <a:off x="914400" y="4206240"/>
            <a:ext cx="1828440" cy="59400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524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Text 10"/>
          <p:cNvSpPr/>
          <p:nvPr/>
        </p:nvSpPr>
        <p:spPr>
          <a:xfrm>
            <a:off x="987480" y="4279320"/>
            <a:ext cx="1682280" cy="44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parâmetros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Shape 11"/>
          <p:cNvSpPr/>
          <p:nvPr/>
        </p:nvSpPr>
        <p:spPr>
          <a:xfrm>
            <a:off x="2880360" y="4498560"/>
            <a:ext cx="1188720" cy="360"/>
          </a:xfrm>
          <a:prstGeom prst="line">
            <a:avLst/>
          </a:prstGeom>
          <a:ln w="19050">
            <a:solidFill>
              <a:srgbClr val="334155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Shape 12"/>
          <p:cNvSpPr/>
          <p:nvPr/>
        </p:nvSpPr>
        <p:spPr>
          <a:xfrm>
            <a:off x="4251960" y="4206240"/>
            <a:ext cx="1828440" cy="594000"/>
          </a:xfrm>
          <a:prstGeom prst="roundRect">
            <a:avLst>
              <a:gd name="adj" fmla="val 12308"/>
            </a:avLst>
          </a:prstGeom>
          <a:solidFill>
            <a:srgbClr val="EAF4FF"/>
          </a:solidFill>
          <a:ln w="1524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 13"/>
          <p:cNvSpPr/>
          <p:nvPr/>
        </p:nvSpPr>
        <p:spPr>
          <a:xfrm>
            <a:off x="4325040" y="4279320"/>
            <a:ext cx="1682280" cy="44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previsões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Shape 14"/>
          <p:cNvSpPr/>
          <p:nvPr/>
        </p:nvSpPr>
        <p:spPr>
          <a:xfrm>
            <a:off x="6217920" y="4498560"/>
            <a:ext cx="1188720" cy="360"/>
          </a:xfrm>
          <a:prstGeom prst="line">
            <a:avLst/>
          </a:prstGeom>
          <a:ln w="19050">
            <a:solidFill>
              <a:srgbClr val="334155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Shape 15"/>
          <p:cNvSpPr/>
          <p:nvPr/>
        </p:nvSpPr>
        <p:spPr>
          <a:xfrm>
            <a:off x="7589520" y="4206240"/>
            <a:ext cx="1599840" cy="594000"/>
          </a:xfrm>
          <a:prstGeom prst="roundRect">
            <a:avLst>
              <a:gd name="adj" fmla="val 12308"/>
            </a:avLst>
          </a:prstGeom>
          <a:solidFill>
            <a:srgbClr val="FFF7ED"/>
          </a:solidFill>
          <a:ln w="1524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Text 16"/>
          <p:cNvSpPr/>
          <p:nvPr/>
        </p:nvSpPr>
        <p:spPr>
          <a:xfrm>
            <a:off x="7662600" y="4279320"/>
            <a:ext cx="1453680" cy="44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erros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Shape 17"/>
          <p:cNvSpPr/>
          <p:nvPr/>
        </p:nvSpPr>
        <p:spPr>
          <a:xfrm>
            <a:off x="9326880" y="4498560"/>
            <a:ext cx="822960" cy="360"/>
          </a:xfrm>
          <a:prstGeom prst="line">
            <a:avLst/>
          </a:prstGeom>
          <a:ln w="19050">
            <a:solidFill>
              <a:srgbClr val="334155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Shape 18"/>
          <p:cNvSpPr/>
          <p:nvPr/>
        </p:nvSpPr>
        <p:spPr>
          <a:xfrm>
            <a:off x="10332720" y="4206240"/>
            <a:ext cx="1096920" cy="59400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524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Text 19"/>
          <p:cNvSpPr/>
          <p:nvPr/>
        </p:nvSpPr>
        <p:spPr>
          <a:xfrm>
            <a:off x="10405800" y="4279320"/>
            <a:ext cx="950760" cy="44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loss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Shape 0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Shape 1"/>
          <p:cNvSpPr/>
          <p:nvPr/>
        </p:nvSpPr>
        <p:spPr>
          <a:xfrm>
            <a:off x="0" y="0"/>
            <a:ext cx="164160" cy="68576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5" name="Text 3"/>
          <p:cNvSpPr/>
          <p:nvPr/>
        </p:nvSpPr>
        <p:spPr>
          <a:xfrm>
            <a:off x="502920" y="511920"/>
            <a:ext cx="1078956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0B1F3A"/>
                </a:solidFill>
                <a:effectLst/>
                <a:uFillTx/>
                <a:latin typeface="Aptos Display"/>
                <a:ea typeface="Aptos Display"/>
              </a:rPr>
              <a:t>Erro, resíduo e perda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Text 4"/>
          <p:cNvSpPr/>
          <p:nvPr/>
        </p:nvSpPr>
        <p:spPr>
          <a:xfrm>
            <a:off x="502920" y="6446520"/>
            <a:ext cx="32000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Regressão Linear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Text 5"/>
          <p:cNvSpPr/>
          <p:nvPr/>
        </p:nvSpPr>
        <p:spPr>
          <a:xfrm>
            <a:off x="11247120" y="641916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13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Shape 6"/>
          <p:cNvSpPr/>
          <p:nvPr/>
        </p:nvSpPr>
        <p:spPr>
          <a:xfrm>
            <a:off x="822960" y="1143000"/>
            <a:ext cx="3611520" cy="6397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524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Text 7"/>
          <p:cNvSpPr/>
          <p:nvPr/>
        </p:nvSpPr>
        <p:spPr>
          <a:xfrm>
            <a:off x="960120" y="1216080"/>
            <a:ext cx="333720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0" u="none" strike="noStrike">
                <a:solidFill>
                  <a:srgbClr val="0B1F3A"/>
                </a:solidFill>
                <a:effectLst/>
                <a:uFillTx/>
                <a:latin typeface="Cambria Math"/>
                <a:ea typeface="Cambria Math"/>
              </a:rPr>
              <a:t>erroᵢ = yᵢ − ŷᵢ</a:t>
            </a:r>
            <a:endParaRPr lang="pt-B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Shape 8"/>
          <p:cNvSpPr/>
          <p:nvPr/>
        </p:nvSpPr>
        <p:spPr>
          <a:xfrm>
            <a:off x="6492240" y="5623560"/>
            <a:ext cx="4480560" cy="360"/>
          </a:xfrm>
          <a:prstGeom prst="line">
            <a:avLst/>
          </a:prstGeom>
          <a:ln w="12700">
            <a:solidFill>
              <a:srgbClr val="33415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Shape 9"/>
          <p:cNvSpPr/>
          <p:nvPr/>
        </p:nvSpPr>
        <p:spPr>
          <a:xfrm>
            <a:off x="6492240" y="1417320"/>
            <a:ext cx="360" cy="4206240"/>
          </a:xfrm>
          <a:prstGeom prst="line">
            <a:avLst/>
          </a:prstGeom>
          <a:ln w="12700">
            <a:solidFill>
              <a:srgbClr val="33415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Shape 10"/>
          <p:cNvSpPr/>
          <p:nvPr/>
        </p:nvSpPr>
        <p:spPr>
          <a:xfrm>
            <a:off x="6805800" y="4613760"/>
            <a:ext cx="3673800" cy="360"/>
          </a:xfrm>
          <a:prstGeom prst="line">
            <a:avLst/>
          </a:prstGeom>
          <a:ln w="2794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Shape 11"/>
          <p:cNvSpPr/>
          <p:nvPr/>
        </p:nvSpPr>
        <p:spPr>
          <a:xfrm>
            <a:off x="6988680" y="4446720"/>
            <a:ext cx="82080" cy="8208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4" name="Shape 12"/>
          <p:cNvSpPr/>
          <p:nvPr/>
        </p:nvSpPr>
        <p:spPr>
          <a:xfrm>
            <a:off x="7029720" y="4403520"/>
            <a:ext cx="360" cy="84240"/>
          </a:xfrm>
          <a:prstGeom prst="line">
            <a:avLst/>
          </a:prstGeom>
          <a:ln w="12700">
            <a:solidFill>
              <a:srgbClr val="DC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39240" rIns="90000" bIns="392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Shape 13"/>
          <p:cNvSpPr/>
          <p:nvPr/>
        </p:nvSpPr>
        <p:spPr>
          <a:xfrm>
            <a:off x="7571160" y="4026240"/>
            <a:ext cx="82080" cy="8208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6" name="Shape 14"/>
          <p:cNvSpPr/>
          <p:nvPr/>
        </p:nvSpPr>
        <p:spPr>
          <a:xfrm>
            <a:off x="7612200" y="3993480"/>
            <a:ext cx="360" cy="73440"/>
          </a:xfrm>
          <a:prstGeom prst="line">
            <a:avLst/>
          </a:prstGeom>
          <a:ln w="12700">
            <a:solidFill>
              <a:srgbClr val="DC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28440" rIns="90000" bIns="284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Shape 15"/>
          <p:cNvSpPr/>
          <p:nvPr/>
        </p:nvSpPr>
        <p:spPr>
          <a:xfrm>
            <a:off x="8153640" y="3689640"/>
            <a:ext cx="82080" cy="8208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8" name="Shape 16"/>
          <p:cNvSpPr/>
          <p:nvPr/>
        </p:nvSpPr>
        <p:spPr>
          <a:xfrm>
            <a:off x="8194680" y="3583440"/>
            <a:ext cx="360" cy="147240"/>
          </a:xfrm>
          <a:prstGeom prst="line">
            <a:avLst/>
          </a:prstGeom>
          <a:ln w="12700">
            <a:solidFill>
              <a:srgbClr val="DC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Shape 17"/>
          <p:cNvSpPr/>
          <p:nvPr/>
        </p:nvSpPr>
        <p:spPr>
          <a:xfrm>
            <a:off x="8781120" y="3184920"/>
            <a:ext cx="82080" cy="8208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0" name="Shape 18"/>
          <p:cNvSpPr/>
          <p:nvPr/>
        </p:nvSpPr>
        <p:spPr>
          <a:xfrm>
            <a:off x="8821800" y="3141720"/>
            <a:ext cx="360" cy="84240"/>
          </a:xfrm>
          <a:prstGeom prst="line">
            <a:avLst/>
          </a:prstGeom>
          <a:ln w="12700">
            <a:solidFill>
              <a:srgbClr val="DC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39240" rIns="90000" bIns="392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Shape 19"/>
          <p:cNvSpPr/>
          <p:nvPr/>
        </p:nvSpPr>
        <p:spPr>
          <a:xfrm>
            <a:off x="9497880" y="2722320"/>
            <a:ext cx="82080" cy="8208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2" name="Shape 20"/>
          <p:cNvSpPr/>
          <p:nvPr/>
        </p:nvSpPr>
        <p:spPr>
          <a:xfrm>
            <a:off x="9538920" y="2637000"/>
            <a:ext cx="360" cy="126000"/>
          </a:xfrm>
          <a:prstGeom prst="line">
            <a:avLst/>
          </a:prstGeom>
          <a:ln w="12700">
            <a:solidFill>
              <a:srgbClr val="DC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Shape 21"/>
          <p:cNvSpPr/>
          <p:nvPr/>
        </p:nvSpPr>
        <p:spPr>
          <a:xfrm>
            <a:off x="10125000" y="2217600"/>
            <a:ext cx="82080" cy="8208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4" name="Shape 22"/>
          <p:cNvSpPr/>
          <p:nvPr/>
        </p:nvSpPr>
        <p:spPr>
          <a:xfrm>
            <a:off x="10166040" y="2195280"/>
            <a:ext cx="360" cy="63000"/>
          </a:xfrm>
          <a:prstGeom prst="line">
            <a:avLst/>
          </a:prstGeom>
          <a:ln w="12700">
            <a:solidFill>
              <a:srgbClr val="DC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8000" rIns="90000" bIns="18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 23"/>
          <p:cNvSpPr/>
          <p:nvPr/>
        </p:nvSpPr>
        <p:spPr>
          <a:xfrm>
            <a:off x="6492240" y="5703120"/>
            <a:ext cx="4023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 fontScale="85000" lnSpcReduction="9999"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Linhas tracejadas: distância vertical entre o valor real e a previsão.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Shape 24"/>
          <p:cNvSpPr/>
          <p:nvPr/>
        </p:nvSpPr>
        <p:spPr>
          <a:xfrm>
            <a:off x="868680" y="2331720"/>
            <a:ext cx="1462680" cy="502560"/>
          </a:xfrm>
          <a:prstGeom prst="rect">
            <a:avLst/>
          </a:prstGeom>
          <a:solidFill>
            <a:srgbClr val="EAF4FF"/>
          </a:solidFill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Text 25"/>
          <p:cNvSpPr/>
          <p:nvPr/>
        </p:nvSpPr>
        <p:spPr>
          <a:xfrm>
            <a:off x="896040" y="2368440"/>
            <a:ext cx="1407960" cy="42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Valor real 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saida y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Shape 26"/>
          <p:cNvSpPr/>
          <p:nvPr/>
        </p:nvSpPr>
        <p:spPr>
          <a:xfrm>
            <a:off x="2331720" y="2331720"/>
            <a:ext cx="1462680" cy="502560"/>
          </a:xfrm>
          <a:prstGeom prst="rect">
            <a:avLst/>
          </a:prstGeom>
          <a:solidFill>
            <a:srgbClr val="EAF4FF"/>
          </a:solidFill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Text 27"/>
          <p:cNvSpPr/>
          <p:nvPr/>
        </p:nvSpPr>
        <p:spPr>
          <a:xfrm>
            <a:off x="2359080" y="2368440"/>
            <a:ext cx="1407960" cy="42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fontScale="92500" lnSpcReduction="9999"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Previsão do modelo para ŷ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Shape 28"/>
          <p:cNvSpPr/>
          <p:nvPr/>
        </p:nvSpPr>
        <p:spPr>
          <a:xfrm>
            <a:off x="3794760" y="2331720"/>
            <a:ext cx="1462680" cy="502560"/>
          </a:xfrm>
          <a:prstGeom prst="rect">
            <a:avLst/>
          </a:prstGeom>
          <a:solidFill>
            <a:srgbClr val="EAF4FF"/>
          </a:solidFill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Text 29"/>
          <p:cNvSpPr/>
          <p:nvPr/>
        </p:nvSpPr>
        <p:spPr>
          <a:xfrm>
            <a:off x="3822120" y="2368440"/>
            <a:ext cx="1407960" cy="42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erro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Shape 30"/>
          <p:cNvSpPr/>
          <p:nvPr/>
        </p:nvSpPr>
        <p:spPr>
          <a:xfrm>
            <a:off x="868680" y="2834640"/>
            <a:ext cx="1462680" cy="502560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 31"/>
          <p:cNvSpPr/>
          <p:nvPr/>
        </p:nvSpPr>
        <p:spPr>
          <a:xfrm>
            <a:off x="896040" y="2871360"/>
            <a:ext cx="1407960" cy="42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100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Shape 32"/>
          <p:cNvSpPr/>
          <p:nvPr/>
        </p:nvSpPr>
        <p:spPr>
          <a:xfrm>
            <a:off x="2331720" y="2834640"/>
            <a:ext cx="1462680" cy="502560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Text 33"/>
          <p:cNvSpPr/>
          <p:nvPr/>
        </p:nvSpPr>
        <p:spPr>
          <a:xfrm>
            <a:off x="2359080" y="2871360"/>
            <a:ext cx="1407960" cy="42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90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Shape 34"/>
          <p:cNvSpPr/>
          <p:nvPr/>
        </p:nvSpPr>
        <p:spPr>
          <a:xfrm>
            <a:off x="3794760" y="2834640"/>
            <a:ext cx="1462680" cy="502560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7" name="Text 35"/>
          <p:cNvSpPr/>
          <p:nvPr/>
        </p:nvSpPr>
        <p:spPr>
          <a:xfrm>
            <a:off x="3822120" y="2871360"/>
            <a:ext cx="1407960" cy="42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+10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Shape 36"/>
          <p:cNvSpPr/>
          <p:nvPr/>
        </p:nvSpPr>
        <p:spPr>
          <a:xfrm>
            <a:off x="868680" y="3337560"/>
            <a:ext cx="1462680" cy="502560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Text 37"/>
          <p:cNvSpPr/>
          <p:nvPr/>
        </p:nvSpPr>
        <p:spPr>
          <a:xfrm>
            <a:off x="896040" y="3374280"/>
            <a:ext cx="1407960" cy="42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100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Shape 38"/>
          <p:cNvSpPr/>
          <p:nvPr/>
        </p:nvSpPr>
        <p:spPr>
          <a:xfrm>
            <a:off x="2331720" y="3337560"/>
            <a:ext cx="1462680" cy="502560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Text 39"/>
          <p:cNvSpPr/>
          <p:nvPr/>
        </p:nvSpPr>
        <p:spPr>
          <a:xfrm>
            <a:off x="2359080" y="3374280"/>
            <a:ext cx="1407960" cy="42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110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Shape 40"/>
          <p:cNvSpPr/>
          <p:nvPr/>
        </p:nvSpPr>
        <p:spPr>
          <a:xfrm>
            <a:off x="3794760" y="3337560"/>
            <a:ext cx="1462680" cy="502560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Text 41"/>
          <p:cNvSpPr/>
          <p:nvPr/>
        </p:nvSpPr>
        <p:spPr>
          <a:xfrm>
            <a:off x="3822120" y="3374280"/>
            <a:ext cx="1407960" cy="42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−10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Text 42"/>
          <p:cNvSpPr/>
          <p:nvPr/>
        </p:nvSpPr>
        <p:spPr>
          <a:xfrm>
            <a:off x="868680" y="4343400"/>
            <a:ext cx="49374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 fontScale="850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Erros positivos e negativos podem se cancelar. Por isso usamos o erro ao quadrado.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Shape 1"/>
          <p:cNvSpPr/>
          <p:nvPr/>
        </p:nvSpPr>
        <p:spPr>
          <a:xfrm>
            <a:off x="0" y="0"/>
            <a:ext cx="164160" cy="68576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6" name="Text 2"/>
          <p:cNvSpPr/>
          <p:nvPr/>
        </p:nvSpPr>
        <p:spPr>
          <a:xfrm>
            <a:off x="502920" y="255960"/>
            <a:ext cx="80463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2563EB"/>
                </a:solidFill>
                <a:effectLst/>
                <a:uFillTx/>
                <a:latin typeface="Aptos"/>
                <a:ea typeface="Aptos"/>
              </a:rPr>
              <a:t>FUNÇÃO DE PERDA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Text 3"/>
          <p:cNvSpPr/>
          <p:nvPr/>
        </p:nvSpPr>
        <p:spPr>
          <a:xfrm>
            <a:off x="502920" y="511920"/>
            <a:ext cx="1078956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0B1F3A"/>
                </a:solidFill>
                <a:effectLst/>
                <a:uFillTx/>
                <a:latin typeface="Aptos Display"/>
                <a:ea typeface="Aptos Display"/>
              </a:rPr>
              <a:t>MSE e Mínimos Quadrados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Text 4"/>
          <p:cNvSpPr/>
          <p:nvPr/>
        </p:nvSpPr>
        <p:spPr>
          <a:xfrm>
            <a:off x="502920" y="6446520"/>
            <a:ext cx="32000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Regressão Linear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Text 5"/>
          <p:cNvSpPr/>
          <p:nvPr/>
        </p:nvSpPr>
        <p:spPr>
          <a:xfrm>
            <a:off x="11247120" y="641916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14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Shape 6"/>
          <p:cNvSpPr/>
          <p:nvPr/>
        </p:nvSpPr>
        <p:spPr>
          <a:xfrm>
            <a:off x="633960" y="1800000"/>
            <a:ext cx="5486040" cy="82260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524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1" name="Text 7"/>
          <p:cNvSpPr/>
          <p:nvPr/>
        </p:nvSpPr>
        <p:spPr>
          <a:xfrm>
            <a:off x="771120" y="1873080"/>
            <a:ext cx="5211720" cy="67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rgbClr val="0B1F3A"/>
                </a:solidFill>
                <a:effectLst/>
                <a:uFillTx/>
                <a:latin typeface="Cambria Math"/>
                <a:ea typeface="Cambria Math"/>
              </a:rPr>
              <a:t>MSE = (1/n) Σ (yᵢ − ŷᵢ)²</a:t>
            </a:r>
            <a:endParaRPr lang="pt-B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Shape 8"/>
          <p:cNvSpPr/>
          <p:nvPr/>
        </p:nvSpPr>
        <p:spPr>
          <a:xfrm>
            <a:off x="633960" y="3857400"/>
            <a:ext cx="5486040" cy="82260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524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3" name="Text 9"/>
          <p:cNvSpPr/>
          <p:nvPr/>
        </p:nvSpPr>
        <p:spPr>
          <a:xfrm>
            <a:off x="771120" y="3930480"/>
            <a:ext cx="5211720" cy="67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rgbClr val="0B1F3A"/>
                </a:solidFill>
                <a:effectLst/>
                <a:uFillTx/>
                <a:latin typeface="Cambria Math"/>
                <a:ea typeface="Cambria Math"/>
              </a:rPr>
              <a:t>L = (1/n) Σ ½(ŷᵢ − yᵢ)²</a:t>
            </a:r>
            <a:endParaRPr lang="pt-B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 10"/>
          <p:cNvSpPr/>
          <p:nvPr/>
        </p:nvSpPr>
        <p:spPr>
          <a:xfrm>
            <a:off x="540000" y="1208880"/>
            <a:ext cx="56689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Erro Quadrático Médio 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Shape 11"/>
          <p:cNvSpPr/>
          <p:nvPr/>
        </p:nvSpPr>
        <p:spPr>
          <a:xfrm>
            <a:off x="7498080" y="5623560"/>
            <a:ext cx="3474720" cy="360"/>
          </a:xfrm>
          <a:prstGeom prst="line">
            <a:avLst/>
          </a:prstGeom>
          <a:ln w="12700">
            <a:solidFill>
              <a:srgbClr val="33415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Shape 12"/>
          <p:cNvSpPr/>
          <p:nvPr/>
        </p:nvSpPr>
        <p:spPr>
          <a:xfrm>
            <a:off x="7498080" y="1417320"/>
            <a:ext cx="360" cy="4206240"/>
          </a:xfrm>
          <a:prstGeom prst="line">
            <a:avLst/>
          </a:prstGeom>
          <a:ln w="12700">
            <a:solidFill>
              <a:srgbClr val="33415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7" name="Shape 13"/>
          <p:cNvSpPr/>
          <p:nvPr/>
        </p:nvSpPr>
        <p:spPr>
          <a:xfrm>
            <a:off x="7741080" y="4613760"/>
            <a:ext cx="2849400" cy="360"/>
          </a:xfrm>
          <a:prstGeom prst="line">
            <a:avLst/>
          </a:prstGeom>
          <a:ln w="2794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Shape 14"/>
          <p:cNvSpPr/>
          <p:nvPr/>
        </p:nvSpPr>
        <p:spPr>
          <a:xfrm>
            <a:off x="7873920" y="4446720"/>
            <a:ext cx="82080" cy="8208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9" name="Shape 15"/>
          <p:cNvSpPr/>
          <p:nvPr/>
        </p:nvSpPr>
        <p:spPr>
          <a:xfrm>
            <a:off x="7914960" y="4403520"/>
            <a:ext cx="360" cy="84240"/>
          </a:xfrm>
          <a:prstGeom prst="line">
            <a:avLst/>
          </a:prstGeom>
          <a:ln w="12700">
            <a:solidFill>
              <a:srgbClr val="DC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39240" rIns="90000" bIns="392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Shape 16"/>
          <p:cNvSpPr/>
          <p:nvPr/>
        </p:nvSpPr>
        <p:spPr>
          <a:xfrm>
            <a:off x="8325720" y="4026240"/>
            <a:ext cx="82080" cy="8208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1" name="Shape 17"/>
          <p:cNvSpPr/>
          <p:nvPr/>
        </p:nvSpPr>
        <p:spPr>
          <a:xfrm>
            <a:off x="8366760" y="3993480"/>
            <a:ext cx="360" cy="73440"/>
          </a:xfrm>
          <a:prstGeom prst="line">
            <a:avLst/>
          </a:prstGeom>
          <a:ln w="12700">
            <a:solidFill>
              <a:srgbClr val="DC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28440" rIns="90000" bIns="284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2" name="Shape 18"/>
          <p:cNvSpPr/>
          <p:nvPr/>
        </p:nvSpPr>
        <p:spPr>
          <a:xfrm>
            <a:off x="8777160" y="3689640"/>
            <a:ext cx="82080" cy="8208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3" name="Shape 19"/>
          <p:cNvSpPr/>
          <p:nvPr/>
        </p:nvSpPr>
        <p:spPr>
          <a:xfrm>
            <a:off x="8818200" y="3583440"/>
            <a:ext cx="360" cy="147240"/>
          </a:xfrm>
          <a:prstGeom prst="line">
            <a:avLst/>
          </a:prstGeom>
          <a:ln w="12700">
            <a:solidFill>
              <a:srgbClr val="DC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Shape 20"/>
          <p:cNvSpPr/>
          <p:nvPr/>
        </p:nvSpPr>
        <p:spPr>
          <a:xfrm>
            <a:off x="9263880" y="3184920"/>
            <a:ext cx="82080" cy="8208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5" name="Shape 21"/>
          <p:cNvSpPr/>
          <p:nvPr/>
        </p:nvSpPr>
        <p:spPr>
          <a:xfrm>
            <a:off x="9304920" y="3141720"/>
            <a:ext cx="360" cy="84240"/>
          </a:xfrm>
          <a:prstGeom prst="line">
            <a:avLst/>
          </a:prstGeom>
          <a:ln w="12700">
            <a:solidFill>
              <a:srgbClr val="DC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39240" rIns="90000" bIns="392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6" name="Shape 22"/>
          <p:cNvSpPr/>
          <p:nvPr/>
        </p:nvSpPr>
        <p:spPr>
          <a:xfrm>
            <a:off x="9819720" y="2722320"/>
            <a:ext cx="82080" cy="8208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7" name="Shape 23"/>
          <p:cNvSpPr/>
          <p:nvPr/>
        </p:nvSpPr>
        <p:spPr>
          <a:xfrm>
            <a:off x="9860760" y="2637000"/>
            <a:ext cx="360" cy="126000"/>
          </a:xfrm>
          <a:prstGeom prst="line">
            <a:avLst/>
          </a:prstGeom>
          <a:ln w="12700">
            <a:solidFill>
              <a:srgbClr val="DC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Shape 24"/>
          <p:cNvSpPr/>
          <p:nvPr/>
        </p:nvSpPr>
        <p:spPr>
          <a:xfrm>
            <a:off x="10306080" y="2217600"/>
            <a:ext cx="82080" cy="8208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9" name="Shape 25"/>
          <p:cNvSpPr/>
          <p:nvPr/>
        </p:nvSpPr>
        <p:spPr>
          <a:xfrm>
            <a:off x="10347120" y="2195280"/>
            <a:ext cx="360" cy="63000"/>
          </a:xfrm>
          <a:prstGeom prst="line">
            <a:avLst/>
          </a:prstGeom>
          <a:ln w="12700">
            <a:solidFill>
              <a:srgbClr val="DC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8000" rIns="90000" bIns="18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0" name="Text 26"/>
          <p:cNvSpPr/>
          <p:nvPr/>
        </p:nvSpPr>
        <p:spPr>
          <a:xfrm>
            <a:off x="7406640" y="5532120"/>
            <a:ext cx="32914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Melhor reta = menor perda total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1" name="Text 1"/>
          <p:cNvSpPr/>
          <p:nvPr/>
        </p:nvSpPr>
        <p:spPr>
          <a:xfrm>
            <a:off x="540000" y="3420000"/>
            <a:ext cx="56689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Função de Perda (Loss ou Erro)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Shape 0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3" name="Shape 1"/>
          <p:cNvSpPr/>
          <p:nvPr/>
        </p:nvSpPr>
        <p:spPr>
          <a:xfrm>
            <a:off x="0" y="0"/>
            <a:ext cx="164160" cy="68576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4" name="Text 2"/>
          <p:cNvSpPr/>
          <p:nvPr/>
        </p:nvSpPr>
        <p:spPr>
          <a:xfrm>
            <a:off x="502920" y="255960"/>
            <a:ext cx="80463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2563EB"/>
                </a:solidFill>
                <a:effectLst/>
                <a:uFillTx/>
                <a:latin typeface="Aptos"/>
                <a:ea typeface="Aptos"/>
              </a:rPr>
              <a:t>PONTE PARA ML MODERNO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5" name="Text 3"/>
          <p:cNvSpPr/>
          <p:nvPr/>
        </p:nvSpPr>
        <p:spPr>
          <a:xfrm>
            <a:off x="502920" y="511920"/>
            <a:ext cx="1078956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0B1F3A"/>
                </a:solidFill>
                <a:effectLst/>
                <a:uFillTx/>
                <a:latin typeface="Aptos Display"/>
                <a:ea typeface="Aptos Display"/>
              </a:rPr>
              <a:t>Por que falar de gradiente?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6" name="Text 4"/>
          <p:cNvSpPr/>
          <p:nvPr/>
        </p:nvSpPr>
        <p:spPr>
          <a:xfrm>
            <a:off x="502920" y="6446520"/>
            <a:ext cx="32000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Regressão Linear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7" name="Text 5"/>
          <p:cNvSpPr/>
          <p:nvPr/>
        </p:nvSpPr>
        <p:spPr>
          <a:xfrm>
            <a:off x="11247120" y="641916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16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Text 6"/>
          <p:cNvSpPr/>
          <p:nvPr/>
        </p:nvSpPr>
        <p:spPr>
          <a:xfrm>
            <a:off x="822960" y="1143000"/>
            <a:ext cx="10515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 fontScale="85000" lnSpcReduction="9999"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Muitos modelos não têm solução fechada simples. Então usamos otimização iterativa.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Shape 7"/>
          <p:cNvSpPr/>
          <p:nvPr/>
        </p:nvSpPr>
        <p:spPr>
          <a:xfrm>
            <a:off x="868680" y="2560320"/>
            <a:ext cx="1828440" cy="82260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524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0" name="Text 8"/>
          <p:cNvSpPr/>
          <p:nvPr/>
        </p:nvSpPr>
        <p:spPr>
          <a:xfrm>
            <a:off x="941760" y="2633400"/>
            <a:ext cx="1682280" cy="67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começa com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w e b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1" name="Shape 9"/>
          <p:cNvSpPr/>
          <p:nvPr/>
        </p:nvSpPr>
        <p:spPr>
          <a:xfrm>
            <a:off x="2834640" y="2971800"/>
            <a:ext cx="1097280" cy="360"/>
          </a:xfrm>
          <a:prstGeom prst="line">
            <a:avLst/>
          </a:prstGeom>
          <a:ln w="19050">
            <a:solidFill>
              <a:srgbClr val="334155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2" name="Shape 10"/>
          <p:cNvSpPr/>
          <p:nvPr/>
        </p:nvSpPr>
        <p:spPr>
          <a:xfrm>
            <a:off x="4114800" y="2560320"/>
            <a:ext cx="1828440" cy="822600"/>
          </a:xfrm>
          <a:prstGeom prst="roundRect">
            <a:avLst>
              <a:gd name="adj" fmla="val 8889"/>
            </a:avLst>
          </a:prstGeom>
          <a:solidFill>
            <a:srgbClr val="FFF7ED"/>
          </a:solidFill>
          <a:ln w="1524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Text 11"/>
          <p:cNvSpPr/>
          <p:nvPr/>
        </p:nvSpPr>
        <p:spPr>
          <a:xfrm>
            <a:off x="4187880" y="2633400"/>
            <a:ext cx="1682280" cy="67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mede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a loss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Shape 12"/>
          <p:cNvSpPr/>
          <p:nvPr/>
        </p:nvSpPr>
        <p:spPr>
          <a:xfrm>
            <a:off x="6080760" y="2971800"/>
            <a:ext cx="1097280" cy="360"/>
          </a:xfrm>
          <a:prstGeom prst="line">
            <a:avLst/>
          </a:prstGeom>
          <a:ln w="19050">
            <a:solidFill>
              <a:srgbClr val="334155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5" name="Shape 13"/>
          <p:cNvSpPr/>
          <p:nvPr/>
        </p:nvSpPr>
        <p:spPr>
          <a:xfrm>
            <a:off x="7360920" y="2560320"/>
            <a:ext cx="1828440" cy="822600"/>
          </a:xfrm>
          <a:prstGeom prst="roundRect">
            <a:avLst>
              <a:gd name="adj" fmla="val 8889"/>
            </a:avLst>
          </a:prstGeom>
          <a:solidFill>
            <a:srgbClr val="EAF4FF"/>
          </a:solidFill>
          <a:ln w="1524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6" name="Text 14"/>
          <p:cNvSpPr/>
          <p:nvPr/>
        </p:nvSpPr>
        <p:spPr>
          <a:xfrm>
            <a:off x="7434000" y="2633400"/>
            <a:ext cx="1682280" cy="67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calcula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gradiente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Shape 15"/>
          <p:cNvSpPr/>
          <p:nvPr/>
        </p:nvSpPr>
        <p:spPr>
          <a:xfrm>
            <a:off x="9326880" y="2971800"/>
            <a:ext cx="1005840" cy="360"/>
          </a:xfrm>
          <a:prstGeom prst="line">
            <a:avLst/>
          </a:prstGeom>
          <a:ln w="19050">
            <a:solidFill>
              <a:srgbClr val="334155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Shape 16"/>
          <p:cNvSpPr/>
          <p:nvPr/>
        </p:nvSpPr>
        <p:spPr>
          <a:xfrm>
            <a:off x="10515600" y="2560320"/>
            <a:ext cx="1371240" cy="82260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524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9" name="Text 17"/>
          <p:cNvSpPr/>
          <p:nvPr/>
        </p:nvSpPr>
        <p:spPr>
          <a:xfrm>
            <a:off x="10588680" y="2633400"/>
            <a:ext cx="1225080" cy="67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atualiza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w e b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0" name="Text 18"/>
          <p:cNvSpPr/>
          <p:nvPr/>
        </p:nvSpPr>
        <p:spPr>
          <a:xfrm>
            <a:off x="3985560" y="5400000"/>
            <a:ext cx="4114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 fontScale="85000" lnSpcReduction="9999"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563EB"/>
                </a:solidFill>
                <a:effectLst/>
                <a:uFillTx/>
                <a:latin typeface="Aptos"/>
              </a:rPr>
              <a:t>Repete até a perda parar de diminuir.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Shape 0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2" name="Shape 1"/>
          <p:cNvSpPr/>
          <p:nvPr/>
        </p:nvSpPr>
        <p:spPr>
          <a:xfrm>
            <a:off x="0" y="0"/>
            <a:ext cx="164160" cy="68576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3" name="Text 2"/>
          <p:cNvSpPr/>
          <p:nvPr/>
        </p:nvSpPr>
        <p:spPr>
          <a:xfrm>
            <a:off x="502920" y="255960"/>
            <a:ext cx="80463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2563EB"/>
                </a:solidFill>
                <a:effectLst/>
                <a:uFillTx/>
                <a:latin typeface="Aptos"/>
                <a:ea typeface="Aptos"/>
              </a:rPr>
              <a:t>ATUALIZAÇÃO DOS PARÂMETROS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4" name="Text 3"/>
          <p:cNvSpPr/>
          <p:nvPr/>
        </p:nvSpPr>
        <p:spPr>
          <a:xfrm>
            <a:off x="502920" y="511920"/>
            <a:ext cx="1078956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0B1F3A"/>
                </a:solidFill>
                <a:effectLst/>
                <a:uFillTx/>
                <a:latin typeface="Aptos Display"/>
                <a:ea typeface="Aptos Display"/>
              </a:rPr>
              <a:t>Gradient Descent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5" name="Text 4"/>
          <p:cNvSpPr/>
          <p:nvPr/>
        </p:nvSpPr>
        <p:spPr>
          <a:xfrm>
            <a:off x="502920" y="6446520"/>
            <a:ext cx="32000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Regressão Linear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Text 5"/>
          <p:cNvSpPr/>
          <p:nvPr/>
        </p:nvSpPr>
        <p:spPr>
          <a:xfrm>
            <a:off x="11247120" y="641916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17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7" name="Shape 6"/>
          <p:cNvSpPr/>
          <p:nvPr/>
        </p:nvSpPr>
        <p:spPr>
          <a:xfrm>
            <a:off x="777240" y="1188720"/>
            <a:ext cx="4297320" cy="6397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524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Text 7"/>
          <p:cNvSpPr/>
          <p:nvPr/>
        </p:nvSpPr>
        <p:spPr>
          <a:xfrm>
            <a:off x="914400" y="1261800"/>
            <a:ext cx="402300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0" u="none" strike="noStrike">
                <a:solidFill>
                  <a:srgbClr val="0B1F3A"/>
                </a:solidFill>
                <a:effectLst/>
                <a:uFillTx/>
                <a:latin typeface="Cambria Math"/>
                <a:ea typeface="Cambria Math"/>
              </a:rPr>
              <a:t>w ← w − η · ∂L/∂w</a:t>
            </a:r>
            <a:endParaRPr lang="pt-B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Shape 8"/>
          <p:cNvSpPr/>
          <p:nvPr/>
        </p:nvSpPr>
        <p:spPr>
          <a:xfrm>
            <a:off x="777240" y="2057400"/>
            <a:ext cx="4297320" cy="6397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524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0" name="Text 9"/>
          <p:cNvSpPr/>
          <p:nvPr/>
        </p:nvSpPr>
        <p:spPr>
          <a:xfrm>
            <a:off x="914400" y="2130480"/>
            <a:ext cx="402300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0" u="none" strike="noStrike">
                <a:solidFill>
                  <a:srgbClr val="0B1F3A"/>
                </a:solidFill>
                <a:effectLst/>
                <a:uFillTx/>
                <a:latin typeface="Cambria Math"/>
                <a:ea typeface="Cambria Math"/>
              </a:rPr>
              <a:t>b ← b − η · ∂L/∂b</a:t>
            </a:r>
            <a:endParaRPr lang="pt-B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Text 10"/>
          <p:cNvSpPr/>
          <p:nvPr/>
        </p:nvSpPr>
        <p:spPr>
          <a:xfrm>
            <a:off x="822960" y="3246120"/>
            <a:ext cx="48459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O gradiente aponta a direção de aumento da loss. Caminhamos no sentido oposto.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2" name="Shape 11"/>
          <p:cNvSpPr/>
          <p:nvPr/>
        </p:nvSpPr>
        <p:spPr>
          <a:xfrm>
            <a:off x="6675120" y="5440680"/>
            <a:ext cx="4023360" cy="360"/>
          </a:xfrm>
          <a:prstGeom prst="line">
            <a:avLst/>
          </a:prstGeom>
          <a:ln w="12700">
            <a:solidFill>
              <a:srgbClr val="33415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Shape 12"/>
          <p:cNvSpPr/>
          <p:nvPr/>
        </p:nvSpPr>
        <p:spPr>
          <a:xfrm>
            <a:off x="6675120" y="1143000"/>
            <a:ext cx="360" cy="4297680"/>
          </a:xfrm>
          <a:prstGeom prst="line">
            <a:avLst/>
          </a:prstGeom>
          <a:ln w="12700">
            <a:solidFill>
              <a:srgbClr val="33415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Shape 13"/>
          <p:cNvSpPr/>
          <p:nvPr/>
        </p:nvSpPr>
        <p:spPr>
          <a:xfrm>
            <a:off x="6675120" y="1143000"/>
            <a:ext cx="66960" cy="281520"/>
          </a:xfrm>
          <a:prstGeom prst="line">
            <a:avLst/>
          </a:prstGeom>
          <a:ln w="2286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5" name="Shape 14"/>
          <p:cNvSpPr/>
          <p:nvPr/>
        </p:nvSpPr>
        <p:spPr>
          <a:xfrm>
            <a:off x="6742080" y="1424520"/>
            <a:ext cx="66960" cy="272160"/>
          </a:xfrm>
          <a:prstGeom prst="line">
            <a:avLst/>
          </a:prstGeom>
          <a:ln w="2286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6" name="Shape 15"/>
          <p:cNvSpPr/>
          <p:nvPr/>
        </p:nvSpPr>
        <p:spPr>
          <a:xfrm>
            <a:off x="6809040" y="1696680"/>
            <a:ext cx="66960" cy="262800"/>
          </a:xfrm>
          <a:prstGeom prst="line">
            <a:avLst/>
          </a:prstGeom>
          <a:ln w="2286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7" name="Shape 16"/>
          <p:cNvSpPr/>
          <p:nvPr/>
        </p:nvSpPr>
        <p:spPr>
          <a:xfrm>
            <a:off x="6876000" y="1959480"/>
            <a:ext cx="67320" cy="253080"/>
          </a:xfrm>
          <a:prstGeom prst="line">
            <a:avLst/>
          </a:prstGeom>
          <a:ln w="2286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Shape 17"/>
          <p:cNvSpPr/>
          <p:nvPr/>
        </p:nvSpPr>
        <p:spPr>
          <a:xfrm>
            <a:off x="6943320" y="2212560"/>
            <a:ext cx="66960" cy="243360"/>
          </a:xfrm>
          <a:prstGeom prst="line">
            <a:avLst/>
          </a:prstGeom>
          <a:ln w="2286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9" name="Shape 18"/>
          <p:cNvSpPr/>
          <p:nvPr/>
        </p:nvSpPr>
        <p:spPr>
          <a:xfrm>
            <a:off x="7010280" y="2455920"/>
            <a:ext cx="66960" cy="234000"/>
          </a:xfrm>
          <a:prstGeom prst="line">
            <a:avLst/>
          </a:prstGeom>
          <a:ln w="2286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0" name="Shape 19"/>
          <p:cNvSpPr/>
          <p:nvPr/>
        </p:nvSpPr>
        <p:spPr>
          <a:xfrm>
            <a:off x="7077240" y="2689920"/>
            <a:ext cx="66960" cy="224640"/>
          </a:xfrm>
          <a:prstGeom prst="line">
            <a:avLst/>
          </a:prstGeom>
          <a:ln w="2286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1" name="Shape 20"/>
          <p:cNvSpPr/>
          <p:nvPr/>
        </p:nvSpPr>
        <p:spPr>
          <a:xfrm>
            <a:off x="7144200" y="2914560"/>
            <a:ext cx="67320" cy="214920"/>
          </a:xfrm>
          <a:prstGeom prst="line">
            <a:avLst/>
          </a:prstGeom>
          <a:ln w="2286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2" name="Shape 21"/>
          <p:cNvSpPr/>
          <p:nvPr/>
        </p:nvSpPr>
        <p:spPr>
          <a:xfrm>
            <a:off x="7211520" y="3129480"/>
            <a:ext cx="66960" cy="205200"/>
          </a:xfrm>
          <a:prstGeom prst="line">
            <a:avLst/>
          </a:prstGeom>
          <a:ln w="2286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3" name="Shape 22"/>
          <p:cNvSpPr/>
          <p:nvPr/>
        </p:nvSpPr>
        <p:spPr>
          <a:xfrm>
            <a:off x="7278480" y="3334680"/>
            <a:ext cx="66960" cy="195840"/>
          </a:xfrm>
          <a:prstGeom prst="line">
            <a:avLst/>
          </a:prstGeom>
          <a:ln w="2286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4" name="Shape 23"/>
          <p:cNvSpPr/>
          <p:nvPr/>
        </p:nvSpPr>
        <p:spPr>
          <a:xfrm>
            <a:off x="7345440" y="3530520"/>
            <a:ext cx="66960" cy="186120"/>
          </a:xfrm>
          <a:prstGeom prst="line">
            <a:avLst/>
          </a:prstGeom>
          <a:ln w="2286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5" name="Shape 24"/>
          <p:cNvSpPr/>
          <p:nvPr/>
        </p:nvSpPr>
        <p:spPr>
          <a:xfrm>
            <a:off x="7412400" y="3716640"/>
            <a:ext cx="67320" cy="176760"/>
          </a:xfrm>
          <a:prstGeom prst="line">
            <a:avLst/>
          </a:prstGeom>
          <a:ln w="2286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6" name="Shape 25"/>
          <p:cNvSpPr/>
          <p:nvPr/>
        </p:nvSpPr>
        <p:spPr>
          <a:xfrm>
            <a:off x="7479720" y="3893400"/>
            <a:ext cx="66960" cy="167040"/>
          </a:xfrm>
          <a:prstGeom prst="line">
            <a:avLst/>
          </a:prstGeom>
          <a:ln w="2286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7" name="Shape 26"/>
          <p:cNvSpPr/>
          <p:nvPr/>
        </p:nvSpPr>
        <p:spPr>
          <a:xfrm>
            <a:off x="7546680" y="4060440"/>
            <a:ext cx="66960" cy="157680"/>
          </a:xfrm>
          <a:prstGeom prst="line">
            <a:avLst/>
          </a:prstGeom>
          <a:ln w="2286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8" name="Shape 27"/>
          <p:cNvSpPr/>
          <p:nvPr/>
        </p:nvSpPr>
        <p:spPr>
          <a:xfrm>
            <a:off x="7613640" y="4218120"/>
            <a:ext cx="67320" cy="147960"/>
          </a:xfrm>
          <a:prstGeom prst="line">
            <a:avLst/>
          </a:prstGeom>
          <a:ln w="2286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9" name="Shape 28"/>
          <p:cNvSpPr/>
          <p:nvPr/>
        </p:nvSpPr>
        <p:spPr>
          <a:xfrm>
            <a:off x="7680960" y="4366080"/>
            <a:ext cx="66960" cy="138600"/>
          </a:xfrm>
          <a:prstGeom prst="line">
            <a:avLst/>
          </a:prstGeom>
          <a:ln w="2286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0" name="Shape 29"/>
          <p:cNvSpPr/>
          <p:nvPr/>
        </p:nvSpPr>
        <p:spPr>
          <a:xfrm>
            <a:off x="7747920" y="4504680"/>
            <a:ext cx="66960" cy="128880"/>
          </a:xfrm>
          <a:prstGeom prst="line">
            <a:avLst/>
          </a:prstGeom>
          <a:ln w="2286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1" name="Shape 30"/>
          <p:cNvSpPr/>
          <p:nvPr/>
        </p:nvSpPr>
        <p:spPr>
          <a:xfrm>
            <a:off x="7814880" y="4633560"/>
            <a:ext cx="66960" cy="119160"/>
          </a:xfrm>
          <a:prstGeom prst="line">
            <a:avLst/>
          </a:prstGeom>
          <a:ln w="2286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2" name="Shape 31"/>
          <p:cNvSpPr/>
          <p:nvPr/>
        </p:nvSpPr>
        <p:spPr>
          <a:xfrm>
            <a:off x="7881840" y="4752720"/>
            <a:ext cx="67320" cy="110160"/>
          </a:xfrm>
          <a:prstGeom prst="line">
            <a:avLst/>
          </a:prstGeom>
          <a:ln w="2286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3" name="Shape 32"/>
          <p:cNvSpPr/>
          <p:nvPr/>
        </p:nvSpPr>
        <p:spPr>
          <a:xfrm>
            <a:off x="7949160" y="4862880"/>
            <a:ext cx="66960" cy="100080"/>
          </a:xfrm>
          <a:prstGeom prst="line">
            <a:avLst/>
          </a:prstGeom>
          <a:ln w="2286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4" name="Shape 33"/>
          <p:cNvSpPr/>
          <p:nvPr/>
        </p:nvSpPr>
        <p:spPr>
          <a:xfrm>
            <a:off x="8016120" y="4962960"/>
            <a:ext cx="66960" cy="90720"/>
          </a:xfrm>
          <a:prstGeom prst="line">
            <a:avLst/>
          </a:prstGeom>
          <a:ln w="2286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5" name="Shape 34"/>
          <p:cNvSpPr/>
          <p:nvPr/>
        </p:nvSpPr>
        <p:spPr>
          <a:xfrm>
            <a:off x="8083080" y="5053680"/>
            <a:ext cx="66960" cy="81360"/>
          </a:xfrm>
          <a:prstGeom prst="line">
            <a:avLst/>
          </a:prstGeom>
          <a:ln w="2286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36360" rIns="90000" bIns="3636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6" name="Shape 35"/>
          <p:cNvSpPr/>
          <p:nvPr/>
        </p:nvSpPr>
        <p:spPr>
          <a:xfrm>
            <a:off x="8150040" y="5135040"/>
            <a:ext cx="67320" cy="71640"/>
          </a:xfrm>
          <a:prstGeom prst="line">
            <a:avLst/>
          </a:prstGeom>
          <a:ln w="2286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26640" rIns="90000" bIns="26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7" name="Shape 36"/>
          <p:cNvSpPr/>
          <p:nvPr/>
        </p:nvSpPr>
        <p:spPr>
          <a:xfrm>
            <a:off x="8217360" y="5206680"/>
            <a:ext cx="66960" cy="61920"/>
          </a:xfrm>
          <a:prstGeom prst="line">
            <a:avLst/>
          </a:prstGeom>
          <a:ln w="2286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6920" rIns="90000" bIns="1692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8" name="Shape 37"/>
          <p:cNvSpPr/>
          <p:nvPr/>
        </p:nvSpPr>
        <p:spPr>
          <a:xfrm>
            <a:off x="8284320" y="5268600"/>
            <a:ext cx="66960" cy="52560"/>
          </a:xfrm>
          <a:prstGeom prst="line">
            <a:avLst/>
          </a:prstGeom>
          <a:ln w="2286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560" rIns="90000" bIns="756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9" name="Shape 38"/>
          <p:cNvSpPr/>
          <p:nvPr/>
        </p:nvSpPr>
        <p:spPr>
          <a:xfrm>
            <a:off x="8351280" y="5321160"/>
            <a:ext cx="66960" cy="42840"/>
          </a:xfrm>
          <a:prstGeom prst="line">
            <a:avLst/>
          </a:prstGeom>
          <a:ln w="2286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2160" rIns="90000" bIns="-216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0" name="Shape 39"/>
          <p:cNvSpPr/>
          <p:nvPr/>
        </p:nvSpPr>
        <p:spPr>
          <a:xfrm>
            <a:off x="8418240" y="5364000"/>
            <a:ext cx="67320" cy="33480"/>
          </a:xfrm>
          <a:prstGeom prst="line">
            <a:avLst/>
          </a:prstGeom>
          <a:ln w="2286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11520" rIns="90000" bIns="-1152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Shape 40"/>
          <p:cNvSpPr/>
          <p:nvPr/>
        </p:nvSpPr>
        <p:spPr>
          <a:xfrm>
            <a:off x="8485560" y="5397480"/>
            <a:ext cx="66960" cy="23760"/>
          </a:xfrm>
          <a:prstGeom prst="line">
            <a:avLst/>
          </a:prstGeom>
          <a:ln w="2286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21240" rIns="90000" bIns="-212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2" name="Shape 41"/>
          <p:cNvSpPr/>
          <p:nvPr/>
        </p:nvSpPr>
        <p:spPr>
          <a:xfrm>
            <a:off x="8552520" y="5421240"/>
            <a:ext cx="66960" cy="14400"/>
          </a:xfrm>
          <a:prstGeom prst="line">
            <a:avLst/>
          </a:prstGeom>
          <a:ln w="2286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30600" rIns="90000" bIns="-306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3" name="Shape 42"/>
          <p:cNvSpPr/>
          <p:nvPr/>
        </p:nvSpPr>
        <p:spPr>
          <a:xfrm>
            <a:off x="8619480" y="5435640"/>
            <a:ext cx="67320" cy="5040"/>
          </a:xfrm>
          <a:prstGeom prst="line">
            <a:avLst/>
          </a:prstGeom>
          <a:ln w="2286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39960" rIns="90000" bIns="-3996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4" name="Shape 43"/>
          <p:cNvSpPr/>
          <p:nvPr/>
        </p:nvSpPr>
        <p:spPr>
          <a:xfrm>
            <a:off x="8686800" y="5440680"/>
            <a:ext cx="66960" cy="360"/>
          </a:xfrm>
          <a:prstGeom prst="line">
            <a:avLst/>
          </a:prstGeom>
          <a:ln w="2286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5" name="Shape 44"/>
          <p:cNvSpPr/>
          <p:nvPr/>
        </p:nvSpPr>
        <p:spPr>
          <a:xfrm>
            <a:off x="8753760" y="5435640"/>
            <a:ext cx="66960" cy="360"/>
          </a:xfrm>
          <a:prstGeom prst="line">
            <a:avLst/>
          </a:prstGeom>
          <a:ln w="2286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6" name="Shape 45"/>
          <p:cNvSpPr/>
          <p:nvPr/>
        </p:nvSpPr>
        <p:spPr>
          <a:xfrm>
            <a:off x="8820720" y="5421240"/>
            <a:ext cx="66960" cy="360"/>
          </a:xfrm>
          <a:prstGeom prst="line">
            <a:avLst/>
          </a:prstGeom>
          <a:ln w="2286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7" name="Shape 46"/>
          <p:cNvSpPr/>
          <p:nvPr/>
        </p:nvSpPr>
        <p:spPr>
          <a:xfrm>
            <a:off x="8887680" y="5397480"/>
            <a:ext cx="67320" cy="360"/>
          </a:xfrm>
          <a:prstGeom prst="line">
            <a:avLst/>
          </a:prstGeom>
          <a:ln w="2286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8" name="Shape 47"/>
          <p:cNvSpPr/>
          <p:nvPr/>
        </p:nvSpPr>
        <p:spPr>
          <a:xfrm>
            <a:off x="8955000" y="5364000"/>
            <a:ext cx="66960" cy="360"/>
          </a:xfrm>
          <a:prstGeom prst="line">
            <a:avLst/>
          </a:prstGeom>
          <a:ln w="2286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9" name="Shape 48"/>
          <p:cNvSpPr/>
          <p:nvPr/>
        </p:nvSpPr>
        <p:spPr>
          <a:xfrm>
            <a:off x="9021960" y="5321160"/>
            <a:ext cx="66960" cy="360"/>
          </a:xfrm>
          <a:prstGeom prst="line">
            <a:avLst/>
          </a:prstGeom>
          <a:ln w="2286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0" name="Shape 49"/>
          <p:cNvSpPr/>
          <p:nvPr/>
        </p:nvSpPr>
        <p:spPr>
          <a:xfrm>
            <a:off x="9088920" y="5268600"/>
            <a:ext cx="66960" cy="360"/>
          </a:xfrm>
          <a:prstGeom prst="line">
            <a:avLst/>
          </a:prstGeom>
          <a:ln w="2286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1" name="Shape 50"/>
          <p:cNvSpPr/>
          <p:nvPr/>
        </p:nvSpPr>
        <p:spPr>
          <a:xfrm>
            <a:off x="9155880" y="5206680"/>
            <a:ext cx="67320" cy="360"/>
          </a:xfrm>
          <a:prstGeom prst="line">
            <a:avLst/>
          </a:prstGeom>
          <a:ln w="2286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2" name="Shape 51"/>
          <p:cNvSpPr/>
          <p:nvPr/>
        </p:nvSpPr>
        <p:spPr>
          <a:xfrm>
            <a:off x="9223200" y="5135040"/>
            <a:ext cx="66960" cy="360"/>
          </a:xfrm>
          <a:prstGeom prst="line">
            <a:avLst/>
          </a:prstGeom>
          <a:ln w="2286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3" name="Shape 52"/>
          <p:cNvSpPr/>
          <p:nvPr/>
        </p:nvSpPr>
        <p:spPr>
          <a:xfrm>
            <a:off x="9290160" y="5053680"/>
            <a:ext cx="66960" cy="360"/>
          </a:xfrm>
          <a:prstGeom prst="line">
            <a:avLst/>
          </a:prstGeom>
          <a:ln w="2286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4" name="Shape 53"/>
          <p:cNvSpPr/>
          <p:nvPr/>
        </p:nvSpPr>
        <p:spPr>
          <a:xfrm>
            <a:off x="9357120" y="4962960"/>
            <a:ext cx="66960" cy="360"/>
          </a:xfrm>
          <a:prstGeom prst="line">
            <a:avLst/>
          </a:prstGeom>
          <a:ln w="2286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5" name="Shape 54"/>
          <p:cNvSpPr/>
          <p:nvPr/>
        </p:nvSpPr>
        <p:spPr>
          <a:xfrm>
            <a:off x="9424080" y="4862880"/>
            <a:ext cx="67320" cy="360"/>
          </a:xfrm>
          <a:prstGeom prst="line">
            <a:avLst/>
          </a:prstGeom>
          <a:ln w="2286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6" name="Shape 55"/>
          <p:cNvSpPr/>
          <p:nvPr/>
        </p:nvSpPr>
        <p:spPr>
          <a:xfrm>
            <a:off x="9491400" y="4752720"/>
            <a:ext cx="66960" cy="360"/>
          </a:xfrm>
          <a:prstGeom prst="line">
            <a:avLst/>
          </a:prstGeom>
          <a:ln w="2286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7" name="Shape 56"/>
          <p:cNvSpPr/>
          <p:nvPr/>
        </p:nvSpPr>
        <p:spPr>
          <a:xfrm>
            <a:off x="9558360" y="4633560"/>
            <a:ext cx="66960" cy="360"/>
          </a:xfrm>
          <a:prstGeom prst="line">
            <a:avLst/>
          </a:prstGeom>
          <a:ln w="2286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8" name="Shape 57"/>
          <p:cNvSpPr/>
          <p:nvPr/>
        </p:nvSpPr>
        <p:spPr>
          <a:xfrm>
            <a:off x="9625320" y="4504680"/>
            <a:ext cx="67320" cy="360"/>
          </a:xfrm>
          <a:prstGeom prst="line">
            <a:avLst/>
          </a:prstGeom>
          <a:ln w="2286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9" name="Shape 58"/>
          <p:cNvSpPr/>
          <p:nvPr/>
        </p:nvSpPr>
        <p:spPr>
          <a:xfrm>
            <a:off x="9692640" y="4366080"/>
            <a:ext cx="66960" cy="360"/>
          </a:xfrm>
          <a:prstGeom prst="line">
            <a:avLst/>
          </a:prstGeom>
          <a:ln w="2286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0" name="Shape 59"/>
          <p:cNvSpPr/>
          <p:nvPr/>
        </p:nvSpPr>
        <p:spPr>
          <a:xfrm>
            <a:off x="9759600" y="4218120"/>
            <a:ext cx="66960" cy="360"/>
          </a:xfrm>
          <a:prstGeom prst="line">
            <a:avLst/>
          </a:prstGeom>
          <a:ln w="2286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1" name="Shape 60"/>
          <p:cNvSpPr/>
          <p:nvPr/>
        </p:nvSpPr>
        <p:spPr>
          <a:xfrm>
            <a:off x="9826560" y="4060440"/>
            <a:ext cx="66960" cy="360"/>
          </a:xfrm>
          <a:prstGeom prst="line">
            <a:avLst/>
          </a:prstGeom>
          <a:ln w="2286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2" name="Shape 61"/>
          <p:cNvSpPr/>
          <p:nvPr/>
        </p:nvSpPr>
        <p:spPr>
          <a:xfrm>
            <a:off x="9893520" y="3893400"/>
            <a:ext cx="67320" cy="360"/>
          </a:xfrm>
          <a:prstGeom prst="line">
            <a:avLst/>
          </a:prstGeom>
          <a:ln w="2286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3" name="Shape 62"/>
          <p:cNvSpPr/>
          <p:nvPr/>
        </p:nvSpPr>
        <p:spPr>
          <a:xfrm>
            <a:off x="9960840" y="3716640"/>
            <a:ext cx="66960" cy="360"/>
          </a:xfrm>
          <a:prstGeom prst="line">
            <a:avLst/>
          </a:prstGeom>
          <a:ln w="2286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4" name="Shape 63"/>
          <p:cNvSpPr/>
          <p:nvPr/>
        </p:nvSpPr>
        <p:spPr>
          <a:xfrm>
            <a:off x="10027800" y="3530520"/>
            <a:ext cx="66960" cy="360"/>
          </a:xfrm>
          <a:prstGeom prst="line">
            <a:avLst/>
          </a:prstGeom>
          <a:ln w="2286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5" name="Shape 64"/>
          <p:cNvSpPr/>
          <p:nvPr/>
        </p:nvSpPr>
        <p:spPr>
          <a:xfrm>
            <a:off x="10094760" y="3334680"/>
            <a:ext cx="66960" cy="360"/>
          </a:xfrm>
          <a:prstGeom prst="line">
            <a:avLst/>
          </a:prstGeom>
          <a:ln w="2286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6" name="Shape 65"/>
          <p:cNvSpPr/>
          <p:nvPr/>
        </p:nvSpPr>
        <p:spPr>
          <a:xfrm>
            <a:off x="10161720" y="3129480"/>
            <a:ext cx="67320" cy="360"/>
          </a:xfrm>
          <a:prstGeom prst="line">
            <a:avLst/>
          </a:prstGeom>
          <a:ln w="2286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7" name="Shape 66"/>
          <p:cNvSpPr/>
          <p:nvPr/>
        </p:nvSpPr>
        <p:spPr>
          <a:xfrm>
            <a:off x="10229040" y="2914560"/>
            <a:ext cx="66960" cy="360"/>
          </a:xfrm>
          <a:prstGeom prst="line">
            <a:avLst/>
          </a:prstGeom>
          <a:ln w="2286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8" name="Shape 67"/>
          <p:cNvSpPr/>
          <p:nvPr/>
        </p:nvSpPr>
        <p:spPr>
          <a:xfrm>
            <a:off x="10296000" y="2689920"/>
            <a:ext cx="66960" cy="360"/>
          </a:xfrm>
          <a:prstGeom prst="line">
            <a:avLst/>
          </a:prstGeom>
          <a:ln w="2286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9" name="Shape 68"/>
          <p:cNvSpPr/>
          <p:nvPr/>
        </p:nvSpPr>
        <p:spPr>
          <a:xfrm>
            <a:off x="10362960" y="2455920"/>
            <a:ext cx="66960" cy="360"/>
          </a:xfrm>
          <a:prstGeom prst="line">
            <a:avLst/>
          </a:prstGeom>
          <a:ln w="2286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0" name="Shape 69"/>
          <p:cNvSpPr/>
          <p:nvPr/>
        </p:nvSpPr>
        <p:spPr>
          <a:xfrm>
            <a:off x="10429920" y="2212560"/>
            <a:ext cx="67320" cy="360"/>
          </a:xfrm>
          <a:prstGeom prst="line">
            <a:avLst/>
          </a:prstGeom>
          <a:ln w="2286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1" name="Shape 70"/>
          <p:cNvSpPr/>
          <p:nvPr/>
        </p:nvSpPr>
        <p:spPr>
          <a:xfrm>
            <a:off x="10497240" y="1959480"/>
            <a:ext cx="66960" cy="360"/>
          </a:xfrm>
          <a:prstGeom prst="line">
            <a:avLst/>
          </a:prstGeom>
          <a:ln w="2286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2" name="Shape 71"/>
          <p:cNvSpPr/>
          <p:nvPr/>
        </p:nvSpPr>
        <p:spPr>
          <a:xfrm>
            <a:off x="10564200" y="1696680"/>
            <a:ext cx="66960" cy="360"/>
          </a:xfrm>
          <a:prstGeom prst="line">
            <a:avLst/>
          </a:prstGeom>
          <a:ln w="2286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3" name="Shape 72"/>
          <p:cNvSpPr/>
          <p:nvPr/>
        </p:nvSpPr>
        <p:spPr>
          <a:xfrm>
            <a:off x="10631160" y="1424520"/>
            <a:ext cx="67320" cy="360"/>
          </a:xfrm>
          <a:prstGeom prst="line">
            <a:avLst/>
          </a:prstGeom>
          <a:ln w="2286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4" name="Shape 73"/>
          <p:cNvSpPr/>
          <p:nvPr/>
        </p:nvSpPr>
        <p:spPr>
          <a:xfrm>
            <a:off x="10053720" y="3293640"/>
            <a:ext cx="82080" cy="8208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5" name="Shape 74"/>
          <p:cNvSpPr/>
          <p:nvPr/>
        </p:nvSpPr>
        <p:spPr>
          <a:xfrm>
            <a:off x="10049040" y="3353040"/>
            <a:ext cx="360" cy="902880"/>
          </a:xfrm>
          <a:prstGeom prst="line">
            <a:avLst/>
          </a:prstGeom>
          <a:ln w="19050">
            <a:solidFill>
              <a:srgbClr val="DC262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6" name="Shape 75"/>
          <p:cNvSpPr/>
          <p:nvPr/>
        </p:nvSpPr>
        <p:spPr>
          <a:xfrm>
            <a:off x="9550800" y="4529160"/>
            <a:ext cx="82080" cy="8208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7" name="Shape 76"/>
          <p:cNvSpPr/>
          <p:nvPr/>
        </p:nvSpPr>
        <p:spPr>
          <a:xfrm>
            <a:off x="9546120" y="4588560"/>
            <a:ext cx="360" cy="527040"/>
          </a:xfrm>
          <a:prstGeom prst="line">
            <a:avLst/>
          </a:prstGeom>
          <a:ln w="19050">
            <a:solidFill>
              <a:srgbClr val="DC262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Shape 77"/>
          <p:cNvSpPr/>
          <p:nvPr/>
        </p:nvSpPr>
        <p:spPr>
          <a:xfrm>
            <a:off x="9098280" y="5184720"/>
            <a:ext cx="82080" cy="8208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9" name="Shape 78"/>
          <p:cNvSpPr/>
          <p:nvPr/>
        </p:nvSpPr>
        <p:spPr>
          <a:xfrm>
            <a:off x="9093600" y="5243760"/>
            <a:ext cx="360" cy="186120"/>
          </a:xfrm>
          <a:prstGeom prst="line">
            <a:avLst/>
          </a:prstGeom>
          <a:ln w="19050">
            <a:solidFill>
              <a:srgbClr val="DC262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0" name="Shape 79"/>
          <p:cNvSpPr/>
          <p:nvPr/>
        </p:nvSpPr>
        <p:spPr>
          <a:xfrm>
            <a:off x="8796600" y="5378040"/>
            <a:ext cx="82080" cy="8208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1" name="Text 80"/>
          <p:cNvSpPr/>
          <p:nvPr/>
        </p:nvSpPr>
        <p:spPr>
          <a:xfrm>
            <a:off x="8412480" y="5559480"/>
            <a:ext cx="10054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6A34A"/>
                </a:solidFill>
                <a:effectLst/>
                <a:uFillTx/>
                <a:latin typeface="Aptos"/>
              </a:rPr>
              <a:t>mínimo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Shape 0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3" name="Shape 1"/>
          <p:cNvSpPr/>
          <p:nvPr/>
        </p:nvSpPr>
        <p:spPr>
          <a:xfrm>
            <a:off x="0" y="0"/>
            <a:ext cx="164160" cy="68576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4" name="Text 2"/>
          <p:cNvSpPr/>
          <p:nvPr/>
        </p:nvSpPr>
        <p:spPr>
          <a:xfrm>
            <a:off x="502920" y="255960"/>
            <a:ext cx="80463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2563EB"/>
                </a:solidFill>
                <a:effectLst/>
                <a:uFillTx/>
                <a:latin typeface="Aptos"/>
                <a:ea typeface="Aptos"/>
              </a:rPr>
              <a:t>Η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5" name="Text 3"/>
          <p:cNvSpPr/>
          <p:nvPr/>
        </p:nvSpPr>
        <p:spPr>
          <a:xfrm>
            <a:off x="502920" y="511920"/>
            <a:ext cx="1078956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0B1F3A"/>
                </a:solidFill>
                <a:effectLst/>
                <a:uFillTx/>
                <a:latin typeface="Aptos Display"/>
                <a:ea typeface="Aptos Display"/>
              </a:rPr>
              <a:t>Learning rate: o tamanho do passo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6" name="Text 4"/>
          <p:cNvSpPr/>
          <p:nvPr/>
        </p:nvSpPr>
        <p:spPr>
          <a:xfrm>
            <a:off x="502920" y="6446520"/>
            <a:ext cx="32000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Regressão Linear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7" name="Text 5"/>
          <p:cNvSpPr/>
          <p:nvPr/>
        </p:nvSpPr>
        <p:spPr>
          <a:xfrm>
            <a:off x="11247120" y="641916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18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8" name="Shape 6"/>
          <p:cNvSpPr/>
          <p:nvPr/>
        </p:nvSpPr>
        <p:spPr>
          <a:xfrm>
            <a:off x="822960" y="1234440"/>
            <a:ext cx="914040" cy="731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9" name="Text 7"/>
          <p:cNvSpPr/>
          <p:nvPr/>
        </p:nvSpPr>
        <p:spPr>
          <a:xfrm>
            <a:off x="960120" y="1307520"/>
            <a:ext cx="63972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0" u="none" strike="noStrike">
                <a:solidFill>
                  <a:srgbClr val="0B1F3A"/>
                </a:solidFill>
                <a:effectLst/>
                <a:uFillTx/>
                <a:latin typeface="Cambria Math"/>
                <a:ea typeface="Cambria Math"/>
              </a:rPr>
              <a:t>η</a:t>
            </a:r>
            <a:endParaRPr lang="pt-B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0" name="Text 8"/>
          <p:cNvSpPr/>
          <p:nvPr/>
        </p:nvSpPr>
        <p:spPr>
          <a:xfrm>
            <a:off x="1920240" y="1417320"/>
            <a:ext cx="5486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 fontScale="850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η controla o tamanho de cada atualização.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1" name="Shape 9"/>
          <p:cNvSpPr/>
          <p:nvPr/>
        </p:nvSpPr>
        <p:spPr>
          <a:xfrm>
            <a:off x="914400" y="2743200"/>
            <a:ext cx="2468520" cy="50256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5240">
            <a:solidFill>
              <a:srgbClr val="6474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2" name="Text 10"/>
          <p:cNvSpPr/>
          <p:nvPr/>
        </p:nvSpPr>
        <p:spPr>
          <a:xfrm>
            <a:off x="987480" y="2816280"/>
            <a:ext cx="2322360" cy="35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muito pequeno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3" name="Text 11"/>
          <p:cNvSpPr/>
          <p:nvPr/>
        </p:nvSpPr>
        <p:spPr>
          <a:xfrm>
            <a:off x="914400" y="3429000"/>
            <a:ext cx="24685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aprende devagar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4" name="Shape 12"/>
          <p:cNvSpPr/>
          <p:nvPr/>
        </p:nvSpPr>
        <p:spPr>
          <a:xfrm>
            <a:off x="1188720" y="5394960"/>
            <a:ext cx="1920240" cy="360"/>
          </a:xfrm>
          <a:prstGeom prst="line">
            <a:avLst/>
          </a:prstGeom>
          <a:ln w="12700">
            <a:solidFill>
              <a:srgbClr val="33415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5" name="Shape 13"/>
          <p:cNvSpPr/>
          <p:nvPr/>
        </p:nvSpPr>
        <p:spPr>
          <a:xfrm>
            <a:off x="1188720" y="3931920"/>
            <a:ext cx="360" cy="1463040"/>
          </a:xfrm>
          <a:prstGeom prst="line">
            <a:avLst/>
          </a:prstGeom>
          <a:ln w="12700">
            <a:solidFill>
              <a:srgbClr val="33415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6" name="Shape 14"/>
          <p:cNvSpPr/>
          <p:nvPr/>
        </p:nvSpPr>
        <p:spPr>
          <a:xfrm>
            <a:off x="1422000" y="4851000"/>
            <a:ext cx="82080" cy="8208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7" name="Shape 15"/>
          <p:cNvSpPr/>
          <p:nvPr/>
        </p:nvSpPr>
        <p:spPr>
          <a:xfrm>
            <a:off x="1623240" y="4713840"/>
            <a:ext cx="82080" cy="8208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8" name="Shape 16"/>
          <p:cNvSpPr/>
          <p:nvPr/>
        </p:nvSpPr>
        <p:spPr>
          <a:xfrm>
            <a:off x="1824120" y="4576680"/>
            <a:ext cx="82080" cy="8208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9" name="Shape 17"/>
          <p:cNvSpPr/>
          <p:nvPr/>
        </p:nvSpPr>
        <p:spPr>
          <a:xfrm>
            <a:off x="2025360" y="4439520"/>
            <a:ext cx="82080" cy="8208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0" name="Shape 18"/>
          <p:cNvSpPr/>
          <p:nvPr/>
        </p:nvSpPr>
        <p:spPr>
          <a:xfrm>
            <a:off x="2226600" y="4302360"/>
            <a:ext cx="82080" cy="8208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1" name="Shape 19"/>
          <p:cNvSpPr/>
          <p:nvPr/>
        </p:nvSpPr>
        <p:spPr>
          <a:xfrm>
            <a:off x="4572000" y="2743200"/>
            <a:ext cx="2468520" cy="50256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524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2" name="Text 20"/>
          <p:cNvSpPr/>
          <p:nvPr/>
        </p:nvSpPr>
        <p:spPr>
          <a:xfrm>
            <a:off x="4645080" y="2816280"/>
            <a:ext cx="2322360" cy="35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adequado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3" name="Text 21"/>
          <p:cNvSpPr/>
          <p:nvPr/>
        </p:nvSpPr>
        <p:spPr>
          <a:xfrm>
            <a:off x="4572000" y="3429000"/>
            <a:ext cx="24685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6A34A"/>
                </a:solidFill>
                <a:effectLst/>
                <a:uFillTx/>
                <a:latin typeface="Aptos"/>
              </a:rPr>
              <a:t>converge bem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4" name="Shape 22"/>
          <p:cNvSpPr/>
          <p:nvPr/>
        </p:nvSpPr>
        <p:spPr>
          <a:xfrm>
            <a:off x="4846320" y="5394960"/>
            <a:ext cx="1920240" cy="360"/>
          </a:xfrm>
          <a:prstGeom prst="line">
            <a:avLst/>
          </a:prstGeom>
          <a:ln w="12700">
            <a:solidFill>
              <a:srgbClr val="33415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5" name="Shape 23"/>
          <p:cNvSpPr/>
          <p:nvPr/>
        </p:nvSpPr>
        <p:spPr>
          <a:xfrm>
            <a:off x="4846320" y="3931920"/>
            <a:ext cx="360" cy="1463040"/>
          </a:xfrm>
          <a:prstGeom prst="line">
            <a:avLst/>
          </a:prstGeom>
          <a:ln w="12700">
            <a:solidFill>
              <a:srgbClr val="33415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6" name="Shape 24"/>
          <p:cNvSpPr/>
          <p:nvPr/>
        </p:nvSpPr>
        <p:spPr>
          <a:xfrm>
            <a:off x="5079600" y="4851000"/>
            <a:ext cx="82080" cy="8208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7" name="Shape 25"/>
          <p:cNvSpPr/>
          <p:nvPr/>
        </p:nvSpPr>
        <p:spPr>
          <a:xfrm>
            <a:off x="5408640" y="4622400"/>
            <a:ext cx="82080" cy="8208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8" name="Shape 26"/>
          <p:cNvSpPr/>
          <p:nvPr/>
        </p:nvSpPr>
        <p:spPr>
          <a:xfrm>
            <a:off x="5738040" y="4393800"/>
            <a:ext cx="82080" cy="8208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9" name="Shape 27"/>
          <p:cNvSpPr/>
          <p:nvPr/>
        </p:nvSpPr>
        <p:spPr>
          <a:xfrm>
            <a:off x="6067080" y="4165200"/>
            <a:ext cx="82080" cy="8208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0" name="Shape 28"/>
          <p:cNvSpPr/>
          <p:nvPr/>
        </p:nvSpPr>
        <p:spPr>
          <a:xfrm>
            <a:off x="8229600" y="2743200"/>
            <a:ext cx="2468520" cy="50256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5240">
            <a:solidFill>
              <a:srgbClr val="DC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1" name="Text 29"/>
          <p:cNvSpPr/>
          <p:nvPr/>
        </p:nvSpPr>
        <p:spPr>
          <a:xfrm>
            <a:off x="8302680" y="2816280"/>
            <a:ext cx="2322360" cy="35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muito grande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2" name="Text 30"/>
          <p:cNvSpPr/>
          <p:nvPr/>
        </p:nvSpPr>
        <p:spPr>
          <a:xfrm>
            <a:off x="8229600" y="3429000"/>
            <a:ext cx="24685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DC2626"/>
                </a:solidFill>
                <a:effectLst/>
                <a:uFillTx/>
                <a:latin typeface="Aptos"/>
              </a:rPr>
              <a:t>pode divergir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3" name="Shape 31"/>
          <p:cNvSpPr/>
          <p:nvPr/>
        </p:nvSpPr>
        <p:spPr>
          <a:xfrm>
            <a:off x="8503920" y="5394960"/>
            <a:ext cx="1920240" cy="360"/>
          </a:xfrm>
          <a:prstGeom prst="line">
            <a:avLst/>
          </a:prstGeom>
          <a:ln w="12700">
            <a:solidFill>
              <a:srgbClr val="33415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4" name="Shape 32"/>
          <p:cNvSpPr/>
          <p:nvPr/>
        </p:nvSpPr>
        <p:spPr>
          <a:xfrm>
            <a:off x="8503920" y="3931920"/>
            <a:ext cx="360" cy="1463040"/>
          </a:xfrm>
          <a:prstGeom prst="line">
            <a:avLst/>
          </a:prstGeom>
          <a:ln w="12700">
            <a:solidFill>
              <a:srgbClr val="33415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5" name="Shape 33"/>
          <p:cNvSpPr/>
          <p:nvPr/>
        </p:nvSpPr>
        <p:spPr>
          <a:xfrm>
            <a:off x="8737200" y="5033880"/>
            <a:ext cx="82080" cy="8208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6" name="Shape 34"/>
          <p:cNvSpPr/>
          <p:nvPr/>
        </p:nvSpPr>
        <p:spPr>
          <a:xfrm>
            <a:off x="9121320" y="4028040"/>
            <a:ext cx="82080" cy="8208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7" name="Shape 35"/>
          <p:cNvSpPr/>
          <p:nvPr/>
        </p:nvSpPr>
        <p:spPr>
          <a:xfrm>
            <a:off x="9505080" y="5033880"/>
            <a:ext cx="82080" cy="8208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8" name="Shape 36"/>
          <p:cNvSpPr/>
          <p:nvPr/>
        </p:nvSpPr>
        <p:spPr>
          <a:xfrm>
            <a:off x="9889200" y="4028040"/>
            <a:ext cx="82080" cy="8208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Shape 0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0" name="Shape 1"/>
          <p:cNvSpPr/>
          <p:nvPr/>
        </p:nvSpPr>
        <p:spPr>
          <a:xfrm>
            <a:off x="0" y="0"/>
            <a:ext cx="164160" cy="68576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1" name="Text 2"/>
          <p:cNvSpPr/>
          <p:nvPr/>
        </p:nvSpPr>
        <p:spPr>
          <a:xfrm>
            <a:off x="502920" y="255960"/>
            <a:ext cx="80463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2563EB"/>
                </a:solidFill>
                <a:effectLst/>
                <a:uFillTx/>
                <a:latin typeface="Aptos"/>
                <a:ea typeface="Aptos"/>
              </a:rPr>
              <a:t>ESCALABILIDADE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2" name="Text 3"/>
          <p:cNvSpPr/>
          <p:nvPr/>
        </p:nvSpPr>
        <p:spPr>
          <a:xfrm>
            <a:off x="502920" y="511920"/>
            <a:ext cx="1078956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0B1F3A"/>
                </a:solidFill>
                <a:effectLst/>
                <a:uFillTx/>
                <a:latin typeface="Aptos Display"/>
                <a:ea typeface="Aptos Display"/>
              </a:rPr>
              <a:t>Batch, SGD e Mini-batch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3" name="Text 4"/>
          <p:cNvSpPr/>
          <p:nvPr/>
        </p:nvSpPr>
        <p:spPr>
          <a:xfrm>
            <a:off x="502920" y="6446520"/>
            <a:ext cx="32000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Regressão Linear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4" name="Text 5"/>
          <p:cNvSpPr/>
          <p:nvPr/>
        </p:nvSpPr>
        <p:spPr>
          <a:xfrm>
            <a:off x="11247120" y="641916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19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5" name="Shape 6"/>
          <p:cNvSpPr/>
          <p:nvPr/>
        </p:nvSpPr>
        <p:spPr>
          <a:xfrm>
            <a:off x="822960" y="1280160"/>
            <a:ext cx="1645560" cy="685440"/>
          </a:xfrm>
          <a:prstGeom prst="rect">
            <a:avLst/>
          </a:prstGeom>
          <a:solidFill>
            <a:srgbClr val="EAF4FF"/>
          </a:solidFill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6" name="Text 7"/>
          <p:cNvSpPr/>
          <p:nvPr/>
        </p:nvSpPr>
        <p:spPr>
          <a:xfrm>
            <a:off x="850320" y="1316880"/>
            <a:ext cx="1590840" cy="61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Estratégia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7" name="Shape 8"/>
          <p:cNvSpPr/>
          <p:nvPr/>
        </p:nvSpPr>
        <p:spPr>
          <a:xfrm>
            <a:off x="2468880" y="1280160"/>
            <a:ext cx="3017160" cy="685440"/>
          </a:xfrm>
          <a:prstGeom prst="rect">
            <a:avLst/>
          </a:prstGeom>
          <a:solidFill>
            <a:srgbClr val="EAF4FF"/>
          </a:solidFill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8" name="Text 9"/>
          <p:cNvSpPr/>
          <p:nvPr/>
        </p:nvSpPr>
        <p:spPr>
          <a:xfrm>
            <a:off x="2496240" y="1316880"/>
            <a:ext cx="2962440" cy="61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Dados usados por atualização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9" name="Shape 10"/>
          <p:cNvSpPr/>
          <p:nvPr/>
        </p:nvSpPr>
        <p:spPr>
          <a:xfrm>
            <a:off x="5486400" y="1280160"/>
            <a:ext cx="2102760" cy="685440"/>
          </a:xfrm>
          <a:prstGeom prst="rect">
            <a:avLst/>
          </a:prstGeom>
          <a:solidFill>
            <a:srgbClr val="EAF4FF"/>
          </a:solidFill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0" name="Text 11"/>
          <p:cNvSpPr/>
          <p:nvPr/>
        </p:nvSpPr>
        <p:spPr>
          <a:xfrm>
            <a:off x="5513760" y="1316880"/>
            <a:ext cx="2048040" cy="61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Vantagem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1" name="Shape 12"/>
          <p:cNvSpPr/>
          <p:nvPr/>
        </p:nvSpPr>
        <p:spPr>
          <a:xfrm>
            <a:off x="822960" y="1965960"/>
            <a:ext cx="1645560" cy="685440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2" name="Text 13"/>
          <p:cNvSpPr/>
          <p:nvPr/>
        </p:nvSpPr>
        <p:spPr>
          <a:xfrm>
            <a:off x="850320" y="2002680"/>
            <a:ext cx="1590840" cy="61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Batch GD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3" name="Shape 14"/>
          <p:cNvSpPr/>
          <p:nvPr/>
        </p:nvSpPr>
        <p:spPr>
          <a:xfrm>
            <a:off x="2468880" y="1965960"/>
            <a:ext cx="3017160" cy="685440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4" name="Text 15"/>
          <p:cNvSpPr/>
          <p:nvPr/>
        </p:nvSpPr>
        <p:spPr>
          <a:xfrm>
            <a:off x="2496240" y="2002680"/>
            <a:ext cx="2962440" cy="61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dataset inteiro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5" name="Shape 16"/>
          <p:cNvSpPr/>
          <p:nvPr/>
        </p:nvSpPr>
        <p:spPr>
          <a:xfrm>
            <a:off x="5486400" y="1965960"/>
            <a:ext cx="2102760" cy="685440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6" name="Text 17"/>
          <p:cNvSpPr/>
          <p:nvPr/>
        </p:nvSpPr>
        <p:spPr>
          <a:xfrm>
            <a:off x="5513760" y="2002680"/>
            <a:ext cx="2048040" cy="61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estável, mas caro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7" name="Shape 18"/>
          <p:cNvSpPr/>
          <p:nvPr/>
        </p:nvSpPr>
        <p:spPr>
          <a:xfrm>
            <a:off x="822960" y="2651760"/>
            <a:ext cx="1645560" cy="685440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8" name="Text 19"/>
          <p:cNvSpPr/>
          <p:nvPr/>
        </p:nvSpPr>
        <p:spPr>
          <a:xfrm>
            <a:off x="850320" y="2688480"/>
            <a:ext cx="1590840" cy="61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SGD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9" name="Shape 20"/>
          <p:cNvSpPr/>
          <p:nvPr/>
        </p:nvSpPr>
        <p:spPr>
          <a:xfrm>
            <a:off x="2468880" y="2651760"/>
            <a:ext cx="3017160" cy="685440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0" name="Text 21"/>
          <p:cNvSpPr/>
          <p:nvPr/>
        </p:nvSpPr>
        <p:spPr>
          <a:xfrm>
            <a:off x="2496240" y="2688480"/>
            <a:ext cx="2962440" cy="61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1 exemplo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1" name="Shape 22"/>
          <p:cNvSpPr/>
          <p:nvPr/>
        </p:nvSpPr>
        <p:spPr>
          <a:xfrm>
            <a:off x="5486400" y="2651760"/>
            <a:ext cx="2102760" cy="685440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2" name="Text 23"/>
          <p:cNvSpPr/>
          <p:nvPr/>
        </p:nvSpPr>
        <p:spPr>
          <a:xfrm>
            <a:off x="5513760" y="2688480"/>
            <a:ext cx="2048040" cy="61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barato, mas ruidoso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3" name="Shape 24"/>
          <p:cNvSpPr/>
          <p:nvPr/>
        </p:nvSpPr>
        <p:spPr>
          <a:xfrm>
            <a:off x="822960" y="3337560"/>
            <a:ext cx="1645560" cy="685440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4" name="Text 25"/>
          <p:cNvSpPr/>
          <p:nvPr/>
        </p:nvSpPr>
        <p:spPr>
          <a:xfrm>
            <a:off x="850320" y="3374280"/>
            <a:ext cx="1590840" cy="61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Mini-batch SGD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5" name="Shape 26"/>
          <p:cNvSpPr/>
          <p:nvPr/>
        </p:nvSpPr>
        <p:spPr>
          <a:xfrm>
            <a:off x="2468880" y="3337560"/>
            <a:ext cx="3017160" cy="685440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6" name="Text 27"/>
          <p:cNvSpPr/>
          <p:nvPr/>
        </p:nvSpPr>
        <p:spPr>
          <a:xfrm>
            <a:off x="2496240" y="3374280"/>
            <a:ext cx="2962440" cy="61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pequeno lote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7" name="Shape 28"/>
          <p:cNvSpPr/>
          <p:nvPr/>
        </p:nvSpPr>
        <p:spPr>
          <a:xfrm>
            <a:off x="5486400" y="3337560"/>
            <a:ext cx="2102760" cy="685440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8" name="Text 29"/>
          <p:cNvSpPr/>
          <p:nvPr/>
        </p:nvSpPr>
        <p:spPr>
          <a:xfrm>
            <a:off x="5513760" y="3374280"/>
            <a:ext cx="2048040" cy="61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equilíbrio prático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9" name="Shape 30"/>
          <p:cNvSpPr/>
          <p:nvPr/>
        </p:nvSpPr>
        <p:spPr>
          <a:xfrm>
            <a:off x="1143000" y="4709160"/>
            <a:ext cx="6126120" cy="6397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524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0" name="Text 31"/>
          <p:cNvSpPr/>
          <p:nvPr/>
        </p:nvSpPr>
        <p:spPr>
          <a:xfrm>
            <a:off x="1280160" y="4782240"/>
            <a:ext cx="585180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0B1F3A"/>
                </a:solidFill>
                <a:effectLst/>
                <a:uFillTx/>
                <a:latin typeface="Cambria Math"/>
                <a:ea typeface="Cambria Math"/>
              </a:rPr>
              <a:t>W ← W − η · média(gradientes do lote)</a:t>
            </a:r>
            <a:endParaRPr lang="pt-B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1" name="Shape 32"/>
          <p:cNvSpPr/>
          <p:nvPr/>
        </p:nvSpPr>
        <p:spPr>
          <a:xfrm>
            <a:off x="8412480" y="1508760"/>
            <a:ext cx="2102760" cy="59400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524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2" name="Text 33"/>
          <p:cNvSpPr/>
          <p:nvPr/>
        </p:nvSpPr>
        <p:spPr>
          <a:xfrm>
            <a:off x="8485560" y="1581840"/>
            <a:ext cx="1956600" cy="44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dados grandes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3" name="Shape 34"/>
          <p:cNvSpPr/>
          <p:nvPr/>
        </p:nvSpPr>
        <p:spPr>
          <a:xfrm>
            <a:off x="9464040" y="2240280"/>
            <a:ext cx="360" cy="731520"/>
          </a:xfrm>
          <a:prstGeom prst="line">
            <a:avLst/>
          </a:prstGeom>
          <a:ln w="19050">
            <a:solidFill>
              <a:srgbClr val="334155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4" name="Shape 35"/>
          <p:cNvSpPr/>
          <p:nvPr/>
        </p:nvSpPr>
        <p:spPr>
          <a:xfrm>
            <a:off x="8412480" y="3108960"/>
            <a:ext cx="2102760" cy="594000"/>
          </a:xfrm>
          <a:prstGeom prst="roundRect">
            <a:avLst>
              <a:gd name="adj" fmla="val 12308"/>
            </a:avLst>
          </a:prstGeom>
          <a:solidFill>
            <a:srgbClr val="EAF4FF"/>
          </a:solidFill>
          <a:ln w="1524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5" name="Text 36"/>
          <p:cNvSpPr/>
          <p:nvPr/>
        </p:nvSpPr>
        <p:spPr>
          <a:xfrm>
            <a:off x="8485560" y="3182040"/>
            <a:ext cx="1956600" cy="44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lotes β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6" name="Shape 37"/>
          <p:cNvSpPr/>
          <p:nvPr/>
        </p:nvSpPr>
        <p:spPr>
          <a:xfrm>
            <a:off x="9464040" y="3840480"/>
            <a:ext cx="360" cy="731520"/>
          </a:xfrm>
          <a:prstGeom prst="line">
            <a:avLst/>
          </a:prstGeom>
          <a:ln w="19050">
            <a:solidFill>
              <a:srgbClr val="334155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7" name="Shape 38"/>
          <p:cNvSpPr/>
          <p:nvPr/>
        </p:nvSpPr>
        <p:spPr>
          <a:xfrm>
            <a:off x="8412480" y="4709160"/>
            <a:ext cx="2102760" cy="68544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524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8" name="Text 39"/>
          <p:cNvSpPr/>
          <p:nvPr/>
        </p:nvSpPr>
        <p:spPr>
          <a:xfrm>
            <a:off x="8485560" y="4782240"/>
            <a:ext cx="1956600" cy="53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atualizações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frequentes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Shape 3"/>
          <p:cNvSpPr/>
          <p:nvPr/>
        </p:nvSpPr>
        <p:spPr>
          <a:xfrm>
            <a:off x="0" y="0"/>
            <a:ext cx="164160" cy="68576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0" name="Text 40"/>
          <p:cNvSpPr/>
          <p:nvPr/>
        </p:nvSpPr>
        <p:spPr>
          <a:xfrm>
            <a:off x="502920" y="511920"/>
            <a:ext cx="1078956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0B1F3A"/>
                </a:solidFill>
                <a:effectLst/>
                <a:uFillTx/>
                <a:latin typeface="Aptos Display"/>
                <a:ea typeface="Aptos Display"/>
              </a:rPr>
              <a:t>Vamos Descobrir um Modelo (Fómula) usando Regressão Linear em PYTHON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1" name="Text 43"/>
          <p:cNvSpPr/>
          <p:nvPr/>
        </p:nvSpPr>
        <p:spPr>
          <a:xfrm>
            <a:off x="502920" y="6446520"/>
            <a:ext cx="32000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Regressão Linear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2" name="Text 44"/>
          <p:cNvSpPr/>
          <p:nvPr/>
        </p:nvSpPr>
        <p:spPr>
          <a:xfrm>
            <a:off x="11247120" y="641916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19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3" name="Shape 90"/>
          <p:cNvSpPr/>
          <p:nvPr/>
        </p:nvSpPr>
        <p:spPr>
          <a:xfrm>
            <a:off x="533880" y="3780000"/>
            <a:ext cx="6126120" cy="6397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524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4" name="Text 57"/>
          <p:cNvSpPr/>
          <p:nvPr/>
        </p:nvSpPr>
        <p:spPr>
          <a:xfrm>
            <a:off x="671040" y="3853080"/>
            <a:ext cx="585180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2100" b="0" u="none" strike="noStrike">
                <a:solidFill>
                  <a:srgbClr val="0B1F3A"/>
                </a:solidFill>
                <a:effectLst/>
                <a:uFillTx/>
                <a:latin typeface="Cambria Math"/>
                <a:ea typeface="Cambria Math"/>
              </a:rPr>
              <a:t>Função da Biblioteca: </a:t>
            </a:r>
            <a:r>
              <a:rPr lang="en-US" sz="2100" b="0" u="none" strike="noStrike">
                <a:solidFill>
                  <a:srgbClr val="FF0000"/>
                </a:solidFill>
                <a:effectLst/>
                <a:uFillTx/>
                <a:latin typeface="Cambria Math"/>
                <a:ea typeface="Cambria Math"/>
              </a:rPr>
              <a:t>LinearRegression()</a:t>
            </a:r>
            <a:endParaRPr lang="pt-B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5" name="Shape 2"/>
          <p:cNvSpPr/>
          <p:nvPr/>
        </p:nvSpPr>
        <p:spPr>
          <a:xfrm>
            <a:off x="527760" y="2160000"/>
            <a:ext cx="6126120" cy="6397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524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6" name="Text 45"/>
          <p:cNvSpPr/>
          <p:nvPr/>
        </p:nvSpPr>
        <p:spPr>
          <a:xfrm>
            <a:off x="664920" y="2233080"/>
            <a:ext cx="585180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2100" b="0" u="none" strike="noStrike">
                <a:solidFill>
                  <a:srgbClr val="0B1F3A"/>
                </a:solidFill>
                <a:effectLst/>
                <a:uFillTx/>
                <a:latin typeface="Cambria Math"/>
                <a:ea typeface="Cambria Math"/>
              </a:rPr>
              <a:t>Biblioteca python: </a:t>
            </a:r>
            <a:r>
              <a:rPr lang="en-US" sz="2100" b="1" u="none" strike="noStrike">
                <a:solidFill>
                  <a:srgbClr val="3465A4"/>
                </a:solidFill>
                <a:effectLst/>
                <a:uFillTx/>
                <a:latin typeface="Cambria Math"/>
                <a:ea typeface="Cambria Math"/>
              </a:rPr>
              <a:t>sklearn</a:t>
            </a:r>
            <a:r>
              <a:rPr lang="en-US" sz="2100" b="0" u="none" strike="noStrike">
                <a:solidFill>
                  <a:srgbClr val="0B1F3A"/>
                </a:solidFill>
                <a:effectLst/>
                <a:uFillTx/>
                <a:latin typeface="Cambria Math"/>
                <a:ea typeface="Cambria Math"/>
              </a:rPr>
              <a:t> </a:t>
            </a:r>
            <a:endParaRPr lang="pt-B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7" name="Shape 4"/>
          <p:cNvSpPr/>
          <p:nvPr/>
        </p:nvSpPr>
        <p:spPr>
          <a:xfrm>
            <a:off x="540000" y="2960280"/>
            <a:ext cx="6126120" cy="6397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524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8" name="Text 46"/>
          <p:cNvSpPr/>
          <p:nvPr/>
        </p:nvSpPr>
        <p:spPr>
          <a:xfrm>
            <a:off x="677160" y="3033360"/>
            <a:ext cx="585180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0B1F3A"/>
                </a:solidFill>
                <a:effectLst/>
                <a:uFillTx/>
                <a:latin typeface="Cambria Math"/>
                <a:ea typeface="Cambria Math"/>
              </a:rPr>
              <a:t>Pacote da Biblioteca sklearn: </a:t>
            </a:r>
            <a:r>
              <a:rPr lang="en-US" sz="1800" b="1" u="none" strike="noStrike">
                <a:solidFill>
                  <a:srgbClr val="158466"/>
                </a:solidFill>
                <a:effectLst/>
                <a:uFillTx/>
                <a:latin typeface="Consolas"/>
                <a:ea typeface="Consolas"/>
              </a:rPr>
              <a:t>sklearn.linear_model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Shape 0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0" name="Shape 1"/>
          <p:cNvSpPr/>
          <p:nvPr/>
        </p:nvSpPr>
        <p:spPr>
          <a:xfrm>
            <a:off x="0" y="0"/>
            <a:ext cx="164160" cy="68576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1" name="Text 2"/>
          <p:cNvSpPr/>
          <p:nvPr/>
        </p:nvSpPr>
        <p:spPr>
          <a:xfrm>
            <a:off x="502920" y="255960"/>
            <a:ext cx="80463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2563EB"/>
                </a:solidFill>
                <a:effectLst/>
                <a:uFillTx/>
                <a:latin typeface="Aptos"/>
                <a:ea typeface="Aptos"/>
              </a:rPr>
              <a:t>MÃO NA MASSA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2" name="Text 3"/>
          <p:cNvSpPr/>
          <p:nvPr/>
        </p:nvSpPr>
        <p:spPr>
          <a:xfrm>
            <a:off x="502920" y="511920"/>
            <a:ext cx="1078956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0B1F3A"/>
                </a:solidFill>
                <a:effectLst/>
                <a:uFillTx/>
                <a:latin typeface="Aptos Display"/>
                <a:ea typeface="Aptos Display"/>
              </a:rPr>
              <a:t>Parte III — Mini-laboratório em Python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3" name="Text 4"/>
          <p:cNvSpPr/>
          <p:nvPr/>
        </p:nvSpPr>
        <p:spPr>
          <a:xfrm>
            <a:off x="502920" y="6446520"/>
            <a:ext cx="32000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Regressão Linear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4" name="Text 5"/>
          <p:cNvSpPr/>
          <p:nvPr/>
        </p:nvSpPr>
        <p:spPr>
          <a:xfrm>
            <a:off x="11247120" y="641916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20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5" name="Text 6"/>
          <p:cNvSpPr/>
          <p:nvPr/>
        </p:nvSpPr>
        <p:spPr>
          <a:xfrm>
            <a:off x="822960" y="1143000"/>
            <a:ext cx="98751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Objetivo: ajustar uma reta para prever preço a partir da área.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6" name="Shape 7"/>
          <p:cNvSpPr/>
          <p:nvPr/>
        </p:nvSpPr>
        <p:spPr>
          <a:xfrm>
            <a:off x="868680" y="1783080"/>
            <a:ext cx="6871320" cy="4160160"/>
          </a:xfrm>
          <a:prstGeom prst="roundRect">
            <a:avLst>
              <a:gd name="adj" fmla="val 1758"/>
            </a:avLst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7" name="Text 8"/>
          <p:cNvSpPr/>
          <p:nvPr/>
        </p:nvSpPr>
        <p:spPr>
          <a:xfrm>
            <a:off x="1097280" y="1993320"/>
            <a:ext cx="6462720" cy="370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15000"/>
              </a:lnSpc>
              <a:spcBef>
                <a:spcPts val="624"/>
              </a:spcBef>
              <a:spcAft>
                <a:spcPts val="425"/>
              </a:spcAft>
              <a:tabLst>
                <a:tab pos="0" algn="l"/>
              </a:tabLst>
            </a:pPr>
            <a:r>
              <a:rPr lang="en-US" sz="1220" b="0" u="none" strike="noStrike">
                <a:solidFill>
                  <a:srgbClr val="E5E7EB"/>
                </a:solidFill>
                <a:effectLst/>
                <a:uFillTx/>
                <a:latin typeface="Consolas"/>
                <a:ea typeface="Consolas"/>
              </a:rPr>
              <a:t>import numpy as npfrom sklearn.linear_model </a:t>
            </a:r>
            <a:endParaRPr lang="pt-BR" sz="12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spcBef>
                <a:spcPts val="624"/>
              </a:spcBef>
              <a:spcAft>
                <a:spcPts val="425"/>
              </a:spcAft>
              <a:tabLst>
                <a:tab pos="0" algn="l"/>
              </a:tabLst>
            </a:pPr>
            <a:r>
              <a:rPr lang="en-US" sz="1220" b="0" u="none" strike="noStrike">
                <a:solidFill>
                  <a:srgbClr val="E5E7EB"/>
                </a:solidFill>
                <a:effectLst/>
                <a:uFillTx/>
                <a:latin typeface="Consolas"/>
                <a:ea typeface="Consolas"/>
              </a:rPr>
              <a:t>import LinearRegression</a:t>
            </a:r>
            <a:endParaRPr lang="pt-BR" sz="12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spcBef>
                <a:spcPts val="624"/>
              </a:spcBef>
              <a:spcAft>
                <a:spcPts val="425"/>
              </a:spcAft>
              <a:tabLst>
                <a:tab pos="0" algn="l"/>
              </a:tabLst>
            </a:pPr>
            <a:r>
              <a:rPr lang="en-US" sz="1220" b="0" u="none" strike="noStrike">
                <a:solidFill>
                  <a:srgbClr val="E5E7EB"/>
                </a:solidFill>
                <a:effectLst/>
                <a:uFillTx/>
                <a:latin typeface="Consolas"/>
                <a:ea typeface="Consolas"/>
              </a:rPr>
              <a:t>X = np.array([[40], [50], [60], [70], [80]])</a:t>
            </a:r>
            <a:endParaRPr lang="pt-BR" sz="12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spcBef>
                <a:spcPts val="624"/>
              </a:spcBef>
              <a:spcAft>
                <a:spcPts val="425"/>
              </a:spcAft>
              <a:tabLst>
                <a:tab pos="0" algn="l"/>
              </a:tabLst>
            </a:pPr>
            <a:r>
              <a:rPr lang="en-US" sz="1220" b="0" u="none" strike="noStrike">
                <a:solidFill>
                  <a:srgbClr val="E5E7EB"/>
                </a:solidFill>
                <a:effectLst/>
                <a:uFillTx/>
                <a:latin typeface="Consolas"/>
                <a:ea typeface="Consolas"/>
              </a:rPr>
              <a:t>y = np.array([220, 260, 310, 350, 410])</a:t>
            </a:r>
            <a:endParaRPr lang="pt-BR" sz="12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spcBef>
                <a:spcPts val="624"/>
              </a:spcBef>
              <a:spcAft>
                <a:spcPts val="425"/>
              </a:spcAft>
              <a:tabLst>
                <a:tab pos="0" algn="l"/>
              </a:tabLst>
            </a:pPr>
            <a:r>
              <a:rPr lang="en-US" sz="1220" b="0" u="none" strike="noStrike">
                <a:solidFill>
                  <a:srgbClr val="E5E7EB"/>
                </a:solidFill>
                <a:effectLst/>
                <a:uFillTx/>
                <a:latin typeface="Consolas"/>
                <a:ea typeface="Consolas"/>
              </a:rPr>
              <a:t>modelo = LinearRegression()modelo.fit(X, y)</a:t>
            </a:r>
            <a:endParaRPr lang="pt-BR" sz="12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spcBef>
                <a:spcPts val="624"/>
              </a:spcBef>
              <a:spcAft>
                <a:spcPts val="425"/>
              </a:spcAft>
              <a:tabLst>
                <a:tab pos="0" algn="l"/>
              </a:tabLst>
            </a:pPr>
            <a:r>
              <a:rPr lang="en-US" sz="1220" b="0" u="none" strike="noStrike">
                <a:solidFill>
                  <a:srgbClr val="E5E7EB"/>
                </a:solidFill>
                <a:effectLst/>
                <a:uFillTx/>
                <a:latin typeface="Consolas"/>
                <a:ea typeface="Consolas"/>
              </a:rPr>
              <a:t>print("O valor de X é: ",modelo.coef_)</a:t>
            </a:r>
            <a:endParaRPr lang="pt-BR" sz="12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spcBef>
                <a:spcPts val="624"/>
              </a:spcBef>
              <a:spcAft>
                <a:spcPts val="425"/>
              </a:spcAft>
              <a:tabLst>
                <a:tab pos="0" algn="l"/>
              </a:tabLst>
            </a:pPr>
            <a:r>
              <a:rPr lang="en-US" sz="1220" b="0" u="none" strike="noStrike">
                <a:solidFill>
                  <a:srgbClr val="E5E7EB"/>
                </a:solidFill>
                <a:effectLst/>
                <a:uFillTx/>
                <a:latin typeface="Consolas"/>
                <a:ea typeface="Consolas"/>
              </a:rPr>
              <a:t>print(f"Qunado X vale 65, a saida vale: {modelo.predict([[65]])}")</a:t>
            </a:r>
            <a:endParaRPr lang="pt-BR" sz="12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spcBef>
                <a:spcPts val="624"/>
              </a:spcBef>
              <a:spcAft>
                <a:spcPts val="425"/>
              </a:spcAft>
              <a:tabLst>
                <a:tab pos="0" algn="l"/>
              </a:tabLst>
            </a:pPr>
            <a:r>
              <a:rPr lang="en-US" sz="1220" b="0" u="none" strike="noStrike">
                <a:solidFill>
                  <a:srgbClr val="E5E7EB"/>
                </a:solidFill>
                <a:effectLst/>
                <a:uFillTx/>
                <a:latin typeface="Consolas"/>
                <a:ea typeface="Consolas"/>
              </a:rPr>
              <a:t>print(f" A reta cruza toca o eixo X quando X val {modelo.intercept_}") </a:t>
            </a:r>
            <a:endParaRPr lang="pt-BR" sz="12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8" name="Shape 9"/>
          <p:cNvSpPr/>
          <p:nvPr/>
        </p:nvSpPr>
        <p:spPr>
          <a:xfrm>
            <a:off x="7818120" y="1874520"/>
            <a:ext cx="2468520" cy="731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9" name="Text 10"/>
          <p:cNvSpPr/>
          <p:nvPr/>
        </p:nvSpPr>
        <p:spPr>
          <a:xfrm>
            <a:off x="7891200" y="1947600"/>
            <a:ext cx="232236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1. Treinar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fit(X,y)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0" name="Shape 11"/>
          <p:cNvSpPr/>
          <p:nvPr/>
        </p:nvSpPr>
        <p:spPr>
          <a:xfrm>
            <a:off x="7818120" y="3063240"/>
            <a:ext cx="2468520" cy="731160"/>
          </a:xfrm>
          <a:prstGeom prst="roundRect">
            <a:avLst>
              <a:gd name="adj" fmla="val 10000"/>
            </a:avLst>
          </a:prstGeom>
          <a:solidFill>
            <a:srgbClr val="EAF4FF"/>
          </a:solidFill>
          <a:ln w="1524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1" name="Text 12"/>
          <p:cNvSpPr/>
          <p:nvPr/>
        </p:nvSpPr>
        <p:spPr>
          <a:xfrm>
            <a:off x="7891200" y="3136320"/>
            <a:ext cx="232236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 fontScale="92500" lnSpcReduction="9999"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2. Ler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W → </a:t>
            </a:r>
            <a:r>
              <a:rPr lang="en-US" sz="15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coef_ 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B → </a:t>
            </a:r>
            <a:r>
              <a:rPr lang="en-US" sz="15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intercept_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2" name="Shape 13"/>
          <p:cNvSpPr/>
          <p:nvPr/>
        </p:nvSpPr>
        <p:spPr>
          <a:xfrm>
            <a:off x="7818120" y="4251960"/>
            <a:ext cx="2468520" cy="731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3" name="Text 14"/>
          <p:cNvSpPr/>
          <p:nvPr/>
        </p:nvSpPr>
        <p:spPr>
          <a:xfrm>
            <a:off x="7891200" y="4325040"/>
            <a:ext cx="232236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3. Predizer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3465A4"/>
                </a:solidFill>
                <a:effectLst/>
                <a:uFillTx/>
                <a:latin typeface="Aptos"/>
              </a:rPr>
              <a:t>predict([[65]])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Shape 80"/>
          <p:cNvSpPr/>
          <p:nvPr/>
        </p:nvSpPr>
        <p:spPr>
          <a:xfrm>
            <a:off x="0" y="0"/>
            <a:ext cx="164160" cy="68576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5" name="Text 38"/>
          <p:cNvSpPr/>
          <p:nvPr/>
        </p:nvSpPr>
        <p:spPr>
          <a:xfrm>
            <a:off x="502920" y="255960"/>
            <a:ext cx="80463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2563EB"/>
                </a:solidFill>
                <a:effectLst/>
                <a:uFillTx/>
                <a:latin typeface="Aptos"/>
                <a:ea typeface="Aptos"/>
              </a:rPr>
              <a:t>MÃO NA MASSA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6" name="Text 47"/>
          <p:cNvSpPr/>
          <p:nvPr/>
        </p:nvSpPr>
        <p:spPr>
          <a:xfrm>
            <a:off x="502920" y="511920"/>
            <a:ext cx="1078956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0B1F3A"/>
                </a:solidFill>
                <a:effectLst/>
                <a:uFillTx/>
                <a:latin typeface="Aptos Display"/>
                <a:ea typeface="Aptos Display"/>
              </a:rPr>
              <a:t>Parte III — Mini-laboratório em Python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7" name="Text 48"/>
          <p:cNvSpPr/>
          <p:nvPr/>
        </p:nvSpPr>
        <p:spPr>
          <a:xfrm>
            <a:off x="502920" y="6446520"/>
            <a:ext cx="32000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Regressão Linear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8" name="Text 49"/>
          <p:cNvSpPr/>
          <p:nvPr/>
        </p:nvSpPr>
        <p:spPr>
          <a:xfrm>
            <a:off x="11247120" y="641916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20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9" name="Text 50"/>
          <p:cNvSpPr/>
          <p:nvPr/>
        </p:nvSpPr>
        <p:spPr>
          <a:xfrm>
            <a:off x="822960" y="1143000"/>
            <a:ext cx="9875160" cy="11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Use o Google Colab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https://colab.research.google.com/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0" name="Shape 82"/>
          <p:cNvSpPr/>
          <p:nvPr/>
        </p:nvSpPr>
        <p:spPr>
          <a:xfrm>
            <a:off x="9051480" y="2700000"/>
            <a:ext cx="2468520" cy="731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1" name="Text 52"/>
          <p:cNvSpPr/>
          <p:nvPr/>
        </p:nvSpPr>
        <p:spPr>
          <a:xfrm>
            <a:off x="9124560" y="2773080"/>
            <a:ext cx="232236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1. Treinar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fit(X,y)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2" name="Shape 83"/>
          <p:cNvSpPr/>
          <p:nvPr/>
        </p:nvSpPr>
        <p:spPr>
          <a:xfrm>
            <a:off x="9051480" y="3888720"/>
            <a:ext cx="2468520" cy="731160"/>
          </a:xfrm>
          <a:prstGeom prst="roundRect">
            <a:avLst>
              <a:gd name="adj" fmla="val 10000"/>
            </a:avLst>
          </a:prstGeom>
          <a:solidFill>
            <a:srgbClr val="EAF4FF"/>
          </a:solidFill>
          <a:ln w="1524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3" name="Text 53"/>
          <p:cNvSpPr/>
          <p:nvPr/>
        </p:nvSpPr>
        <p:spPr>
          <a:xfrm>
            <a:off x="9124560" y="3961800"/>
            <a:ext cx="232236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 fontScale="92500" lnSpcReduction="9999"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2. Ler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W → </a:t>
            </a:r>
            <a:r>
              <a:rPr lang="en-US" sz="15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coef_ 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B → </a:t>
            </a:r>
            <a:r>
              <a:rPr lang="en-US" sz="15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intercept_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4" name="Shape 84"/>
          <p:cNvSpPr/>
          <p:nvPr/>
        </p:nvSpPr>
        <p:spPr>
          <a:xfrm>
            <a:off x="9051480" y="5077440"/>
            <a:ext cx="2468520" cy="731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5" name="Text 54"/>
          <p:cNvSpPr/>
          <p:nvPr/>
        </p:nvSpPr>
        <p:spPr>
          <a:xfrm>
            <a:off x="9124560" y="5150520"/>
            <a:ext cx="232236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3. Predizer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3465A4"/>
                </a:solidFill>
                <a:effectLst/>
                <a:uFillTx/>
                <a:latin typeface="Aptos"/>
              </a:rPr>
              <a:t>predict([[65]])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Shape 0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7" name="Shape 1"/>
          <p:cNvSpPr/>
          <p:nvPr/>
        </p:nvSpPr>
        <p:spPr>
          <a:xfrm>
            <a:off x="0" y="0"/>
            <a:ext cx="164160" cy="68576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8" name="Text 2"/>
          <p:cNvSpPr/>
          <p:nvPr/>
        </p:nvSpPr>
        <p:spPr>
          <a:xfrm>
            <a:off x="502920" y="255960"/>
            <a:ext cx="80463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2563EB"/>
                </a:solidFill>
                <a:effectLst/>
                <a:uFillTx/>
                <a:latin typeface="Aptos"/>
                <a:ea typeface="Aptos"/>
              </a:rPr>
              <a:t>APLICAÇÃO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9" name="Text 3"/>
          <p:cNvSpPr/>
          <p:nvPr/>
        </p:nvSpPr>
        <p:spPr>
          <a:xfrm>
            <a:off x="502920" y="511920"/>
            <a:ext cx="1078956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0B1F3A"/>
                </a:solidFill>
                <a:effectLst/>
                <a:uFillTx/>
                <a:latin typeface="Aptos Display"/>
                <a:ea typeface="Aptos Display"/>
              </a:rPr>
              <a:t>Exercício em sala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0" name="Text 4"/>
          <p:cNvSpPr/>
          <p:nvPr/>
        </p:nvSpPr>
        <p:spPr>
          <a:xfrm>
            <a:off x="502920" y="6446520"/>
            <a:ext cx="32000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Regressão Linear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1" name="Text 5"/>
          <p:cNvSpPr/>
          <p:nvPr/>
        </p:nvSpPr>
        <p:spPr>
          <a:xfrm>
            <a:off x="11247120" y="641916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21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2" name="Text 6"/>
          <p:cNvSpPr/>
          <p:nvPr/>
        </p:nvSpPr>
        <p:spPr>
          <a:xfrm>
            <a:off x="822960" y="1143000"/>
            <a:ext cx="102409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 fontScale="77500" lnSpcReduction="19999"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Use os dados abaixo para treinar uma regressão linear e prever a nota de quem estudou 6 horas.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3" name="Shape 7"/>
          <p:cNvSpPr/>
          <p:nvPr/>
        </p:nvSpPr>
        <p:spPr>
          <a:xfrm>
            <a:off x="1005840" y="2011680"/>
            <a:ext cx="1554120" cy="525600"/>
          </a:xfrm>
          <a:prstGeom prst="rect">
            <a:avLst/>
          </a:prstGeom>
          <a:solidFill>
            <a:srgbClr val="EAF4FF"/>
          </a:solidFill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4" name="Text 8"/>
          <p:cNvSpPr/>
          <p:nvPr/>
        </p:nvSpPr>
        <p:spPr>
          <a:xfrm>
            <a:off x="1033200" y="2048400"/>
            <a:ext cx="1499400" cy="45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Horas estudadas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5" name="Shape 9"/>
          <p:cNvSpPr/>
          <p:nvPr/>
        </p:nvSpPr>
        <p:spPr>
          <a:xfrm>
            <a:off x="2560320" y="2011680"/>
            <a:ext cx="822600" cy="525600"/>
          </a:xfrm>
          <a:prstGeom prst="rect">
            <a:avLst/>
          </a:prstGeom>
          <a:solidFill>
            <a:srgbClr val="EAF4FF"/>
          </a:solidFill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6" name="Text 10"/>
          <p:cNvSpPr/>
          <p:nvPr/>
        </p:nvSpPr>
        <p:spPr>
          <a:xfrm>
            <a:off x="2587680" y="2048400"/>
            <a:ext cx="767880" cy="45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1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7" name="Shape 11"/>
          <p:cNvSpPr/>
          <p:nvPr/>
        </p:nvSpPr>
        <p:spPr>
          <a:xfrm>
            <a:off x="3383280" y="2011680"/>
            <a:ext cx="822600" cy="525600"/>
          </a:xfrm>
          <a:prstGeom prst="rect">
            <a:avLst/>
          </a:prstGeom>
          <a:solidFill>
            <a:srgbClr val="EAF4FF"/>
          </a:solidFill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8" name="Text 12"/>
          <p:cNvSpPr/>
          <p:nvPr/>
        </p:nvSpPr>
        <p:spPr>
          <a:xfrm>
            <a:off x="3410640" y="2048400"/>
            <a:ext cx="767880" cy="45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2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9" name="Shape 13"/>
          <p:cNvSpPr/>
          <p:nvPr/>
        </p:nvSpPr>
        <p:spPr>
          <a:xfrm>
            <a:off x="4206240" y="2011680"/>
            <a:ext cx="822600" cy="525600"/>
          </a:xfrm>
          <a:prstGeom prst="rect">
            <a:avLst/>
          </a:prstGeom>
          <a:solidFill>
            <a:srgbClr val="EAF4FF"/>
          </a:solidFill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0" name="Text 14"/>
          <p:cNvSpPr/>
          <p:nvPr/>
        </p:nvSpPr>
        <p:spPr>
          <a:xfrm>
            <a:off x="4233600" y="2048400"/>
            <a:ext cx="767880" cy="45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3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1" name="Shape 15"/>
          <p:cNvSpPr/>
          <p:nvPr/>
        </p:nvSpPr>
        <p:spPr>
          <a:xfrm>
            <a:off x="5029200" y="2011680"/>
            <a:ext cx="822600" cy="525600"/>
          </a:xfrm>
          <a:prstGeom prst="rect">
            <a:avLst/>
          </a:prstGeom>
          <a:solidFill>
            <a:srgbClr val="EAF4FF"/>
          </a:solidFill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2" name="Text 16"/>
          <p:cNvSpPr/>
          <p:nvPr/>
        </p:nvSpPr>
        <p:spPr>
          <a:xfrm>
            <a:off x="5056560" y="2048400"/>
            <a:ext cx="767880" cy="45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4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3" name="Shape 17"/>
          <p:cNvSpPr/>
          <p:nvPr/>
        </p:nvSpPr>
        <p:spPr>
          <a:xfrm>
            <a:off x="5852160" y="2011680"/>
            <a:ext cx="822600" cy="525600"/>
          </a:xfrm>
          <a:prstGeom prst="rect">
            <a:avLst/>
          </a:prstGeom>
          <a:solidFill>
            <a:srgbClr val="EAF4FF"/>
          </a:solidFill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4" name="Text 18"/>
          <p:cNvSpPr/>
          <p:nvPr/>
        </p:nvSpPr>
        <p:spPr>
          <a:xfrm>
            <a:off x="5879520" y="2048400"/>
            <a:ext cx="767880" cy="45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5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5" name="Shape 19"/>
          <p:cNvSpPr/>
          <p:nvPr/>
        </p:nvSpPr>
        <p:spPr>
          <a:xfrm>
            <a:off x="1005840" y="2537640"/>
            <a:ext cx="1554120" cy="525600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6" name="Text 20"/>
          <p:cNvSpPr/>
          <p:nvPr/>
        </p:nvSpPr>
        <p:spPr>
          <a:xfrm>
            <a:off x="1033200" y="2574000"/>
            <a:ext cx="1499400" cy="45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Nota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7" name="Shape 21"/>
          <p:cNvSpPr/>
          <p:nvPr/>
        </p:nvSpPr>
        <p:spPr>
          <a:xfrm>
            <a:off x="2560320" y="2537640"/>
            <a:ext cx="822600" cy="525600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8" name="Text 22"/>
          <p:cNvSpPr/>
          <p:nvPr/>
        </p:nvSpPr>
        <p:spPr>
          <a:xfrm>
            <a:off x="2587680" y="2574000"/>
            <a:ext cx="767880" cy="45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2.0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9" name="Shape 23"/>
          <p:cNvSpPr/>
          <p:nvPr/>
        </p:nvSpPr>
        <p:spPr>
          <a:xfrm>
            <a:off x="3383280" y="2537640"/>
            <a:ext cx="822600" cy="525600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0" name="Text 24"/>
          <p:cNvSpPr/>
          <p:nvPr/>
        </p:nvSpPr>
        <p:spPr>
          <a:xfrm>
            <a:off x="3410640" y="2574000"/>
            <a:ext cx="767880" cy="45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3.5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1" name="Shape 25"/>
          <p:cNvSpPr/>
          <p:nvPr/>
        </p:nvSpPr>
        <p:spPr>
          <a:xfrm>
            <a:off x="4206240" y="2537640"/>
            <a:ext cx="822600" cy="525600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2" name="Text 26"/>
          <p:cNvSpPr/>
          <p:nvPr/>
        </p:nvSpPr>
        <p:spPr>
          <a:xfrm>
            <a:off x="4233600" y="2574000"/>
            <a:ext cx="767880" cy="45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5.1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3" name="Shape 27"/>
          <p:cNvSpPr/>
          <p:nvPr/>
        </p:nvSpPr>
        <p:spPr>
          <a:xfrm>
            <a:off x="5029200" y="2537640"/>
            <a:ext cx="822600" cy="525600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4" name="Text 28"/>
          <p:cNvSpPr/>
          <p:nvPr/>
        </p:nvSpPr>
        <p:spPr>
          <a:xfrm>
            <a:off x="5056560" y="2574000"/>
            <a:ext cx="767880" cy="45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6.8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5" name="Shape 29"/>
          <p:cNvSpPr/>
          <p:nvPr/>
        </p:nvSpPr>
        <p:spPr>
          <a:xfrm>
            <a:off x="5852160" y="2537640"/>
            <a:ext cx="822600" cy="525600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6" name="Text 30"/>
          <p:cNvSpPr/>
          <p:nvPr/>
        </p:nvSpPr>
        <p:spPr>
          <a:xfrm>
            <a:off x="5879520" y="2574000"/>
            <a:ext cx="767880" cy="45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8.0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7" name="Shape 31"/>
          <p:cNvSpPr/>
          <p:nvPr/>
        </p:nvSpPr>
        <p:spPr>
          <a:xfrm>
            <a:off x="1005840" y="3886200"/>
            <a:ext cx="2742840" cy="86832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24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8" name="Text 32"/>
          <p:cNvSpPr/>
          <p:nvPr/>
        </p:nvSpPr>
        <p:spPr>
          <a:xfrm>
            <a:off x="1078920" y="3959280"/>
            <a:ext cx="2596680" cy="72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Tarefa 1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Faça o gráfico de dispersão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9" name="Shape 33"/>
          <p:cNvSpPr/>
          <p:nvPr/>
        </p:nvSpPr>
        <p:spPr>
          <a:xfrm>
            <a:off x="4617720" y="3886200"/>
            <a:ext cx="2742840" cy="868320"/>
          </a:xfrm>
          <a:prstGeom prst="roundRect">
            <a:avLst>
              <a:gd name="adj" fmla="val 8421"/>
            </a:avLst>
          </a:prstGeom>
          <a:solidFill>
            <a:srgbClr val="EAF4FF"/>
          </a:solidFill>
          <a:ln w="1524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0" name="Text 34"/>
          <p:cNvSpPr/>
          <p:nvPr/>
        </p:nvSpPr>
        <p:spPr>
          <a:xfrm>
            <a:off x="4690800" y="3959280"/>
            <a:ext cx="2596680" cy="72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Tarefa 2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Ajuste o modelo linear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1" name="Shape 35"/>
          <p:cNvSpPr/>
          <p:nvPr/>
        </p:nvSpPr>
        <p:spPr>
          <a:xfrm>
            <a:off x="8229600" y="3886200"/>
            <a:ext cx="2742840" cy="86832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24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2" name="Text 36"/>
          <p:cNvSpPr/>
          <p:nvPr/>
        </p:nvSpPr>
        <p:spPr>
          <a:xfrm>
            <a:off x="8302680" y="3959280"/>
            <a:ext cx="2596680" cy="72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Tarefa 3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Interprete w, b e a previsão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3" name="Text 37"/>
          <p:cNvSpPr/>
          <p:nvPr/>
        </p:nvSpPr>
        <p:spPr>
          <a:xfrm>
            <a:off x="1371600" y="5760720"/>
            <a:ext cx="95094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563EB"/>
                </a:solidFill>
                <a:effectLst/>
                <a:uFillTx/>
                <a:latin typeface="Aptos"/>
              </a:rPr>
              <a:t>Discussão: a previsão é confiável fora do intervalo observado?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Shape 0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5" name="Shape 1"/>
          <p:cNvSpPr/>
          <p:nvPr/>
        </p:nvSpPr>
        <p:spPr>
          <a:xfrm>
            <a:off x="0" y="0"/>
            <a:ext cx="164160" cy="68576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6" name="Text 2"/>
          <p:cNvSpPr/>
          <p:nvPr/>
        </p:nvSpPr>
        <p:spPr>
          <a:xfrm>
            <a:off x="502920" y="255960"/>
            <a:ext cx="80463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2563EB"/>
                </a:solidFill>
                <a:effectLst/>
                <a:uFillTx/>
                <a:latin typeface="Aptos"/>
                <a:ea typeface="Aptos"/>
              </a:rPr>
              <a:t>FECHAMENTO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7" name="Text 3"/>
          <p:cNvSpPr/>
          <p:nvPr/>
        </p:nvSpPr>
        <p:spPr>
          <a:xfrm>
            <a:off x="502920" y="511920"/>
            <a:ext cx="1078956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0B1F3A"/>
                </a:solidFill>
                <a:effectLst/>
                <a:uFillTx/>
                <a:latin typeface="Aptos Display"/>
                <a:ea typeface="Aptos Display"/>
              </a:rPr>
              <a:t>Resumo final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8" name="Text 4"/>
          <p:cNvSpPr/>
          <p:nvPr/>
        </p:nvSpPr>
        <p:spPr>
          <a:xfrm>
            <a:off x="502920" y="6446520"/>
            <a:ext cx="32000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Regressão Linear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9" name="Text 5"/>
          <p:cNvSpPr/>
          <p:nvPr/>
        </p:nvSpPr>
        <p:spPr>
          <a:xfrm>
            <a:off x="11247120" y="641916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22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0" name="Shape 6"/>
          <p:cNvSpPr/>
          <p:nvPr/>
        </p:nvSpPr>
        <p:spPr>
          <a:xfrm>
            <a:off x="914400" y="1234440"/>
            <a:ext cx="3017160" cy="52992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524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1" name="Text 7"/>
          <p:cNvSpPr/>
          <p:nvPr/>
        </p:nvSpPr>
        <p:spPr>
          <a:xfrm>
            <a:off x="987480" y="1307520"/>
            <a:ext cx="28710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Função conhecida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2" name="Shape 8"/>
          <p:cNvSpPr/>
          <p:nvPr/>
        </p:nvSpPr>
        <p:spPr>
          <a:xfrm>
            <a:off x="4572000" y="1234440"/>
            <a:ext cx="4297320" cy="52992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524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3" name="Text 9"/>
          <p:cNvSpPr/>
          <p:nvPr/>
        </p:nvSpPr>
        <p:spPr>
          <a:xfrm>
            <a:off x="4709160" y="1307520"/>
            <a:ext cx="40230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0B1F3A"/>
                </a:solidFill>
                <a:effectLst/>
                <a:uFillTx/>
                <a:latin typeface="Cambria Math"/>
                <a:ea typeface="Cambria Math"/>
              </a:rPr>
              <a:t>x + f → y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4" name="Shape 10"/>
          <p:cNvSpPr/>
          <p:nvPr/>
        </p:nvSpPr>
        <p:spPr>
          <a:xfrm>
            <a:off x="914400" y="2057400"/>
            <a:ext cx="3017160" cy="52992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524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5" name="Text 11"/>
          <p:cNvSpPr/>
          <p:nvPr/>
        </p:nvSpPr>
        <p:spPr>
          <a:xfrm>
            <a:off x="987480" y="2130480"/>
            <a:ext cx="28710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Machine Learning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6" name="Shape 12"/>
          <p:cNvSpPr/>
          <p:nvPr/>
        </p:nvSpPr>
        <p:spPr>
          <a:xfrm>
            <a:off x="4572000" y="2057400"/>
            <a:ext cx="4297320" cy="52992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524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7" name="Text 13"/>
          <p:cNvSpPr/>
          <p:nvPr/>
        </p:nvSpPr>
        <p:spPr>
          <a:xfrm>
            <a:off x="4709160" y="2130480"/>
            <a:ext cx="40230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0B1F3A"/>
                </a:solidFill>
                <a:effectLst/>
                <a:uFillTx/>
                <a:latin typeface="Cambria Math"/>
                <a:ea typeface="Cambria Math"/>
              </a:rPr>
              <a:t>X + Y → modelo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8" name="Shape 14"/>
          <p:cNvSpPr/>
          <p:nvPr/>
        </p:nvSpPr>
        <p:spPr>
          <a:xfrm>
            <a:off x="914400" y="2880360"/>
            <a:ext cx="3017160" cy="529920"/>
          </a:xfrm>
          <a:prstGeom prst="roundRect">
            <a:avLst>
              <a:gd name="adj" fmla="val 13793"/>
            </a:avLst>
          </a:prstGeom>
          <a:solidFill>
            <a:srgbClr val="EAF4FF"/>
          </a:solidFill>
          <a:ln w="1524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9" name="Text 15"/>
          <p:cNvSpPr/>
          <p:nvPr/>
        </p:nvSpPr>
        <p:spPr>
          <a:xfrm>
            <a:off x="987480" y="2953440"/>
            <a:ext cx="28710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Regressão Linear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0" name="Shape 16"/>
          <p:cNvSpPr/>
          <p:nvPr/>
        </p:nvSpPr>
        <p:spPr>
          <a:xfrm>
            <a:off x="4572000" y="2880360"/>
            <a:ext cx="4297320" cy="52992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524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1" name="Text 17"/>
          <p:cNvSpPr/>
          <p:nvPr/>
        </p:nvSpPr>
        <p:spPr>
          <a:xfrm>
            <a:off x="4709160" y="2953440"/>
            <a:ext cx="40230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0B1F3A"/>
                </a:solidFill>
                <a:effectLst/>
                <a:uFillTx/>
                <a:latin typeface="Cambria Math"/>
                <a:ea typeface="Cambria Math"/>
              </a:rPr>
              <a:t>ŷ = wx + b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2" name="Shape 18"/>
          <p:cNvSpPr/>
          <p:nvPr/>
        </p:nvSpPr>
        <p:spPr>
          <a:xfrm>
            <a:off x="914400" y="3703320"/>
            <a:ext cx="3017160" cy="52992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524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3" name="Text 19"/>
          <p:cNvSpPr/>
          <p:nvPr/>
        </p:nvSpPr>
        <p:spPr>
          <a:xfrm>
            <a:off x="987480" y="3776400"/>
            <a:ext cx="28710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Treinamento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4" name="Shape 20"/>
          <p:cNvSpPr/>
          <p:nvPr/>
        </p:nvSpPr>
        <p:spPr>
          <a:xfrm>
            <a:off x="4572000" y="3703320"/>
            <a:ext cx="4297320" cy="52992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524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5" name="Text 21"/>
          <p:cNvSpPr/>
          <p:nvPr/>
        </p:nvSpPr>
        <p:spPr>
          <a:xfrm>
            <a:off x="4709160" y="3776400"/>
            <a:ext cx="40230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0B1F3A"/>
                </a:solidFill>
                <a:effectLst/>
                <a:uFillTx/>
                <a:latin typeface="Cambria Math"/>
                <a:ea typeface="Cambria Math"/>
              </a:rPr>
              <a:t>minimizar erro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6" name="Shape 22"/>
          <p:cNvSpPr/>
          <p:nvPr/>
        </p:nvSpPr>
        <p:spPr>
          <a:xfrm>
            <a:off x="914400" y="4526280"/>
            <a:ext cx="3017160" cy="52992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524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7" name="Text 23"/>
          <p:cNvSpPr/>
          <p:nvPr/>
        </p:nvSpPr>
        <p:spPr>
          <a:xfrm>
            <a:off x="987480" y="4599360"/>
            <a:ext cx="28710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Otimização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8" name="Shape 24"/>
          <p:cNvSpPr/>
          <p:nvPr/>
        </p:nvSpPr>
        <p:spPr>
          <a:xfrm>
            <a:off x="4572000" y="4526280"/>
            <a:ext cx="4297320" cy="52992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524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9" name="Text 25"/>
          <p:cNvSpPr/>
          <p:nvPr/>
        </p:nvSpPr>
        <p:spPr>
          <a:xfrm>
            <a:off x="4709160" y="4599360"/>
            <a:ext cx="40230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0B1F3A"/>
                </a:solidFill>
                <a:effectLst/>
                <a:uFillTx/>
                <a:latin typeface="Cambria Math"/>
                <a:ea typeface="Cambria Math"/>
              </a:rPr>
              <a:t>OLS, GD ou SGD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0" name="Text 26"/>
          <p:cNvSpPr/>
          <p:nvPr/>
        </p:nvSpPr>
        <p:spPr>
          <a:xfrm>
            <a:off x="1005840" y="5806440"/>
            <a:ext cx="98751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 fontScale="70000" lnSpcReduction="19999"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B1F3A"/>
                </a:solidFill>
                <a:effectLst/>
                <a:uFillTx/>
                <a:latin typeface="Aptos"/>
              </a:rPr>
              <a:t>Ideia central: aprender um modelo é estimar parâmetros que reduzem o erro entre previsão e realidade.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386</TotalTime>
  <Application>LibreOffice/26.2.4.2$Windows_X86_64 LibreOffice_project/0229ac93fcf0d7cbc6376066c6f35021cef002dc</Application>
  <AppVersion>15.0000</AppVersion>
  <Words>1780</Words>
  <Paragraphs>509</Paragraphs>
  <Company>UNIP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2026-08-17T22:52:05Z</dcterms:created>
  <dc:creator>OpenAI</dc:creator>
  <dc:description/>
  <dc:language>pt-BR</dc:language>
  <cp:lastModifiedBy/>
  <dcterms:modified xsi:type="dcterms:W3CDTF">2026-08-18T13:12:12Z</dcterms:modified>
  <cp:revision>16</cp:revision>
  <dc:subject>Aula de Regressão Linear</dc:subject>
  <dc:title>Regressão Linear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26</vt:i4>
  </property>
  <property fmtid="{D5CDD505-2E9C-101B-9397-08002B2CF9AE}" pid="3" name="PresentationFormat">
    <vt:lpwstr>Widescreen</vt:lpwstr>
  </property>
  <property fmtid="{D5CDD505-2E9C-101B-9397-08002B2CF9AE}" pid="4" name="Slides">
    <vt:i4>26</vt:i4>
  </property>
</Properties>
</file>