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  <p:sldId id="262" r:id="rId9"/>
    <p:sldId id="263" r:id="rId10"/>
    <p:sldId id="281" r:id="rId11"/>
    <p:sldId id="282" r:id="rId12"/>
    <p:sldId id="283" r:id="rId13"/>
    <p:sldId id="265" r:id="rId14"/>
    <p:sldId id="284" r:id="rId15"/>
    <p:sldId id="285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1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536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333E8-ABCD-6233-EA12-38DB4ECF1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5E71A-7BE9-CBCF-F882-69F8C7830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62A9A-C959-4F7A-8137-935F49097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62F4B-9C8A-B6C9-808E-5131A571F7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20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FF9E7-E9DF-0042-2DF6-D7625227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030A5-7E71-32FD-06A1-C34D6B15E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3C60C-CFC3-BC41-DF1C-7ABF823D6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3B6DA-E8B3-0C5F-F01F-419461CC46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37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E98D3-9BAA-5B08-5056-4B6819487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66042-D0CB-03B8-47DE-B63E9E074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D58D3-AE04-B4E2-0386-EFBC7DE92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3D66A-52D6-5BAE-D55F-0AD9BD969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21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AAE21-3689-02BB-5D59-08A848434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97FF7-18E1-1F19-8DB7-4D9D1E963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E020E-DD6C-C930-B25D-E5347F2CF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8AC4B-0F29-706B-CD5A-84978E58A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87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C17C7-1A2A-0D0C-5533-BBABEE425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554C5-00E9-10F7-801D-66D2A210E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AFA8A-E060-13FE-90E5-58A2D9F37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1B865-4B2C-4E86-1FD6-31B14D1A3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24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614A1-24FD-E44A-F2EB-36A6462AA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C04FC-1AB2-1602-8C41-9260736F9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A5B1E-9366-F181-F057-268462BA2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B2F88-F8C6-954C-05E5-5DB01C9642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07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2253" y="1188720"/>
            <a:ext cx="64044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03 - </a:t>
            </a:r>
            <a:r>
              <a:rPr lang="en-US" sz="4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Regressão</a:t>
            </a: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Linear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19933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7EAFE"/>
                </a:solidFill>
              </a:rPr>
              <a:t>Professor </a:t>
            </a:r>
            <a:r>
              <a:rPr lang="en-US" sz="1800" dirty="0" err="1">
                <a:solidFill>
                  <a:srgbClr val="D7EAFE"/>
                </a:solidFill>
              </a:rPr>
              <a:t>Miguél</a:t>
            </a:r>
            <a:r>
              <a:rPr lang="en-US" sz="1800" dirty="0">
                <a:solidFill>
                  <a:srgbClr val="D7EAFE"/>
                </a:solidFill>
              </a:rPr>
              <a:t> Suares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40233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32F55"/>
          </a:solidFill>
          <a:ln w="15240">
            <a:solidFill>
              <a:srgbClr val="4DA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4096512"/>
            <a:ext cx="301752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wx + b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937760" y="41605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EAF4FF"/>
          </a:solidFill>
          <a:ln w="15240">
            <a:solidFill>
              <a:srgbClr val="EAF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4233672"/>
            <a:ext cx="104241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dados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4389120"/>
            <a:ext cx="6400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86600" y="416052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EAF4FF"/>
          </a:solidFill>
          <a:ln w="15240">
            <a:solidFill>
              <a:srgbClr val="EAF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9752" y="4233672"/>
            <a:ext cx="13624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modelo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732520" y="4389120"/>
            <a:ext cx="6400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555480" y="416052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EAF4FF"/>
          </a:solidFill>
          <a:ln w="15240">
            <a:solidFill>
              <a:srgbClr val="EAF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8632" y="4233672"/>
            <a:ext cx="136245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previsão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50391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7FF"/>
                </a:solidFill>
              </a:rPr>
              <a:t>UNIP • GTI – </a:t>
            </a:r>
            <a:r>
              <a:rPr lang="en-US" sz="1000" dirty="0" err="1">
                <a:solidFill>
                  <a:srgbClr val="BBD7FF"/>
                </a:solidFill>
              </a:rPr>
              <a:t>Oferta</a:t>
            </a:r>
            <a:r>
              <a:rPr lang="en-US" sz="1000" dirty="0">
                <a:solidFill>
                  <a:srgbClr val="BBD7FF"/>
                </a:solidFill>
              </a:rPr>
              <a:t> 2026 - </a:t>
            </a:r>
            <a:r>
              <a:rPr lang="en-US" sz="1000" dirty="0" err="1">
                <a:solidFill>
                  <a:srgbClr val="BBD7FF"/>
                </a:solidFill>
              </a:rPr>
              <a:t>Gestão</a:t>
            </a:r>
            <a:r>
              <a:rPr lang="en-US" sz="1000" dirty="0">
                <a:solidFill>
                  <a:srgbClr val="BBD7FF"/>
                </a:solidFill>
              </a:rPr>
              <a:t> e </a:t>
            </a:r>
            <a:r>
              <a:rPr lang="en-US" sz="1000" dirty="0" err="1">
                <a:solidFill>
                  <a:srgbClr val="BBD7FF"/>
                </a:solidFill>
              </a:rPr>
              <a:t>Análise</a:t>
            </a:r>
            <a:r>
              <a:rPr lang="en-US" sz="1000" dirty="0">
                <a:solidFill>
                  <a:srgbClr val="BBD7FF"/>
                </a:solidFill>
              </a:rPr>
              <a:t> de Dados</a:t>
            </a:r>
            <a:endParaRPr lang="en-US" sz="100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3E76597-CCA8-443C-5130-B3042B3B7991}"/>
              </a:ext>
            </a:extLst>
          </p:cNvPr>
          <p:cNvSpPr/>
          <p:nvPr/>
        </p:nvSpPr>
        <p:spPr>
          <a:xfrm>
            <a:off x="0" y="1"/>
            <a:ext cx="12191999" cy="7132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5B13CBD-DC01-D36A-24DF-CD08F115CFE5}"/>
              </a:ext>
            </a:extLst>
          </p:cNvPr>
          <p:cNvSpPr/>
          <p:nvPr/>
        </p:nvSpPr>
        <p:spPr>
          <a:xfrm>
            <a:off x="-304" y="5852160"/>
            <a:ext cx="12191999" cy="7132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F7B0DCDD-E13C-9330-1641-239E1F8A1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783" y="1"/>
            <a:ext cx="3533775" cy="7132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457200" cy="45720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44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1325880"/>
            <a:ext cx="6858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111827"/>
                </a:solidFill>
              </a:rPr>
              <a:t>Revisão</a:t>
            </a:r>
            <a:r>
              <a:rPr lang="en-US" sz="1800" b="1" dirty="0">
                <a:solidFill>
                  <a:srgbClr val="111827"/>
                </a:solidFill>
              </a:rPr>
              <a:t> de </a:t>
            </a:r>
            <a:r>
              <a:rPr lang="en-US" sz="1800" b="1" dirty="0" err="1">
                <a:solidFill>
                  <a:srgbClr val="111827"/>
                </a:solidFill>
              </a:rPr>
              <a:t>Funções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67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148840"/>
            <a:ext cx="6858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111827"/>
                </a:solidFill>
              </a:rPr>
              <a:t>Conhecendo</a:t>
            </a:r>
            <a:r>
              <a:rPr lang="en-US" sz="1800" b="1" dirty="0">
                <a:solidFill>
                  <a:srgbClr val="111827"/>
                </a:solidFill>
              </a:rPr>
              <a:t> a </a:t>
            </a:r>
            <a:r>
              <a:rPr lang="en-US" sz="1800" b="1" dirty="0" err="1">
                <a:solidFill>
                  <a:srgbClr val="111827"/>
                </a:solidFill>
              </a:rPr>
              <a:t>Regressão</a:t>
            </a:r>
            <a:r>
              <a:rPr lang="en-US" sz="1800" b="1" dirty="0">
                <a:solidFill>
                  <a:srgbClr val="111827"/>
                </a:solidFill>
              </a:rPr>
              <a:t> Linear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90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2971800"/>
            <a:ext cx="6858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</a:rPr>
              <a:t>Medir erro com resíduos e MSE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13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794760"/>
            <a:ext cx="6858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</a:rPr>
              <a:t>Entender mínimos quadrados, gradiente e SGD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36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617720"/>
            <a:ext cx="6858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</a:rPr>
              <a:t>Aplicar uma regressão linear simples em Python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412480" y="12801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5632" y="1353312"/>
            <a:ext cx="250545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Parte 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Funções → Modelos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12480" y="23774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2450592"/>
            <a:ext cx="250545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Parte 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Problema de regressão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12480" y="34747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3547872"/>
            <a:ext cx="250545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Parte II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Modelo, erro e otimização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412480" y="45720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4645152"/>
            <a:ext cx="2505456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Parte III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Python e exercício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PONTE CONCEITUAL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B1F3A"/>
                </a:solidFill>
                <a:latin typeface="Aptos Display" pitchFamily="34" charset="0"/>
              </a:rPr>
              <a:t>Funções</a:t>
            </a: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</a:rPr>
              <a:t> de Primeiro Grau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4576338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4649490"/>
            <a:ext cx="17739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Entrada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x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80360" y="5006106"/>
            <a:ext cx="12801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4393458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0832" y="4466610"/>
            <a:ext cx="259689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Função / fórmula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y = f(x)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178040" y="5006106"/>
            <a:ext cx="12801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4576338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4649490"/>
            <a:ext cx="177393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Saída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29000" y="3341898"/>
            <a:ext cx="4526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415050"/>
            <a:ext cx="425196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 + 10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60120" y="1170431"/>
            <a:ext cx="9875520" cy="6814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Na </a:t>
            </a:r>
            <a:r>
              <a:rPr lang="en-US" sz="1800" dirty="0" err="1">
                <a:solidFill>
                  <a:srgbClr val="334155"/>
                </a:solidFill>
              </a:rPr>
              <a:t>matemática</a:t>
            </a:r>
            <a:r>
              <a:rPr lang="en-US" sz="1800" dirty="0">
                <a:solidFill>
                  <a:srgbClr val="334155"/>
                </a:solidFill>
              </a:rPr>
              <a:t> </a:t>
            </a:r>
            <a:r>
              <a:rPr lang="en-US" sz="1800" dirty="0" err="1">
                <a:solidFill>
                  <a:srgbClr val="334155"/>
                </a:solidFill>
              </a:rPr>
              <a:t>tradicional</a:t>
            </a:r>
            <a:r>
              <a:rPr lang="en-US" sz="1800" dirty="0">
                <a:solidFill>
                  <a:srgbClr val="334155"/>
                </a:solidFill>
              </a:rPr>
              <a:t>, </a:t>
            </a:r>
            <a:r>
              <a:rPr lang="en-US" sz="1800" dirty="0" err="1">
                <a:solidFill>
                  <a:srgbClr val="334155"/>
                </a:solidFill>
              </a:rPr>
              <a:t>função</a:t>
            </a:r>
            <a:r>
              <a:rPr lang="en-US" sz="1800" dirty="0">
                <a:solidFill>
                  <a:srgbClr val="334155"/>
                </a:solidFill>
              </a:rPr>
              <a:t> é </a:t>
            </a:r>
            <a:r>
              <a:rPr lang="en-US" sz="1800" dirty="0" err="1">
                <a:solidFill>
                  <a:srgbClr val="334155"/>
                </a:solidFill>
              </a:rPr>
              <a:t>uma</a:t>
            </a:r>
            <a:r>
              <a:rPr lang="en-US" sz="1800" dirty="0">
                <a:solidFill>
                  <a:srgbClr val="334155"/>
                </a:solidFill>
              </a:rPr>
              <a:t> </a:t>
            </a:r>
            <a:r>
              <a:rPr lang="en-US" sz="1800" dirty="0" err="1">
                <a:solidFill>
                  <a:srgbClr val="334155"/>
                </a:solidFill>
              </a:rPr>
              <a:t>regra</a:t>
            </a:r>
            <a:r>
              <a:rPr lang="en-US" sz="1800" dirty="0">
                <a:solidFill>
                  <a:srgbClr val="334155"/>
                </a:solidFill>
              </a:rPr>
              <a:t>, </a:t>
            </a:r>
            <a:r>
              <a:rPr lang="en-US" sz="1800" dirty="0" err="1">
                <a:solidFill>
                  <a:srgbClr val="334155"/>
                </a:solidFill>
              </a:rPr>
              <a:t>uma</a:t>
            </a:r>
            <a:r>
              <a:rPr lang="en-US" sz="1800" dirty="0">
                <a:solidFill>
                  <a:srgbClr val="334155"/>
                </a:solidFill>
              </a:rPr>
              <a:t> “formula” </a:t>
            </a:r>
            <a:r>
              <a:rPr lang="en-US" sz="1800" dirty="0" err="1">
                <a:solidFill>
                  <a:srgbClr val="334155"/>
                </a:solidFill>
              </a:rPr>
              <a:t>já</a:t>
            </a:r>
            <a:r>
              <a:rPr lang="en-US" sz="1800" dirty="0">
                <a:solidFill>
                  <a:srgbClr val="334155"/>
                </a:solidFill>
              </a:rPr>
              <a:t> é </a:t>
            </a:r>
            <a:r>
              <a:rPr lang="en-US" sz="1800" dirty="0" err="1">
                <a:solidFill>
                  <a:srgbClr val="334155"/>
                </a:solidFill>
              </a:rPr>
              <a:t>conhecida</a:t>
            </a:r>
            <a:r>
              <a:rPr lang="en-US" sz="1800" dirty="0">
                <a:solidFill>
                  <a:srgbClr val="334155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334155"/>
                </a:solidFill>
              </a:rPr>
              <a:t>Normalmente</a:t>
            </a:r>
            <a:r>
              <a:rPr lang="en-US" sz="1800" dirty="0">
                <a:solidFill>
                  <a:srgbClr val="334155"/>
                </a:solidFill>
              </a:rPr>
              <a:t> </a:t>
            </a:r>
            <a:r>
              <a:rPr lang="en-US" sz="1800" dirty="0" err="1">
                <a:solidFill>
                  <a:srgbClr val="334155"/>
                </a:solidFill>
              </a:rPr>
              <a:t>essa</a:t>
            </a:r>
            <a:r>
              <a:rPr lang="en-US" sz="1800" dirty="0">
                <a:solidFill>
                  <a:srgbClr val="334155"/>
                </a:solidFill>
              </a:rPr>
              <a:t> “formula”, </a:t>
            </a:r>
            <a:r>
              <a:rPr lang="en-US" sz="1800" dirty="0" err="1">
                <a:solidFill>
                  <a:srgbClr val="334155"/>
                </a:solidFill>
              </a:rPr>
              <a:t>vamos</a:t>
            </a:r>
            <a:r>
              <a:rPr lang="en-US" sz="1800" dirty="0">
                <a:solidFill>
                  <a:srgbClr val="334155"/>
                </a:solidFill>
              </a:rPr>
              <a:t> chama-la de MODELO, </a:t>
            </a:r>
            <a:r>
              <a:rPr lang="en-US" sz="1800" dirty="0" err="1">
                <a:solidFill>
                  <a:srgbClr val="334155"/>
                </a:solidFill>
              </a:rPr>
              <a:t>já</a:t>
            </a:r>
            <a:r>
              <a:rPr lang="en-US" sz="1800" dirty="0">
                <a:solidFill>
                  <a:srgbClr val="334155"/>
                </a:solidFill>
              </a:rPr>
              <a:t> </a:t>
            </a:r>
            <a:r>
              <a:rPr lang="en-US" sz="1800" dirty="0" err="1">
                <a:solidFill>
                  <a:srgbClr val="334155"/>
                </a:solidFill>
              </a:rPr>
              <a:t>nos</a:t>
            </a:r>
            <a:r>
              <a:rPr lang="en-US" sz="1800" dirty="0">
                <a:solidFill>
                  <a:srgbClr val="334155"/>
                </a:solidFill>
              </a:rPr>
              <a:t> é </a:t>
            </a:r>
            <a:r>
              <a:rPr lang="en-US" sz="1800" dirty="0" err="1">
                <a:solidFill>
                  <a:srgbClr val="334155"/>
                </a:solidFill>
              </a:rPr>
              <a:t>fornecida</a:t>
            </a:r>
            <a:r>
              <a:rPr lang="en-US" sz="1800" dirty="0">
                <a:solidFill>
                  <a:srgbClr val="334155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O </a:t>
            </a:r>
            <a:r>
              <a:rPr lang="en-US" sz="1800" dirty="0" err="1">
                <a:solidFill>
                  <a:srgbClr val="334155"/>
                </a:solidFill>
              </a:rPr>
              <a:t>trabalho</a:t>
            </a:r>
            <a:r>
              <a:rPr lang="en-US" sz="1800" dirty="0">
                <a:solidFill>
                  <a:srgbClr val="334155"/>
                </a:solidFill>
              </a:rPr>
              <a:t> é </a:t>
            </a:r>
            <a:r>
              <a:rPr lang="en-US" sz="1800" dirty="0" err="1">
                <a:solidFill>
                  <a:srgbClr val="334155"/>
                </a:solidFill>
              </a:rPr>
              <a:t>aplicar</a:t>
            </a:r>
            <a:r>
              <a:rPr lang="en-US" sz="1800" dirty="0">
                <a:solidFill>
                  <a:srgbClr val="334155"/>
                </a:solidFill>
              </a:rPr>
              <a:t> a “formula” a </a:t>
            </a:r>
            <a:r>
              <a:rPr lang="en-US" sz="1800" dirty="0" err="1">
                <a:solidFill>
                  <a:srgbClr val="334155"/>
                </a:solidFill>
              </a:rPr>
              <a:t>uma</a:t>
            </a:r>
            <a:r>
              <a:rPr lang="en-US" sz="1800" dirty="0">
                <a:solidFill>
                  <a:srgbClr val="334155"/>
                </a:solidFill>
              </a:rPr>
              <a:t> entrada X e </a:t>
            </a:r>
            <a:r>
              <a:rPr lang="en-US" sz="1800" dirty="0" err="1">
                <a:solidFill>
                  <a:srgbClr val="334155"/>
                </a:solidFill>
              </a:rPr>
              <a:t>obter</a:t>
            </a:r>
            <a:r>
              <a:rPr lang="en-US" sz="1800" dirty="0">
                <a:solidFill>
                  <a:srgbClr val="334155"/>
                </a:solidFill>
              </a:rPr>
              <a:t> </a:t>
            </a:r>
            <a:r>
              <a:rPr lang="en-US" sz="1800" dirty="0" err="1">
                <a:solidFill>
                  <a:srgbClr val="334155"/>
                </a:solidFill>
              </a:rPr>
              <a:t>uma</a:t>
            </a:r>
            <a:r>
              <a:rPr lang="en-US" sz="1800" dirty="0">
                <a:solidFill>
                  <a:srgbClr val="334155"/>
                </a:solidFill>
              </a:rPr>
              <a:t> </a:t>
            </a:r>
            <a:r>
              <a:rPr lang="en-US" sz="1800" dirty="0" err="1">
                <a:solidFill>
                  <a:srgbClr val="334155"/>
                </a:solidFill>
              </a:rPr>
              <a:t>saída</a:t>
            </a:r>
            <a:r>
              <a:rPr lang="en-US" sz="1800" dirty="0">
                <a:solidFill>
                  <a:srgbClr val="334155"/>
                </a:solidFill>
              </a:rPr>
              <a:t> Y</a:t>
            </a:r>
            <a:endParaRPr lang="en-US" sz="18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A1A90D3A-C74F-892B-031F-76010CEA1D23}"/>
              </a:ext>
            </a:extLst>
          </p:cNvPr>
          <p:cNvSpPr/>
          <p:nvPr/>
        </p:nvSpPr>
        <p:spPr>
          <a:xfrm>
            <a:off x="3429000" y="2101187"/>
            <a:ext cx="4526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71E041A4-5FD4-7BBC-C609-1CE3B5A46C2C}"/>
              </a:ext>
            </a:extLst>
          </p:cNvPr>
          <p:cNvSpPr/>
          <p:nvPr/>
        </p:nvSpPr>
        <p:spPr>
          <a:xfrm>
            <a:off x="3566160" y="2174339"/>
            <a:ext cx="425196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 2x + 10</a:t>
            </a:r>
            <a:endParaRPr lang="en-US" sz="240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61BAFA56-08A3-B656-973F-8CA565422236}"/>
              </a:ext>
            </a:extLst>
          </p:cNvPr>
          <p:cNvSpPr/>
          <p:nvPr/>
        </p:nvSpPr>
        <p:spPr>
          <a:xfrm>
            <a:off x="5564554" y="2695546"/>
            <a:ext cx="0" cy="594359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 CONHECIDA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Exemplo: aplicar a “formula” </a:t>
            </a:r>
            <a:r>
              <a:rPr lang="en-US" sz="28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</a:t>
            </a: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MODELO 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0874" y="185166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034" y="1924812"/>
            <a:ext cx="31089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 2x + 10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52794" y="4393418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5946" y="4466570"/>
            <a:ext cx="12710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x = 5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07274" y="4649450"/>
            <a:ext cx="7315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21674" y="4393418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4826" y="4466570"/>
            <a:ext cx="16824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2·(5) + 10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87634" y="4649450"/>
            <a:ext cx="7772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47754" y="4393418"/>
            <a:ext cx="1508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0906" y="4466570"/>
            <a:ext cx="13624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y = 20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0874" y="1344168"/>
            <a:ext cx="7223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</a:rPr>
              <a:t>Como o modelo já existe, não há aprendizado: há apenas cálculo.</a:t>
            </a:r>
            <a:endParaRPr lang="en-US" sz="20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627941FC-DD71-3694-D7EC-B371F5D02BEA}"/>
              </a:ext>
            </a:extLst>
          </p:cNvPr>
          <p:cNvSpPr/>
          <p:nvPr/>
        </p:nvSpPr>
        <p:spPr>
          <a:xfrm>
            <a:off x="746114" y="2756916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CE9AEB21-1567-78EE-09AD-2513F8D298D9}"/>
              </a:ext>
            </a:extLst>
          </p:cNvPr>
          <p:cNvSpPr/>
          <p:nvPr/>
        </p:nvSpPr>
        <p:spPr>
          <a:xfrm>
            <a:off x="883274" y="2830068"/>
            <a:ext cx="31089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 + 10</a:t>
            </a:r>
            <a:endParaRPr lang="en-US" sz="26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D756F7AC-AD31-1D25-06C3-C085B3AD308C}"/>
              </a:ext>
            </a:extLst>
          </p:cNvPr>
          <p:cNvSpPr/>
          <p:nvPr/>
        </p:nvSpPr>
        <p:spPr>
          <a:xfrm>
            <a:off x="2101947" y="2529176"/>
            <a:ext cx="0" cy="168578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30811C7F-42F9-A742-2D3B-5B909A002035}"/>
              </a:ext>
            </a:extLst>
          </p:cNvPr>
          <p:cNvSpPr/>
          <p:nvPr/>
        </p:nvSpPr>
        <p:spPr>
          <a:xfrm>
            <a:off x="746114" y="3684895"/>
            <a:ext cx="7223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B1F3A"/>
                </a:solidFill>
              </a:rPr>
              <a:t>Dado o </a:t>
            </a:r>
            <a:r>
              <a:rPr lang="en-US" sz="2000" b="1" dirty="0" err="1">
                <a:solidFill>
                  <a:srgbClr val="0B1F3A"/>
                </a:solidFill>
              </a:rPr>
              <a:t>modelo</a:t>
            </a:r>
            <a:r>
              <a:rPr lang="en-US" sz="2000" b="1" dirty="0">
                <a:solidFill>
                  <a:srgbClr val="0B1F3A"/>
                </a:solidFill>
              </a:rPr>
              <a:t>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 = 2x + 10 </a:t>
            </a:r>
            <a:r>
              <a:rPr lang="en-US" sz="2000" b="1" dirty="0">
                <a:solidFill>
                  <a:srgbClr val="0B1F3A"/>
                </a:solidFill>
              </a:rPr>
              <a:t>, </a:t>
            </a:r>
            <a:r>
              <a:rPr lang="en-US" sz="2000" b="1" dirty="0" err="1">
                <a:solidFill>
                  <a:srgbClr val="0B1F3A"/>
                </a:solidFill>
              </a:rPr>
              <a:t>calcule</a:t>
            </a:r>
            <a:r>
              <a:rPr lang="en-US" sz="2000" b="1" dirty="0">
                <a:solidFill>
                  <a:srgbClr val="0B1F3A"/>
                </a:solidFill>
              </a:rPr>
              <a:t> o valor para entrada </a:t>
            </a:r>
            <a:r>
              <a:rPr lang="en-US" sz="2000" b="1" dirty="0">
                <a:solidFill>
                  <a:srgbClr val="FF0000"/>
                </a:solidFill>
              </a:rPr>
              <a:t>5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16B56644-3BDF-32DC-54DB-1B1B4C5E8D41}"/>
              </a:ext>
            </a:extLst>
          </p:cNvPr>
          <p:cNvSpPr/>
          <p:nvPr/>
        </p:nvSpPr>
        <p:spPr>
          <a:xfrm>
            <a:off x="784799" y="5138889"/>
            <a:ext cx="7223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B1F3A"/>
                </a:solidFill>
              </a:rPr>
              <a:t>Neste MODELO, para entrada </a:t>
            </a:r>
            <a:r>
              <a:rPr lang="en-US" sz="2000" b="1" dirty="0">
                <a:solidFill>
                  <a:srgbClr val="FF0000"/>
                </a:solidFill>
              </a:rPr>
              <a:t>x=5</a:t>
            </a:r>
            <a:r>
              <a:rPr lang="en-US" sz="2000" b="1" dirty="0">
                <a:solidFill>
                  <a:srgbClr val="0B1F3A"/>
                </a:solidFill>
              </a:rPr>
              <a:t> , a </a:t>
            </a:r>
            <a:r>
              <a:rPr lang="en-US" sz="2000" b="1" dirty="0" err="1">
                <a:solidFill>
                  <a:srgbClr val="0B1F3A"/>
                </a:solidFill>
              </a:rPr>
              <a:t>saída</a:t>
            </a:r>
            <a:r>
              <a:rPr lang="en-US" sz="2000" b="1" dirty="0">
                <a:solidFill>
                  <a:srgbClr val="0B1F3A"/>
                </a:solidFill>
              </a:rPr>
              <a:t> é </a:t>
            </a:r>
            <a:r>
              <a:rPr lang="en-US" sz="2000" b="1" dirty="0">
                <a:solidFill>
                  <a:srgbClr val="002060"/>
                </a:solidFill>
              </a:rPr>
              <a:t>y=20</a:t>
            </a: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D5E0ADDB-4C87-FEAA-1DBD-E9F4D3AE1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826" y="1265110"/>
            <a:ext cx="3162300" cy="3952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B65C86-130D-782A-7679-941BEB803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DC248E9-BB03-65FA-A405-32D0862910C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C08772-F078-5177-B622-3E0854294B04}"/>
              </a:ext>
            </a:extLst>
          </p:cNvPr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 CONHECIDA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F1378A-82ED-6C85-7411-A87970232365}"/>
              </a:ext>
            </a:extLst>
          </p:cNvPr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Exemplo: aplicar a “formula” </a:t>
            </a:r>
            <a:r>
              <a:rPr lang="en-US" sz="28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</a:t>
            </a: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MODELO 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5EF954F-6FE5-2E4A-892F-5C40CC68444B}"/>
              </a:ext>
            </a:extLst>
          </p:cNvPr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8971A88-A7C1-E244-4AB1-348B0BDBCFA2}"/>
              </a:ext>
            </a:extLst>
          </p:cNvPr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826AE69-9DB1-4870-2295-7B465D928C60}"/>
              </a:ext>
            </a:extLst>
          </p:cNvPr>
          <p:cNvSpPr/>
          <p:nvPr/>
        </p:nvSpPr>
        <p:spPr>
          <a:xfrm>
            <a:off x="730874" y="1344168"/>
            <a:ext cx="7223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</a:rPr>
              <a:t>Para o </a:t>
            </a:r>
            <a:r>
              <a:rPr lang="en-US" sz="2000" b="1" dirty="0" err="1">
                <a:solidFill>
                  <a:srgbClr val="0B1F3A"/>
                </a:solidFill>
              </a:rPr>
              <a:t>modelo</a:t>
            </a:r>
            <a:r>
              <a:rPr lang="en-US" sz="2000" b="1" dirty="0">
                <a:solidFill>
                  <a:srgbClr val="0B1F3A"/>
                </a:solidFill>
              </a:rPr>
              <a:t> </a:t>
            </a:r>
            <a:r>
              <a:rPr lang="en-US" sz="2000" b="1" dirty="0" err="1">
                <a:solidFill>
                  <a:srgbClr val="0B1F3A"/>
                </a:solidFill>
              </a:rPr>
              <a:t>abaixo</a:t>
            </a:r>
            <a:r>
              <a:rPr lang="en-US" sz="2000" b="1" dirty="0">
                <a:solidFill>
                  <a:srgbClr val="0B1F3A"/>
                </a:solidFill>
              </a:rPr>
              <a:t>, </a:t>
            </a:r>
            <a:r>
              <a:rPr lang="en-US" sz="2000" b="1" dirty="0" err="1">
                <a:solidFill>
                  <a:srgbClr val="0B1F3A"/>
                </a:solidFill>
              </a:rPr>
              <a:t>calcule</a:t>
            </a:r>
            <a:r>
              <a:rPr lang="en-US" sz="2000" b="1" dirty="0">
                <a:solidFill>
                  <a:srgbClr val="0B1F3A"/>
                </a:solidFill>
              </a:rPr>
              <a:t> as entradas a </a:t>
            </a:r>
            <a:r>
              <a:rPr lang="en-US" sz="2000" b="1" dirty="0" err="1">
                <a:solidFill>
                  <a:srgbClr val="0B1F3A"/>
                </a:solidFill>
              </a:rPr>
              <a:t>seguir</a:t>
            </a:r>
            <a:r>
              <a:rPr lang="en-US" sz="2000" b="1" dirty="0">
                <a:solidFill>
                  <a:srgbClr val="0B1F3A"/>
                </a:solidFill>
              </a:rPr>
              <a:t>:</a:t>
            </a:r>
            <a:endParaRPr lang="en-US" sz="20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1FBD78D3-1A75-D6F7-1C10-8B447C82449F}"/>
              </a:ext>
            </a:extLst>
          </p:cNvPr>
          <p:cNvSpPr/>
          <p:nvPr/>
        </p:nvSpPr>
        <p:spPr>
          <a:xfrm>
            <a:off x="746114" y="1732651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C010D0B6-F1DB-84D2-C295-26C92E931D2E}"/>
              </a:ext>
            </a:extLst>
          </p:cNvPr>
          <p:cNvSpPr/>
          <p:nvPr/>
        </p:nvSpPr>
        <p:spPr>
          <a:xfrm>
            <a:off x="883274" y="1805803"/>
            <a:ext cx="31089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 + 10</a:t>
            </a:r>
            <a:endParaRPr lang="en-US" sz="2600" dirty="0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E01799B2-207D-7FB7-C2E4-43A9A4ECB513}"/>
              </a:ext>
            </a:extLst>
          </p:cNvPr>
          <p:cNvSpPr/>
          <p:nvPr/>
        </p:nvSpPr>
        <p:spPr>
          <a:xfrm>
            <a:off x="706904" y="2513808"/>
            <a:ext cx="7223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0B1F3A"/>
                </a:solidFill>
              </a:rPr>
              <a:t>Tabela</a:t>
            </a:r>
            <a:r>
              <a:rPr lang="en-US" sz="2000" b="1" dirty="0">
                <a:solidFill>
                  <a:srgbClr val="0B1F3A"/>
                </a:solidFill>
              </a:rPr>
              <a:t> de entradas: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6DFA9FFB-4D1B-0C50-D6FD-4051A413E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308" y="1786619"/>
            <a:ext cx="3572668" cy="4465835"/>
          </a:xfrm>
          <a:prstGeom prst="rect">
            <a:avLst/>
          </a:prstGeom>
        </p:spPr>
      </p:pic>
      <p:sp>
        <p:nvSpPr>
          <p:cNvPr id="51" name="Shape 7">
            <a:extLst>
              <a:ext uri="{FF2B5EF4-FFF2-40B4-BE49-F238E27FC236}">
                <a16:creationId xmlns:a16="http://schemas.microsoft.com/office/drawing/2014/main" id="{AA99AD4D-4037-6CD5-B837-9E4212FE31EA}"/>
              </a:ext>
            </a:extLst>
          </p:cNvPr>
          <p:cNvSpPr/>
          <p:nvPr/>
        </p:nvSpPr>
        <p:spPr>
          <a:xfrm>
            <a:off x="850235" y="2965781"/>
            <a:ext cx="960120" cy="52578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583BC17B-9722-7245-BE7D-1BF43D8A9FBF}"/>
              </a:ext>
            </a:extLst>
          </p:cNvPr>
          <p:cNvSpPr/>
          <p:nvPr/>
        </p:nvSpPr>
        <p:spPr>
          <a:xfrm>
            <a:off x="869852" y="3002357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x</a:t>
            </a:r>
            <a:endParaRPr lang="en-US" sz="1500" dirty="0"/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8A612C41-6DD5-80D9-128F-44B4CF084430}"/>
              </a:ext>
            </a:extLst>
          </p:cNvPr>
          <p:cNvSpPr/>
          <p:nvPr/>
        </p:nvSpPr>
        <p:spPr>
          <a:xfrm>
            <a:off x="1802540" y="2965781"/>
            <a:ext cx="960120" cy="52578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1BC4DC73-986D-8909-1070-7DA264594EFC}"/>
              </a:ext>
            </a:extLst>
          </p:cNvPr>
          <p:cNvSpPr/>
          <p:nvPr/>
        </p:nvSpPr>
        <p:spPr>
          <a:xfrm>
            <a:off x="1829972" y="3002357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y</a:t>
            </a:r>
            <a:endParaRPr lang="en-US" sz="1500" dirty="0"/>
          </a:p>
        </p:txBody>
      </p:sp>
      <p:sp>
        <p:nvSpPr>
          <p:cNvPr id="59" name="Shape 11">
            <a:extLst>
              <a:ext uri="{FF2B5EF4-FFF2-40B4-BE49-F238E27FC236}">
                <a16:creationId xmlns:a16="http://schemas.microsoft.com/office/drawing/2014/main" id="{156E43A9-75EC-2308-A5A1-2DBFE4FF0F3D}"/>
              </a:ext>
            </a:extLst>
          </p:cNvPr>
          <p:cNvSpPr/>
          <p:nvPr/>
        </p:nvSpPr>
        <p:spPr>
          <a:xfrm>
            <a:off x="842420" y="3491561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93F7E9B0-EBE7-21C2-082F-DB55DE1FC809}"/>
              </a:ext>
            </a:extLst>
          </p:cNvPr>
          <p:cNvSpPr/>
          <p:nvPr/>
        </p:nvSpPr>
        <p:spPr>
          <a:xfrm>
            <a:off x="869852" y="3528137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1</a:t>
            </a:r>
            <a:endParaRPr lang="en-US" sz="1500" dirty="0"/>
          </a:p>
        </p:txBody>
      </p:sp>
      <p:sp>
        <p:nvSpPr>
          <p:cNvPr id="63" name="Shape 13">
            <a:extLst>
              <a:ext uri="{FF2B5EF4-FFF2-40B4-BE49-F238E27FC236}">
                <a16:creationId xmlns:a16="http://schemas.microsoft.com/office/drawing/2014/main" id="{A5F67BF7-2E88-7F95-A5A9-A1A78EAAC5B9}"/>
              </a:ext>
            </a:extLst>
          </p:cNvPr>
          <p:cNvSpPr/>
          <p:nvPr/>
        </p:nvSpPr>
        <p:spPr>
          <a:xfrm>
            <a:off x="1802540" y="3491561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5" name="Text 14">
            <a:extLst>
              <a:ext uri="{FF2B5EF4-FFF2-40B4-BE49-F238E27FC236}">
                <a16:creationId xmlns:a16="http://schemas.microsoft.com/office/drawing/2014/main" id="{E86244EB-D57C-7248-830E-7333167F2931}"/>
              </a:ext>
            </a:extLst>
          </p:cNvPr>
          <p:cNvSpPr/>
          <p:nvPr/>
        </p:nvSpPr>
        <p:spPr>
          <a:xfrm>
            <a:off x="1829972" y="3528137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12</a:t>
            </a:r>
            <a:endParaRPr lang="en-US" sz="1500" dirty="0"/>
          </a:p>
        </p:txBody>
      </p:sp>
      <p:sp>
        <p:nvSpPr>
          <p:cNvPr id="67" name="Shape 15">
            <a:extLst>
              <a:ext uri="{FF2B5EF4-FFF2-40B4-BE49-F238E27FC236}">
                <a16:creationId xmlns:a16="http://schemas.microsoft.com/office/drawing/2014/main" id="{D5B4682C-7308-C70D-BB79-CA50D4669CC1}"/>
              </a:ext>
            </a:extLst>
          </p:cNvPr>
          <p:cNvSpPr/>
          <p:nvPr/>
        </p:nvSpPr>
        <p:spPr>
          <a:xfrm>
            <a:off x="842420" y="4017341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1FE8C332-F2EE-ECCA-8021-CB2301B7D92A}"/>
              </a:ext>
            </a:extLst>
          </p:cNvPr>
          <p:cNvSpPr/>
          <p:nvPr/>
        </p:nvSpPr>
        <p:spPr>
          <a:xfrm>
            <a:off x="869852" y="4053917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2</a:t>
            </a:r>
            <a:endParaRPr lang="en-US" sz="1500" dirty="0"/>
          </a:p>
        </p:txBody>
      </p:sp>
      <p:sp>
        <p:nvSpPr>
          <p:cNvPr id="71" name="Shape 17">
            <a:extLst>
              <a:ext uri="{FF2B5EF4-FFF2-40B4-BE49-F238E27FC236}">
                <a16:creationId xmlns:a16="http://schemas.microsoft.com/office/drawing/2014/main" id="{ECCE6209-F3FB-0CC1-ECD9-FF617D7A7AC6}"/>
              </a:ext>
            </a:extLst>
          </p:cNvPr>
          <p:cNvSpPr/>
          <p:nvPr/>
        </p:nvSpPr>
        <p:spPr>
          <a:xfrm>
            <a:off x="1802540" y="4017341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3" name="Text 18">
            <a:extLst>
              <a:ext uri="{FF2B5EF4-FFF2-40B4-BE49-F238E27FC236}">
                <a16:creationId xmlns:a16="http://schemas.microsoft.com/office/drawing/2014/main" id="{903462C0-0D66-1DE3-29E5-968CFC3333B7}"/>
              </a:ext>
            </a:extLst>
          </p:cNvPr>
          <p:cNvSpPr/>
          <p:nvPr/>
        </p:nvSpPr>
        <p:spPr>
          <a:xfrm>
            <a:off x="1829972" y="4053917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14</a:t>
            </a:r>
            <a:endParaRPr lang="en-US" sz="1500" dirty="0"/>
          </a:p>
        </p:txBody>
      </p:sp>
      <p:sp>
        <p:nvSpPr>
          <p:cNvPr id="75" name="Shape 19">
            <a:extLst>
              <a:ext uri="{FF2B5EF4-FFF2-40B4-BE49-F238E27FC236}">
                <a16:creationId xmlns:a16="http://schemas.microsoft.com/office/drawing/2014/main" id="{AE073D09-0EE5-AC70-D58D-E092F8F8A1BB}"/>
              </a:ext>
            </a:extLst>
          </p:cNvPr>
          <p:cNvSpPr/>
          <p:nvPr/>
        </p:nvSpPr>
        <p:spPr>
          <a:xfrm>
            <a:off x="842420" y="4543121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C7766A75-B10D-63C7-BD58-163429EE454B}"/>
              </a:ext>
            </a:extLst>
          </p:cNvPr>
          <p:cNvSpPr/>
          <p:nvPr/>
        </p:nvSpPr>
        <p:spPr>
          <a:xfrm>
            <a:off x="869852" y="4579697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3</a:t>
            </a:r>
            <a:endParaRPr lang="en-US" sz="1500" dirty="0"/>
          </a:p>
        </p:txBody>
      </p:sp>
      <p:sp>
        <p:nvSpPr>
          <p:cNvPr id="79" name="Shape 21">
            <a:extLst>
              <a:ext uri="{FF2B5EF4-FFF2-40B4-BE49-F238E27FC236}">
                <a16:creationId xmlns:a16="http://schemas.microsoft.com/office/drawing/2014/main" id="{13644CF1-B1C0-CC3E-3994-BABDA37CF167}"/>
              </a:ext>
            </a:extLst>
          </p:cNvPr>
          <p:cNvSpPr/>
          <p:nvPr/>
        </p:nvSpPr>
        <p:spPr>
          <a:xfrm>
            <a:off x="1802540" y="4543121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C9B11A4F-CAFC-3FB3-F78B-635CBC86B861}"/>
              </a:ext>
            </a:extLst>
          </p:cNvPr>
          <p:cNvSpPr/>
          <p:nvPr/>
        </p:nvSpPr>
        <p:spPr>
          <a:xfrm>
            <a:off x="1829972" y="4579697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16</a:t>
            </a:r>
            <a:endParaRPr lang="en-US" sz="1500" dirty="0"/>
          </a:p>
        </p:txBody>
      </p:sp>
      <p:sp>
        <p:nvSpPr>
          <p:cNvPr id="83" name="Shape 23">
            <a:extLst>
              <a:ext uri="{FF2B5EF4-FFF2-40B4-BE49-F238E27FC236}">
                <a16:creationId xmlns:a16="http://schemas.microsoft.com/office/drawing/2014/main" id="{36F2071E-8000-5AF9-51C1-26411C560042}"/>
              </a:ext>
            </a:extLst>
          </p:cNvPr>
          <p:cNvSpPr/>
          <p:nvPr/>
        </p:nvSpPr>
        <p:spPr>
          <a:xfrm>
            <a:off x="842420" y="5068901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5" name="Text 24">
            <a:extLst>
              <a:ext uri="{FF2B5EF4-FFF2-40B4-BE49-F238E27FC236}">
                <a16:creationId xmlns:a16="http://schemas.microsoft.com/office/drawing/2014/main" id="{8AEA268F-B3BD-52C1-A5C4-E52D4C6386BE}"/>
              </a:ext>
            </a:extLst>
          </p:cNvPr>
          <p:cNvSpPr/>
          <p:nvPr/>
        </p:nvSpPr>
        <p:spPr>
          <a:xfrm>
            <a:off x="869852" y="5105477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4</a:t>
            </a:r>
            <a:endParaRPr lang="en-US" sz="1500" dirty="0"/>
          </a:p>
        </p:txBody>
      </p:sp>
      <p:sp>
        <p:nvSpPr>
          <p:cNvPr id="87" name="Shape 25">
            <a:extLst>
              <a:ext uri="{FF2B5EF4-FFF2-40B4-BE49-F238E27FC236}">
                <a16:creationId xmlns:a16="http://schemas.microsoft.com/office/drawing/2014/main" id="{4E38CBEC-36BE-EB73-96A3-5BA7728EED36}"/>
              </a:ext>
            </a:extLst>
          </p:cNvPr>
          <p:cNvSpPr/>
          <p:nvPr/>
        </p:nvSpPr>
        <p:spPr>
          <a:xfrm>
            <a:off x="1802540" y="5068901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9" name="Text 26">
            <a:extLst>
              <a:ext uri="{FF2B5EF4-FFF2-40B4-BE49-F238E27FC236}">
                <a16:creationId xmlns:a16="http://schemas.microsoft.com/office/drawing/2014/main" id="{8EE3C26D-3FA5-4790-E96B-B342BDDB1764}"/>
              </a:ext>
            </a:extLst>
          </p:cNvPr>
          <p:cNvSpPr/>
          <p:nvPr/>
        </p:nvSpPr>
        <p:spPr>
          <a:xfrm>
            <a:off x="1829972" y="5105477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18</a:t>
            </a:r>
            <a:endParaRPr lang="en-US" sz="1500" dirty="0"/>
          </a:p>
        </p:txBody>
      </p:sp>
      <p:sp>
        <p:nvSpPr>
          <p:cNvPr id="91" name="Shape 27">
            <a:extLst>
              <a:ext uri="{FF2B5EF4-FFF2-40B4-BE49-F238E27FC236}">
                <a16:creationId xmlns:a16="http://schemas.microsoft.com/office/drawing/2014/main" id="{2B671819-4E92-B150-FCC6-7104FE337430}"/>
              </a:ext>
            </a:extLst>
          </p:cNvPr>
          <p:cNvSpPr/>
          <p:nvPr/>
        </p:nvSpPr>
        <p:spPr>
          <a:xfrm>
            <a:off x="842420" y="5594681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3" name="Text 28">
            <a:extLst>
              <a:ext uri="{FF2B5EF4-FFF2-40B4-BE49-F238E27FC236}">
                <a16:creationId xmlns:a16="http://schemas.microsoft.com/office/drawing/2014/main" id="{BD8FFD8B-9CC4-128C-54B2-21AE20596044}"/>
              </a:ext>
            </a:extLst>
          </p:cNvPr>
          <p:cNvSpPr/>
          <p:nvPr/>
        </p:nvSpPr>
        <p:spPr>
          <a:xfrm>
            <a:off x="869852" y="5631257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5</a:t>
            </a:r>
            <a:endParaRPr lang="en-US" sz="1500" dirty="0"/>
          </a:p>
        </p:txBody>
      </p:sp>
      <p:sp>
        <p:nvSpPr>
          <p:cNvPr id="95" name="Shape 29">
            <a:extLst>
              <a:ext uri="{FF2B5EF4-FFF2-40B4-BE49-F238E27FC236}">
                <a16:creationId xmlns:a16="http://schemas.microsoft.com/office/drawing/2014/main" id="{4F21DF19-AB0F-8021-B1B2-7807C1B83070}"/>
              </a:ext>
            </a:extLst>
          </p:cNvPr>
          <p:cNvSpPr/>
          <p:nvPr/>
        </p:nvSpPr>
        <p:spPr>
          <a:xfrm>
            <a:off x="1802540" y="5594681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7" name="Text 30">
            <a:extLst>
              <a:ext uri="{FF2B5EF4-FFF2-40B4-BE49-F238E27FC236}">
                <a16:creationId xmlns:a16="http://schemas.microsoft.com/office/drawing/2014/main" id="{C3C8ED93-05E3-160E-5FB2-BA89FCD0AE01}"/>
              </a:ext>
            </a:extLst>
          </p:cNvPr>
          <p:cNvSpPr/>
          <p:nvPr/>
        </p:nvSpPr>
        <p:spPr>
          <a:xfrm>
            <a:off x="1829972" y="5631257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20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36425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PERGUNTA-CHAVE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se fosse o contrário?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</a:rPr>
              <a:t>Agora temos exemplos de entrada e resposta, mas não temos a fórmula.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0775" y="1828800"/>
            <a:ext cx="960120" cy="52578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865376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x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783080" y="1828800"/>
            <a:ext cx="960120" cy="52578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1865376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2354580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391156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783080" y="2354580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10512" y="2391156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12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2880360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916936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783080" y="2880360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10512" y="2916936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14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3406140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442716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783080" y="3406140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0512" y="3442716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16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2960" y="3931920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968496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783080" y="3931920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10512" y="3968496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18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2960" y="4457700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4494276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783080" y="4457700"/>
            <a:ext cx="96012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10512" y="4494276"/>
            <a:ext cx="90525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20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663440" y="1987335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2060487"/>
            <a:ext cx="204825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Modelo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</a:rPr>
              <a:t>?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3063240" y="2462823"/>
            <a:ext cx="14630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040880" y="2462823"/>
            <a:ext cx="11887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412480" y="1987335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85632" y="2060487"/>
            <a:ext cx="195681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Novas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previsões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584448" y="1639746"/>
            <a:ext cx="6858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</a:rPr>
              <a:t>Pergunta: qual regra poderia explicar os dados observados?</a:t>
            </a:r>
            <a:endParaRPr lang="en-US" sz="2000" dirty="0"/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8AA4D268-72A2-7B60-DD52-4E9DC47A0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277" y="3143250"/>
            <a:ext cx="3868615" cy="3322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Programação tradicional × Aprendizado de Máquina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40280" y="2240280"/>
            <a:ext cx="43258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2240280"/>
            <a:ext cx="333717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40281" y="4617720"/>
            <a:ext cx="43258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63440" y="4617720"/>
            <a:ext cx="26337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" y="19202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993392"/>
            <a:ext cx="122529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Dados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6014" y="1824228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9166" y="1897380"/>
            <a:ext cx="163677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Regras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(modelo)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67183" y="1901952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0335" y="1975104"/>
            <a:ext cx="149961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Respostas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F3A"/>
                </a:solidFill>
              </a:rPr>
              <a:t>Programação tradicional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279392"/>
            <a:ext cx="136245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Dados +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respostas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6014" y="4155948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9166" y="4229100"/>
            <a:ext cx="168249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Algoritmo de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aprendizado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67183" y="4279392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0335" y="4352544"/>
            <a:ext cx="149961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Modelo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1F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53469" y="4297680"/>
            <a:ext cx="4627332" cy="731520"/>
          </a:xfrm>
          <a:prstGeom prst="roundRect">
            <a:avLst>
              <a:gd name="adj" fmla="val 10000"/>
            </a:avLst>
          </a:prstGeom>
          <a:solidFill>
            <a:schemeClr val="accent4">
              <a:lumMod val="60000"/>
              <a:lumOff val="40000"/>
            </a:scheme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0063" y="4370832"/>
            <a:ext cx="4428978" cy="5852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24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Entrada x + </a:t>
            </a:r>
            <a:r>
              <a:rPr lang="en-US" sz="24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saída</a:t>
            </a:r>
            <a:r>
              <a:rPr lang="en-US" sz="24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y→ </a:t>
            </a:r>
            <a:r>
              <a:rPr lang="en-US" sz="24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modelo</a:t>
            </a:r>
            <a:r>
              <a:rPr lang="en-US" sz="24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f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783129" y="1899607"/>
            <a:ext cx="4697671" cy="731520"/>
          </a:xfrm>
          <a:prstGeom prst="roundRect">
            <a:avLst>
              <a:gd name="adj" fmla="val 10000"/>
            </a:avLst>
          </a:prstGeom>
          <a:solidFill>
            <a:schemeClr val="tx2">
              <a:lumMod val="20000"/>
              <a:lumOff val="80000"/>
            </a:schemeClr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3469" y="1991047"/>
            <a:ext cx="4572623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Entrada x + </a:t>
            </a:r>
            <a:r>
              <a:rPr lang="en-US" sz="24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modelo</a:t>
            </a:r>
            <a:r>
              <a:rPr lang="en-US" sz="24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f  → </a:t>
            </a:r>
            <a:r>
              <a:rPr lang="en-US" sz="24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saída</a:t>
            </a:r>
            <a:r>
              <a:rPr lang="en-US" sz="24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y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 Regressão Linear, escolhemos uma família de modelos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10241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Não pedimos ao computador para inventar</a:t>
            </a:r>
            <a:r>
              <a:rPr lang="en-US" sz="1400" b="1" dirty="0">
                <a:solidFill>
                  <a:srgbClr val="0B1F3A"/>
                </a:solidFill>
              </a:rPr>
              <a:t> qualquer fórmula. </a:t>
            </a:r>
          </a:p>
          <a:p>
            <a:pPr marL="342900" indent="-3429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Nós</a:t>
            </a:r>
            <a:r>
              <a:rPr lang="en-US" sz="1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escolhemos um </a:t>
            </a:r>
            <a:r>
              <a:rPr lang="en-US" sz="1400" b="1" u="sng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formato</a:t>
            </a:r>
            <a:r>
              <a:rPr lang="en-US" sz="1400" b="1" dirty="0">
                <a:solidFill>
                  <a:srgbClr val="0B1F3A"/>
                </a:solidFill>
              </a:rPr>
              <a:t> e aprendemos seus parâmetros.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205740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130552"/>
            <a:ext cx="557784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</a:t>
            </a:r>
            <a:r>
              <a:rPr lang="en-US" sz="36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r>
              <a:rPr lang="en-US" sz="36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+ </a:t>
            </a:r>
            <a:r>
              <a:rPr lang="en-US" sz="36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234440" y="4724791"/>
            <a:ext cx="2331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Formato conhecido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234440" y="5136271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7592" y="5209423"/>
            <a:ext cx="213969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função linear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4724791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0000"/>
                </a:solidFill>
              </a:rPr>
              <a:t>Parâmetros desconhecidos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74920" y="5136271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7E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5209423"/>
            <a:ext cx="195681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w  e  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95360" y="4724791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u="sng" dirty="0">
                <a:solidFill>
                  <a:srgbClr val="2563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Aprendizado</a:t>
            </a:r>
            <a:endParaRPr lang="en-US" sz="17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83880" y="5136271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7032" y="5209423"/>
            <a:ext cx="268833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encontrar </a:t>
            </a:r>
            <a:r>
              <a:rPr lang="en-US" sz="1600" b="1" dirty="0">
                <a:solidFill>
                  <a:srgbClr val="FF0000"/>
                </a:solidFill>
              </a:rPr>
              <a:t>w</a:t>
            </a:r>
            <a:r>
              <a:rPr lang="en-US" sz="1600" b="1" dirty="0">
                <a:solidFill>
                  <a:srgbClr val="0B1F3A"/>
                </a:solidFill>
              </a:rPr>
              <a:t> e </a:t>
            </a:r>
            <a:r>
              <a:rPr lang="en-US" sz="1600" b="1" dirty="0">
                <a:solidFill>
                  <a:srgbClr val="FF0000"/>
                </a:solidFill>
              </a:rPr>
              <a:t>b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D1F9F1D0-ACED-7506-8711-CBC8F16D7810}"/>
              </a:ext>
            </a:extLst>
          </p:cNvPr>
          <p:cNvSpPr/>
          <p:nvPr/>
        </p:nvSpPr>
        <p:spPr>
          <a:xfrm>
            <a:off x="777241" y="3147256"/>
            <a:ext cx="339617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A entrada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será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conhecida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2A93E982-7233-CF66-CB67-C9771494A061}"/>
              </a:ext>
            </a:extLst>
          </p:cNvPr>
          <p:cNvSpPr/>
          <p:nvPr/>
        </p:nvSpPr>
        <p:spPr>
          <a:xfrm>
            <a:off x="1023815" y="3509030"/>
            <a:ext cx="2569777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0B1F5D2E-5D6B-D81F-AA46-306CA543BE57}"/>
              </a:ext>
            </a:extLst>
          </p:cNvPr>
          <p:cNvSpPr/>
          <p:nvPr/>
        </p:nvSpPr>
        <p:spPr>
          <a:xfrm>
            <a:off x="1023815" y="3582182"/>
            <a:ext cx="2496625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Entrada X </a:t>
            </a:r>
            <a:r>
              <a:rPr lang="en-US" sz="1600" b="1" dirty="0" err="1">
                <a:solidFill>
                  <a:srgbClr val="0B1F3A"/>
                </a:solidFill>
              </a:rPr>
              <a:t>será</a:t>
            </a:r>
            <a:r>
              <a:rPr lang="en-US" sz="1600" b="1" dirty="0">
                <a:solidFill>
                  <a:srgbClr val="0B1F3A"/>
                </a:solidFill>
              </a:rPr>
              <a:t> </a:t>
            </a:r>
            <a:r>
              <a:rPr lang="en-US" sz="1600" b="1" dirty="0" err="1">
                <a:solidFill>
                  <a:srgbClr val="0B1F3A"/>
                </a:solidFill>
              </a:rPr>
              <a:t>fornecida</a:t>
            </a:r>
            <a:endParaRPr lang="en-US" sz="16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5808729D-6ABD-4049-68BB-83E3B6D0E7A1}"/>
              </a:ext>
            </a:extLst>
          </p:cNvPr>
          <p:cNvSpPr/>
          <p:nvPr/>
        </p:nvSpPr>
        <p:spPr>
          <a:xfrm>
            <a:off x="8183880" y="3202393"/>
            <a:ext cx="339617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A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saída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será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conhecida</a:t>
            </a:r>
            <a:endParaRPr 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3C6696B0-2D32-7596-2D7C-A216767AB266}"/>
              </a:ext>
            </a:extLst>
          </p:cNvPr>
          <p:cNvSpPr/>
          <p:nvPr/>
        </p:nvSpPr>
        <p:spPr>
          <a:xfrm>
            <a:off x="8430454" y="3564167"/>
            <a:ext cx="2569777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B302612B-D0DA-C4FD-531B-857C75F56EB8}"/>
              </a:ext>
            </a:extLst>
          </p:cNvPr>
          <p:cNvSpPr/>
          <p:nvPr/>
        </p:nvSpPr>
        <p:spPr>
          <a:xfrm>
            <a:off x="8430454" y="3637319"/>
            <a:ext cx="2496625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B1F3A"/>
                </a:solidFill>
              </a:rPr>
              <a:t>Saída</a:t>
            </a:r>
            <a:r>
              <a:rPr lang="en-US" sz="1600" b="1" dirty="0">
                <a:solidFill>
                  <a:srgbClr val="0B1F3A"/>
                </a:solidFill>
              </a:rPr>
              <a:t> Y </a:t>
            </a:r>
            <a:r>
              <a:rPr lang="en-US" sz="1600" b="1" dirty="0" err="1">
                <a:solidFill>
                  <a:srgbClr val="0B1F3A"/>
                </a:solidFill>
              </a:rPr>
              <a:t>será</a:t>
            </a:r>
            <a:r>
              <a:rPr lang="en-US" sz="1600" b="1" dirty="0">
                <a:solidFill>
                  <a:srgbClr val="0B1F3A"/>
                </a:solidFill>
              </a:rPr>
              <a:t> </a:t>
            </a:r>
            <a:r>
              <a:rPr lang="en-US" sz="1600" b="1" dirty="0" err="1">
                <a:solidFill>
                  <a:srgbClr val="0B1F3A"/>
                </a:solidFill>
              </a:rPr>
              <a:t>fornecida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Parte I — O problema de regressão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024128"/>
            <a:ext cx="10424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r>
              <a:rPr lang="en-US" sz="2000" b="1" dirty="0" err="1">
                <a:solidFill>
                  <a:srgbClr val="0B1F3A"/>
                </a:solidFill>
              </a:rPr>
              <a:t>Considere</a:t>
            </a:r>
            <a:r>
              <a:rPr lang="en-US" sz="2000" b="1" dirty="0">
                <a:solidFill>
                  <a:srgbClr val="0B1F3A"/>
                </a:solidFill>
              </a:rPr>
              <a:t> o </a:t>
            </a:r>
            <a:r>
              <a:rPr lang="en-US" sz="2000" b="1" dirty="0" err="1">
                <a:solidFill>
                  <a:srgbClr val="0B1F3A"/>
                </a:solidFill>
              </a:rPr>
              <a:t>Exemplo</a:t>
            </a:r>
            <a:r>
              <a:rPr lang="en-US" sz="2000" b="1" dirty="0">
                <a:solidFill>
                  <a:srgbClr val="0B1F3A"/>
                </a:solidFill>
              </a:rPr>
              <a:t>: </a:t>
            </a:r>
            <a:r>
              <a:rPr lang="pt-BR" sz="2000" dirty="0"/>
              <a:t>João é corretor de imóveis e especializado em apartamentos. João tem uma estimativa de preço dos apartamentos baseados na lista a seguir: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20343" y="5320558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3495" y="5393710"/>
            <a:ext cx="259689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Variáveis independentes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X – </a:t>
            </a:r>
            <a:r>
              <a:rPr lang="en-US" sz="1800" b="1" dirty="0" err="1">
                <a:solidFill>
                  <a:srgbClr val="0B1F3A"/>
                </a:solidFill>
              </a:rPr>
              <a:t>Área</a:t>
            </a:r>
            <a:r>
              <a:rPr lang="en-US" sz="1800" b="1" dirty="0">
                <a:solidFill>
                  <a:srgbClr val="0B1F3A"/>
                </a:solidFill>
              </a:rPr>
              <a:t> (m</a:t>
            </a:r>
            <a:r>
              <a:rPr lang="en-US" sz="1800" b="1" baseline="30000" dirty="0">
                <a:solidFill>
                  <a:srgbClr val="0B1F3A"/>
                </a:solidFill>
              </a:rPr>
              <a:t>2</a:t>
            </a:r>
            <a:r>
              <a:rPr lang="en-US" sz="1800" b="1" dirty="0">
                <a:solidFill>
                  <a:srgbClr val="0B1F3A"/>
                </a:solidFill>
              </a:rPr>
              <a:t>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46423" y="5759470"/>
            <a:ext cx="12801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09463" y="5320558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0000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82615" y="5393710"/>
            <a:ext cx="20482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Modelo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f(X)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86903" y="5759470"/>
            <a:ext cx="12801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9943" y="5320558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23095" y="5393710"/>
            <a:ext cx="213969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Variável dependente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Y – </a:t>
            </a:r>
            <a:r>
              <a:rPr lang="en-US" sz="1800" b="1" dirty="0" err="1">
                <a:solidFill>
                  <a:srgbClr val="0B1F3A"/>
                </a:solidFill>
              </a:rPr>
              <a:t>Preço</a:t>
            </a:r>
            <a:r>
              <a:rPr lang="en-US" sz="1800" b="1" dirty="0">
                <a:solidFill>
                  <a:srgbClr val="0B1F3A"/>
                </a:solidFill>
              </a:rPr>
              <a:t> (R$)</a:t>
            </a:r>
            <a:endParaRPr lang="en-US" sz="1800" dirty="0"/>
          </a:p>
        </p:txBody>
      </p:sp>
      <p:graphicFrame>
        <p:nvGraphicFramePr>
          <p:cNvPr id="42" name="Tabela 41">
            <a:extLst>
              <a:ext uri="{FF2B5EF4-FFF2-40B4-BE49-F238E27FC236}">
                <a16:creationId xmlns:a16="http://schemas.microsoft.com/office/drawing/2014/main" id="{7F23275C-4B87-68D8-D33A-FECD732E1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336437"/>
              </p:ext>
            </p:extLst>
          </p:nvPr>
        </p:nvGraphicFramePr>
        <p:xfrm>
          <a:off x="839063" y="1655064"/>
          <a:ext cx="3568814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985">
                  <a:extLst>
                    <a:ext uri="{9D8B030D-6E8A-4147-A177-3AD203B41FA5}">
                      <a16:colId xmlns:a16="http://schemas.microsoft.com/office/drawing/2014/main" val="2681282552"/>
                    </a:ext>
                  </a:extLst>
                </a:gridCol>
                <a:gridCol w="2258829">
                  <a:extLst>
                    <a:ext uri="{9D8B030D-6E8A-4147-A177-3AD203B41FA5}">
                      <a16:colId xmlns:a16="http://schemas.microsoft.com/office/drawing/2014/main" val="1979758166"/>
                    </a:ext>
                  </a:extLst>
                </a:gridCol>
              </a:tblGrid>
              <a:tr h="191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Área (m</a:t>
                      </a:r>
                      <a:r>
                        <a:rPr lang="pt-BR" baseline="30000" dirty="0"/>
                        <a:t>2</a:t>
                      </a:r>
                      <a:r>
                        <a:rPr lang="pt-B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Preço (R$ mil)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26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220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03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260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955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310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3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350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733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410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358022"/>
                  </a:ext>
                </a:extLst>
              </a:tr>
            </a:tbl>
          </a:graphicData>
        </a:graphic>
      </p:graphicFrame>
      <p:sp>
        <p:nvSpPr>
          <p:cNvPr id="44" name="Text 6">
            <a:extLst>
              <a:ext uri="{FF2B5EF4-FFF2-40B4-BE49-F238E27FC236}">
                <a16:creationId xmlns:a16="http://schemas.microsoft.com/office/drawing/2014/main" id="{FB5E8989-FFB6-95F0-EEAD-FA40C5A04483}"/>
              </a:ext>
            </a:extLst>
          </p:cNvPr>
          <p:cNvSpPr/>
          <p:nvPr/>
        </p:nvSpPr>
        <p:spPr>
          <a:xfrm>
            <a:off x="822960" y="4355864"/>
            <a:ext cx="10424160" cy="53492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pt-BR" sz="2300" dirty="0"/>
              <a:t>João </a:t>
            </a:r>
            <a:r>
              <a:rPr lang="pt-BR" sz="2300" dirty="0" err="1"/>
              <a:t>consegiu</a:t>
            </a:r>
            <a:r>
              <a:rPr lang="pt-BR" sz="2300" dirty="0"/>
              <a:t> um cliente que estava interessado em um apartamento de 65 m</a:t>
            </a:r>
            <a:r>
              <a:rPr lang="pt-BR" sz="2300" baseline="30000" dirty="0"/>
              <a:t>2 </a:t>
            </a:r>
            <a:r>
              <a:rPr lang="pt-BR" sz="2300" dirty="0"/>
              <a:t>. Mas </a:t>
            </a:r>
            <a:r>
              <a:rPr lang="pt-BR" sz="2300" dirty="0" err="1"/>
              <a:t>joão</a:t>
            </a:r>
            <a:r>
              <a:rPr lang="pt-BR" sz="2300" dirty="0"/>
              <a:t> não sabia precificar com segurança um apartamento de 65 m</a:t>
            </a:r>
            <a:r>
              <a:rPr lang="pt-BR" sz="2300" baseline="30000" dirty="0"/>
              <a:t>2 </a:t>
            </a:r>
            <a:r>
              <a:rPr lang="pt-BR" sz="2300" dirty="0"/>
              <a:t>já que este item não existia em sua lista. Como </a:t>
            </a:r>
            <a:r>
              <a:rPr lang="pt-BR" sz="2300" dirty="0" err="1"/>
              <a:t>joão</a:t>
            </a:r>
            <a:r>
              <a:rPr lang="pt-BR" sz="2300" dirty="0"/>
              <a:t> poderia resolver o problema ?</a:t>
            </a:r>
          </a:p>
          <a:p>
            <a:endParaRPr lang="en-US" sz="2000" baseline="30000" dirty="0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7D376C1A-DEE2-8C13-E0B3-63B7935F14F4}"/>
              </a:ext>
            </a:extLst>
          </p:cNvPr>
          <p:cNvSpPr/>
          <p:nvPr/>
        </p:nvSpPr>
        <p:spPr>
          <a:xfrm>
            <a:off x="1530413" y="4963940"/>
            <a:ext cx="1523059" cy="4114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entrada</a:t>
            </a:r>
            <a:endParaRPr lang="en-US" sz="1800" dirty="0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FC8EDC60-C36F-7FCB-F0BD-72B2963F589E}"/>
              </a:ext>
            </a:extLst>
          </p:cNvPr>
          <p:cNvSpPr/>
          <p:nvPr/>
        </p:nvSpPr>
        <p:spPr>
          <a:xfrm>
            <a:off x="9529231" y="4982229"/>
            <a:ext cx="1523059" cy="4114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0B1F3A"/>
                </a:solidFill>
              </a:rPr>
              <a:t>saída</a:t>
            </a:r>
            <a:endParaRPr lang="en-US" sz="1800" dirty="0"/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B16D77EE-6A35-3477-74B4-AA462621AAF2}"/>
              </a:ext>
            </a:extLst>
          </p:cNvPr>
          <p:cNvSpPr/>
          <p:nvPr/>
        </p:nvSpPr>
        <p:spPr>
          <a:xfrm>
            <a:off x="5645213" y="4966520"/>
            <a:ext cx="1523059" cy="4114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Formula ?</a:t>
            </a:r>
            <a:endParaRPr lang="en-US" sz="1800" dirty="0"/>
          </a:p>
        </p:txBody>
      </p:sp>
      <p:graphicFrame>
        <p:nvGraphicFramePr>
          <p:cNvPr id="54" name="Tabela 53">
            <a:extLst>
              <a:ext uri="{FF2B5EF4-FFF2-40B4-BE49-F238E27FC236}">
                <a16:creationId xmlns:a16="http://schemas.microsoft.com/office/drawing/2014/main" id="{884B1846-9754-9655-DDEC-41260F143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039344"/>
              </p:ext>
            </p:extLst>
          </p:nvPr>
        </p:nvGraphicFramePr>
        <p:xfrm>
          <a:off x="5663350" y="1646467"/>
          <a:ext cx="356881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985">
                  <a:extLst>
                    <a:ext uri="{9D8B030D-6E8A-4147-A177-3AD203B41FA5}">
                      <a16:colId xmlns:a16="http://schemas.microsoft.com/office/drawing/2014/main" val="2681282552"/>
                    </a:ext>
                  </a:extLst>
                </a:gridCol>
                <a:gridCol w="2258829">
                  <a:extLst>
                    <a:ext uri="{9D8B030D-6E8A-4147-A177-3AD203B41FA5}">
                      <a16:colId xmlns:a16="http://schemas.microsoft.com/office/drawing/2014/main" val="1979758166"/>
                    </a:ext>
                  </a:extLst>
                </a:gridCol>
              </a:tblGrid>
              <a:tr h="191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Área (m</a:t>
                      </a:r>
                      <a:r>
                        <a:rPr lang="pt-BR" baseline="30000" dirty="0"/>
                        <a:t>2</a:t>
                      </a:r>
                      <a:r>
                        <a:rPr lang="pt-B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Preço (R$ mil)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26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220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03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260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955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310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3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5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350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733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410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358022"/>
                  </a:ext>
                </a:extLst>
              </a:tr>
            </a:tbl>
          </a:graphicData>
        </a:graphic>
      </p:graphicFrame>
      <p:sp>
        <p:nvSpPr>
          <p:cNvPr id="55" name="Seta: para a Direita 54">
            <a:extLst>
              <a:ext uri="{FF2B5EF4-FFF2-40B4-BE49-F238E27FC236}">
                <a16:creationId xmlns:a16="http://schemas.microsoft.com/office/drawing/2014/main" id="{EDD430B7-29EF-23EB-1818-705B62A9BC1F}"/>
              </a:ext>
            </a:extLst>
          </p:cNvPr>
          <p:cNvSpPr/>
          <p:nvPr/>
        </p:nvSpPr>
        <p:spPr>
          <a:xfrm>
            <a:off x="4593144" y="264199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0F953-B53D-9240-CF86-F41AB0EA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74AB84-915E-412E-113D-D461736020D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27C915-FACF-86B5-F50F-90E842814AC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EA5F0E-B880-2C63-D66D-250378AAFDD2}"/>
              </a:ext>
            </a:extLst>
          </p:cNvPr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E378837-8B5E-F760-A213-8F7E9F3C7A86}"/>
              </a:ext>
            </a:extLst>
          </p:cNvPr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Parte I — O problema de regressão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235A575-A4A6-4AE7-2773-7897D20FFFB1}"/>
              </a:ext>
            </a:extLst>
          </p:cNvPr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B3E3FF-C20C-543C-3CAA-93EA1020D8E7}"/>
              </a:ext>
            </a:extLst>
          </p:cNvPr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  <p:graphicFrame>
        <p:nvGraphicFramePr>
          <p:cNvPr id="54" name="Tabela 53">
            <a:extLst>
              <a:ext uri="{FF2B5EF4-FFF2-40B4-BE49-F238E27FC236}">
                <a16:creationId xmlns:a16="http://schemas.microsoft.com/office/drawing/2014/main" id="{378CE028-E47E-1F76-B15A-FDF0B6739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34000"/>
              </p:ext>
            </p:extLst>
          </p:nvPr>
        </p:nvGraphicFramePr>
        <p:xfrm>
          <a:off x="502920" y="2404364"/>
          <a:ext cx="356881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985">
                  <a:extLst>
                    <a:ext uri="{9D8B030D-6E8A-4147-A177-3AD203B41FA5}">
                      <a16:colId xmlns:a16="http://schemas.microsoft.com/office/drawing/2014/main" val="2681282552"/>
                    </a:ext>
                  </a:extLst>
                </a:gridCol>
                <a:gridCol w="2258829">
                  <a:extLst>
                    <a:ext uri="{9D8B030D-6E8A-4147-A177-3AD203B41FA5}">
                      <a16:colId xmlns:a16="http://schemas.microsoft.com/office/drawing/2014/main" val="1979758166"/>
                    </a:ext>
                  </a:extLst>
                </a:gridCol>
              </a:tblGrid>
              <a:tr h="191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Área (m</a:t>
                      </a:r>
                      <a:r>
                        <a:rPr lang="pt-BR" baseline="30000" dirty="0"/>
                        <a:t>2</a:t>
                      </a:r>
                      <a:r>
                        <a:rPr lang="pt-B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Preço (R$ mil)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26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220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03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260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955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310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3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5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350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733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410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358022"/>
                  </a:ext>
                </a:extLst>
              </a:tr>
            </a:tbl>
          </a:graphicData>
        </a:graphic>
      </p:graphicFrame>
      <p:sp>
        <p:nvSpPr>
          <p:cNvPr id="55" name="Seta: para a Direita 54">
            <a:extLst>
              <a:ext uri="{FF2B5EF4-FFF2-40B4-BE49-F238E27FC236}">
                <a16:creationId xmlns:a16="http://schemas.microsoft.com/office/drawing/2014/main" id="{69BEB379-FAB3-AC29-A8BC-7D86F8DA31E4}"/>
              </a:ext>
            </a:extLst>
          </p:cNvPr>
          <p:cNvSpPr/>
          <p:nvPr/>
        </p:nvSpPr>
        <p:spPr>
          <a:xfrm>
            <a:off x="4205447" y="3173437"/>
            <a:ext cx="513510" cy="374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82D6CF03-162F-1D5E-53C6-D3C27194D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670" y="1551911"/>
            <a:ext cx="6724650" cy="4591050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667EAB71-E8B2-A6D0-90E0-E04640B313E5}"/>
              </a:ext>
            </a:extLst>
          </p:cNvPr>
          <p:cNvSpPr/>
          <p:nvPr/>
        </p:nvSpPr>
        <p:spPr>
          <a:xfrm>
            <a:off x="868680" y="1024128"/>
            <a:ext cx="10424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pt-BR" sz="2000" b="1" dirty="0">
                <a:solidFill>
                  <a:srgbClr val="0B1F3A"/>
                </a:solidFill>
              </a:rPr>
              <a:t>Como ficam os dados em um plano cartesiano R</a:t>
            </a:r>
            <a:r>
              <a:rPr lang="pt-BR" sz="2000" b="1" baseline="30000" dirty="0">
                <a:solidFill>
                  <a:srgbClr val="0B1F3A"/>
                </a:solidFill>
              </a:rPr>
              <a:t>2</a:t>
            </a:r>
            <a:r>
              <a:rPr lang="pt-BR" sz="2000" b="1" dirty="0">
                <a:solidFill>
                  <a:srgbClr val="0B1F3A"/>
                </a:solidFill>
              </a:rPr>
              <a:t>, ou seja, gráfico </a:t>
            </a:r>
            <a:r>
              <a:rPr lang="pt-BR" sz="2000" b="1" dirty="0" err="1">
                <a:solidFill>
                  <a:srgbClr val="0B1F3A"/>
                </a:solidFill>
              </a:rPr>
              <a:t>x,y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8677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96451-C7E2-B7B7-B191-A2155B8E1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F17488-8989-7E2F-BAC0-99185FD99E4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91BB9F9-DAA8-4EC3-4327-542515E0658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8B8084-C71F-12A6-E5E9-C5B2B736DC84}"/>
              </a:ext>
            </a:extLst>
          </p:cNvPr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A2E0BD-EC75-3ABE-2479-5AF95C9B88A8}"/>
              </a:ext>
            </a:extLst>
          </p:cNvPr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Parte I — O problema de regressão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347D99D-6CC8-467F-EE81-27C63CD3EFC0}"/>
              </a:ext>
            </a:extLst>
          </p:cNvPr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7D4308-5581-C99B-02D5-7EFA3D4B269F}"/>
              </a:ext>
            </a:extLst>
          </p:cNvPr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  <p:graphicFrame>
        <p:nvGraphicFramePr>
          <p:cNvPr id="54" name="Tabela 53">
            <a:extLst>
              <a:ext uri="{FF2B5EF4-FFF2-40B4-BE49-F238E27FC236}">
                <a16:creationId xmlns:a16="http://schemas.microsoft.com/office/drawing/2014/main" id="{DBF5D212-6424-D345-041C-22773ACCF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197100"/>
              </p:ext>
            </p:extLst>
          </p:nvPr>
        </p:nvGraphicFramePr>
        <p:xfrm>
          <a:off x="508706" y="1965349"/>
          <a:ext cx="356881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985">
                  <a:extLst>
                    <a:ext uri="{9D8B030D-6E8A-4147-A177-3AD203B41FA5}">
                      <a16:colId xmlns:a16="http://schemas.microsoft.com/office/drawing/2014/main" val="2681282552"/>
                    </a:ext>
                  </a:extLst>
                </a:gridCol>
                <a:gridCol w="2258829">
                  <a:extLst>
                    <a:ext uri="{9D8B030D-6E8A-4147-A177-3AD203B41FA5}">
                      <a16:colId xmlns:a16="http://schemas.microsoft.com/office/drawing/2014/main" val="1979758166"/>
                    </a:ext>
                  </a:extLst>
                </a:gridCol>
              </a:tblGrid>
              <a:tr h="191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Área (m</a:t>
                      </a:r>
                      <a:r>
                        <a:rPr lang="pt-BR" baseline="30000" dirty="0"/>
                        <a:t>2</a:t>
                      </a:r>
                      <a:r>
                        <a:rPr lang="pt-B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Preço (R$ mil)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26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220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03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260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955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310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3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5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350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733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410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358022"/>
                  </a:ext>
                </a:extLst>
              </a:tr>
            </a:tbl>
          </a:graphicData>
        </a:graphic>
      </p:graphicFrame>
      <p:sp>
        <p:nvSpPr>
          <p:cNvPr id="55" name="Seta: para a Direita 54">
            <a:extLst>
              <a:ext uri="{FF2B5EF4-FFF2-40B4-BE49-F238E27FC236}">
                <a16:creationId xmlns:a16="http://schemas.microsoft.com/office/drawing/2014/main" id="{DB06E828-FCA4-C51A-9AE4-31D2E40E49F3}"/>
              </a:ext>
            </a:extLst>
          </p:cNvPr>
          <p:cNvSpPr/>
          <p:nvPr/>
        </p:nvSpPr>
        <p:spPr>
          <a:xfrm>
            <a:off x="4173770" y="2431499"/>
            <a:ext cx="513510" cy="374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4618658D-0707-1AB6-FF24-9DF3600CC188}"/>
              </a:ext>
            </a:extLst>
          </p:cNvPr>
          <p:cNvSpPr/>
          <p:nvPr/>
        </p:nvSpPr>
        <p:spPr>
          <a:xfrm>
            <a:off x="502920" y="1024128"/>
            <a:ext cx="11074400" cy="87287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pt-BR" sz="2000" b="1" dirty="0">
                <a:solidFill>
                  <a:srgbClr val="0B1F3A"/>
                </a:solidFill>
              </a:rPr>
              <a:t>Fala a “formula”, ou seja, o modelo, a equação que fornece a solução...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dirty="0">
                <a:solidFill>
                  <a:srgbClr val="FF0000"/>
                </a:solidFill>
              </a:rPr>
              <a:t>formula</a:t>
            </a:r>
            <a:r>
              <a:rPr lang="en-US" sz="2000" dirty="0"/>
              <a:t> </a:t>
            </a:r>
            <a:r>
              <a:rPr lang="en-US" sz="2000" dirty="0" err="1"/>
              <a:t>desenhará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FF0000"/>
                </a:solidFill>
              </a:rPr>
              <a:t>linha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reta</a:t>
            </a:r>
            <a:r>
              <a:rPr lang="en-US" sz="2000" dirty="0">
                <a:solidFill>
                  <a:srgbClr val="FF0000"/>
                </a:solidFill>
              </a:rPr>
              <a:t> (linear) </a:t>
            </a:r>
            <a:r>
              <a:rPr lang="en-US" sz="2000" dirty="0" err="1"/>
              <a:t>que</a:t>
            </a:r>
            <a:r>
              <a:rPr lang="en-US" sz="2000" dirty="0"/>
              <a:t> se </a:t>
            </a:r>
            <a:r>
              <a:rPr lang="en-US" sz="2000" b="1" dirty="0" err="1"/>
              <a:t>ajustará</a:t>
            </a:r>
            <a:r>
              <a:rPr lang="en-US" sz="2000" b="1" dirty="0"/>
              <a:t> o </a:t>
            </a:r>
            <a:r>
              <a:rPr lang="en-US" sz="2000" b="1" dirty="0" err="1"/>
              <a:t>maximo</a:t>
            </a:r>
            <a:r>
              <a:rPr lang="en-US" sz="2000" b="1" dirty="0"/>
              <a:t> </a:t>
            </a:r>
            <a:r>
              <a:rPr lang="en-US" sz="2000" b="1" dirty="0" err="1"/>
              <a:t>possível</a:t>
            </a:r>
            <a:r>
              <a:rPr lang="en-US" sz="2000" b="1" dirty="0"/>
              <a:t> a </a:t>
            </a:r>
            <a:r>
              <a:rPr lang="en-US" sz="2000" b="1" dirty="0" err="1"/>
              <a:t>todos</a:t>
            </a:r>
            <a:r>
              <a:rPr lang="en-US" sz="2000" b="1" dirty="0"/>
              <a:t> </a:t>
            </a:r>
            <a:r>
              <a:rPr lang="en-US" sz="2000" b="1" dirty="0" err="1"/>
              <a:t>os</a:t>
            </a:r>
            <a:r>
              <a:rPr lang="en-US" sz="2000" b="1" dirty="0"/>
              <a:t> </a:t>
            </a:r>
            <a:r>
              <a:rPr lang="en-US" sz="2000" b="1" dirty="0" err="1"/>
              <a:t>pontos</a:t>
            </a:r>
            <a:r>
              <a:rPr lang="en-US" sz="2000" dirty="0"/>
              <a:t>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ECC1CD4-88DC-279E-9D3C-FC9A7A65F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884" y="1874520"/>
            <a:ext cx="6657975" cy="4572000"/>
          </a:xfrm>
          <a:prstGeom prst="rect">
            <a:avLst/>
          </a:prstGeom>
        </p:spPr>
      </p:pic>
      <p:sp>
        <p:nvSpPr>
          <p:cNvPr id="11" name="Shape 7">
            <a:extLst>
              <a:ext uri="{FF2B5EF4-FFF2-40B4-BE49-F238E27FC236}">
                <a16:creationId xmlns:a16="http://schemas.microsoft.com/office/drawing/2014/main" id="{A0DC5778-71B5-1870-2F5F-5B188AEAE45C}"/>
              </a:ext>
            </a:extLst>
          </p:cNvPr>
          <p:cNvSpPr/>
          <p:nvPr/>
        </p:nvSpPr>
        <p:spPr>
          <a:xfrm>
            <a:off x="318971" y="5588420"/>
            <a:ext cx="1409036" cy="28154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29D3C40C-5781-6D13-2295-909650E6E4B6}"/>
              </a:ext>
            </a:extLst>
          </p:cNvPr>
          <p:cNvSpPr/>
          <p:nvPr/>
        </p:nvSpPr>
        <p:spPr>
          <a:xfrm>
            <a:off x="324196" y="5651019"/>
            <a:ext cx="1409036" cy="1876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X – </a:t>
            </a:r>
            <a:r>
              <a:rPr lang="en-US" sz="1800" b="1" dirty="0" err="1">
                <a:solidFill>
                  <a:srgbClr val="0B1F3A"/>
                </a:solidFill>
              </a:rPr>
              <a:t>Área</a:t>
            </a:r>
            <a:r>
              <a:rPr lang="en-US" sz="1800" b="1" dirty="0">
                <a:solidFill>
                  <a:srgbClr val="0B1F3A"/>
                </a:solidFill>
              </a:rPr>
              <a:t> (m</a:t>
            </a:r>
            <a:r>
              <a:rPr lang="en-US" sz="1800" b="1" baseline="30000" dirty="0">
                <a:solidFill>
                  <a:srgbClr val="0B1F3A"/>
                </a:solidFill>
              </a:rPr>
              <a:t>2</a:t>
            </a:r>
            <a:r>
              <a:rPr lang="en-US" sz="1800" b="1" dirty="0">
                <a:solidFill>
                  <a:srgbClr val="0B1F3A"/>
                </a:solidFill>
              </a:rPr>
              <a:t>)</a:t>
            </a:r>
            <a:endParaRPr lang="en-US" sz="18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C232679D-0D04-56A0-98EF-6AB694F590D6}"/>
              </a:ext>
            </a:extLst>
          </p:cNvPr>
          <p:cNvSpPr/>
          <p:nvPr/>
        </p:nvSpPr>
        <p:spPr>
          <a:xfrm>
            <a:off x="1803400" y="5744856"/>
            <a:ext cx="236415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BE9F17F8-4BC5-9DE7-D180-20A5D32DB50C}"/>
              </a:ext>
            </a:extLst>
          </p:cNvPr>
          <p:cNvSpPr/>
          <p:nvPr/>
        </p:nvSpPr>
        <p:spPr>
          <a:xfrm>
            <a:off x="2056364" y="5569556"/>
            <a:ext cx="887162" cy="324011"/>
          </a:xfrm>
          <a:prstGeom prst="roundRect">
            <a:avLst>
              <a:gd name="adj" fmla="val 8421"/>
            </a:avLst>
          </a:prstGeom>
          <a:solidFill>
            <a:srgbClr val="FF0000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2AA60B21-4D87-C3CC-6B4C-A52EAEE6390F}"/>
              </a:ext>
            </a:extLst>
          </p:cNvPr>
          <p:cNvSpPr/>
          <p:nvPr/>
        </p:nvSpPr>
        <p:spPr>
          <a:xfrm>
            <a:off x="2086353" y="5580241"/>
            <a:ext cx="869062" cy="29789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Modelo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f(X)</a:t>
            </a:r>
            <a:endParaRPr lang="en-US" sz="18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A4D4D4C9-5D73-798B-2DB9-63EAD8A12AD6}"/>
              </a:ext>
            </a:extLst>
          </p:cNvPr>
          <p:cNvSpPr/>
          <p:nvPr/>
        </p:nvSpPr>
        <p:spPr>
          <a:xfrm>
            <a:off x="3015987" y="5744856"/>
            <a:ext cx="26244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85918F85-CC1A-2123-9F6A-E87AF4B743A3}"/>
              </a:ext>
            </a:extLst>
          </p:cNvPr>
          <p:cNvSpPr/>
          <p:nvPr/>
        </p:nvSpPr>
        <p:spPr>
          <a:xfrm>
            <a:off x="3296647" y="5522062"/>
            <a:ext cx="1390633" cy="371506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54211EBF-CDCF-E592-4A8C-C0CC7025742F}"/>
              </a:ext>
            </a:extLst>
          </p:cNvPr>
          <p:cNvSpPr/>
          <p:nvPr/>
        </p:nvSpPr>
        <p:spPr>
          <a:xfrm>
            <a:off x="3369799" y="5532157"/>
            <a:ext cx="1256909" cy="345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Y – </a:t>
            </a:r>
            <a:r>
              <a:rPr lang="en-US" sz="1800" b="1" dirty="0" err="1">
                <a:solidFill>
                  <a:srgbClr val="0B1F3A"/>
                </a:solidFill>
              </a:rPr>
              <a:t>Preço</a:t>
            </a:r>
            <a:r>
              <a:rPr lang="en-US" sz="1800" b="1" dirty="0">
                <a:solidFill>
                  <a:srgbClr val="0B1F3A"/>
                </a:solidFill>
              </a:rPr>
              <a:t> (R$)</a:t>
            </a:r>
            <a:endParaRPr lang="en-US" sz="18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FDBA3AEE-2CD7-A099-A061-3B642070AA9B}"/>
              </a:ext>
            </a:extLst>
          </p:cNvPr>
          <p:cNvSpPr/>
          <p:nvPr/>
        </p:nvSpPr>
        <p:spPr>
          <a:xfrm>
            <a:off x="289903" y="5261446"/>
            <a:ext cx="1307139" cy="2815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entrada</a:t>
            </a:r>
            <a:endParaRPr lang="en-US" sz="18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C01519C2-888D-FFEF-C454-85DF33EBEECE}"/>
              </a:ext>
            </a:extLst>
          </p:cNvPr>
          <p:cNvSpPr/>
          <p:nvPr/>
        </p:nvSpPr>
        <p:spPr>
          <a:xfrm>
            <a:off x="3302352" y="5225095"/>
            <a:ext cx="1307139" cy="2815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0B1F3A"/>
                </a:solidFill>
              </a:rPr>
              <a:t>saída</a:t>
            </a:r>
            <a:endParaRPr lang="en-US" sz="18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97000889-84CD-8AC8-0C3B-942644BF7198}"/>
              </a:ext>
            </a:extLst>
          </p:cNvPr>
          <p:cNvSpPr/>
          <p:nvPr/>
        </p:nvSpPr>
        <p:spPr>
          <a:xfrm>
            <a:off x="1852168" y="5278257"/>
            <a:ext cx="1307139" cy="2815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0B1F3A"/>
                </a:solidFill>
              </a:rPr>
              <a:t>Fórmula</a:t>
            </a:r>
            <a:r>
              <a:rPr lang="en-US" sz="1800" b="1" dirty="0">
                <a:solidFill>
                  <a:srgbClr val="0B1F3A"/>
                </a:solidFill>
              </a:rPr>
              <a:t> ?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01419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234D2-4320-BD87-366A-D46E7303F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1155292-8660-225B-8FD3-5FC59DFCDC9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FC8550-9DF2-0130-3AD3-735608F71888}"/>
              </a:ext>
            </a:extLst>
          </p:cNvPr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E INTERCEPTO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DF8FFB-5AE0-CE83-B8E2-24986EC3DA3E}"/>
              </a:ext>
            </a:extLst>
          </p:cNvPr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linear simples – </a:t>
            </a:r>
            <a:r>
              <a:rPr lang="en-US" sz="28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Equação</a:t>
            </a: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da Reta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59B9E8-8EF5-28A1-4C67-71759D0CFA6B}"/>
              </a:ext>
            </a:extLst>
          </p:cNvPr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6331033-1551-BB7A-88CE-7E11F22507D0}"/>
              </a:ext>
            </a:extLst>
          </p:cNvPr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85F571B-6D44-E14C-0648-95C812BDA5A2}"/>
              </a:ext>
            </a:extLst>
          </p:cNvPr>
          <p:cNvSpPr/>
          <p:nvPr/>
        </p:nvSpPr>
        <p:spPr>
          <a:xfrm>
            <a:off x="868680" y="1188720"/>
            <a:ext cx="32004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AB6B25A-216C-FDB6-E255-A2110EA068D1}"/>
              </a:ext>
            </a:extLst>
          </p:cNvPr>
          <p:cNvSpPr/>
          <p:nvPr/>
        </p:nvSpPr>
        <p:spPr>
          <a:xfrm>
            <a:off x="1005840" y="1261872"/>
            <a:ext cx="2926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</a:t>
            </a:r>
            <a:r>
              <a:rPr lang="en-US" sz="32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+ </a:t>
            </a:r>
            <a:r>
              <a:rPr lang="en-US" sz="32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9888123-E933-320A-D205-170C0A89FBF4}"/>
              </a:ext>
            </a:extLst>
          </p:cNvPr>
          <p:cNvSpPr/>
          <p:nvPr/>
        </p:nvSpPr>
        <p:spPr>
          <a:xfrm>
            <a:off x="6492240" y="5623560"/>
            <a:ext cx="44805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2C0B9A7-D8A3-994D-CCD0-3D27D3004A0C}"/>
              </a:ext>
            </a:extLst>
          </p:cNvPr>
          <p:cNvSpPr/>
          <p:nvPr/>
        </p:nvSpPr>
        <p:spPr>
          <a:xfrm>
            <a:off x="6492240" y="1234440"/>
            <a:ext cx="0" cy="43891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18A2019-03AC-06D1-D6DF-965CE8A3ECB2}"/>
              </a:ext>
            </a:extLst>
          </p:cNvPr>
          <p:cNvSpPr/>
          <p:nvPr/>
        </p:nvSpPr>
        <p:spPr>
          <a:xfrm>
            <a:off x="6805879" y="4570171"/>
            <a:ext cx="3674059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C42AC2B-A1EA-CF12-4966-3CCB977A6275}"/>
              </a:ext>
            </a:extLst>
          </p:cNvPr>
          <p:cNvSpPr/>
          <p:nvPr/>
        </p:nvSpPr>
        <p:spPr>
          <a:xfrm>
            <a:off x="6988759" y="439735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19C68BD-29BF-9A4E-1D54-54D4DBAC41CB}"/>
              </a:ext>
            </a:extLst>
          </p:cNvPr>
          <p:cNvSpPr/>
          <p:nvPr/>
        </p:nvSpPr>
        <p:spPr>
          <a:xfrm>
            <a:off x="7571232" y="395843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D80580F-3664-0885-68B4-883A5864BC79}"/>
              </a:ext>
            </a:extLst>
          </p:cNvPr>
          <p:cNvSpPr/>
          <p:nvPr/>
        </p:nvSpPr>
        <p:spPr>
          <a:xfrm>
            <a:off x="8153705" y="360730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5C0ED49-AA74-03D4-1D42-293A118A1A54}"/>
              </a:ext>
            </a:extLst>
          </p:cNvPr>
          <p:cNvSpPr/>
          <p:nvPr/>
        </p:nvSpPr>
        <p:spPr>
          <a:xfrm>
            <a:off x="8780983" y="308061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A664286-9D09-8838-C84F-E3C5A50294EC}"/>
              </a:ext>
            </a:extLst>
          </p:cNvPr>
          <p:cNvSpPr/>
          <p:nvPr/>
        </p:nvSpPr>
        <p:spPr>
          <a:xfrm>
            <a:off x="9497873" y="259781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111D804-4937-67EC-7F76-E5486B2E4A99}"/>
              </a:ext>
            </a:extLst>
          </p:cNvPr>
          <p:cNvSpPr/>
          <p:nvPr/>
        </p:nvSpPr>
        <p:spPr>
          <a:xfrm>
            <a:off x="10125151" y="207111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F38E2C7-ABDA-18FD-3EA9-8028D2A00561}"/>
              </a:ext>
            </a:extLst>
          </p:cNvPr>
          <p:cNvSpPr/>
          <p:nvPr/>
        </p:nvSpPr>
        <p:spPr>
          <a:xfrm>
            <a:off x="7498080" y="4553712"/>
            <a:ext cx="109728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7B0F13E-0A66-55C5-C379-AA1FB929A2CD}"/>
              </a:ext>
            </a:extLst>
          </p:cNvPr>
          <p:cNvSpPr/>
          <p:nvPr/>
        </p:nvSpPr>
        <p:spPr>
          <a:xfrm>
            <a:off x="864108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A34A"/>
                </a:solidFill>
              </a:rPr>
              <a:t>inclinação = w</a:t>
            </a:r>
            <a:endParaRPr lang="en-US" sz="14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154D8CF-D2F4-9CCE-3F59-DD10BE36B099}"/>
              </a:ext>
            </a:extLst>
          </p:cNvPr>
          <p:cNvSpPr/>
          <p:nvPr/>
        </p:nvSpPr>
        <p:spPr>
          <a:xfrm>
            <a:off x="6492240" y="4590288"/>
            <a:ext cx="594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DB58513-49BF-6025-AF01-7BB4990B54F1}"/>
              </a:ext>
            </a:extLst>
          </p:cNvPr>
          <p:cNvSpPr/>
          <p:nvPr/>
        </p:nvSpPr>
        <p:spPr>
          <a:xfrm>
            <a:off x="704088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</a:rPr>
              <a:t>intercepto = b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E23292A-B870-E7AC-3D1B-A2FE11438805}"/>
              </a:ext>
            </a:extLst>
          </p:cNvPr>
          <p:cNvSpPr/>
          <p:nvPr/>
        </p:nvSpPr>
        <p:spPr>
          <a:xfrm>
            <a:off x="868680" y="2198675"/>
            <a:ext cx="5120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0000"/>
                </a:solidFill>
              </a:rPr>
              <a:t>w</a:t>
            </a:r>
            <a:r>
              <a:rPr lang="en-US" sz="1800" dirty="0">
                <a:solidFill>
                  <a:srgbClr val="111827"/>
                </a:solidFill>
              </a:rPr>
              <a:t> – INCLINAÇÃO - indica quanto a previsão tende a mudar quando x aumenta uma unidade.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CC33FF7-30FD-98FE-41EE-2D40CCE4A8A0}"/>
              </a:ext>
            </a:extLst>
          </p:cNvPr>
          <p:cNvSpPr/>
          <p:nvPr/>
        </p:nvSpPr>
        <p:spPr>
          <a:xfrm>
            <a:off x="868680" y="2862068"/>
            <a:ext cx="5120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0000"/>
                </a:solidFill>
              </a:rPr>
              <a:t>b</a:t>
            </a:r>
            <a:r>
              <a:rPr lang="en-US" sz="1800" dirty="0">
                <a:solidFill>
                  <a:srgbClr val="111827"/>
                </a:solidFill>
              </a:rPr>
              <a:t> – DESLOCAMENTO - </a:t>
            </a:r>
            <a:r>
              <a:rPr lang="en-US" sz="1800" dirty="0" err="1">
                <a:solidFill>
                  <a:srgbClr val="111827"/>
                </a:solidFill>
              </a:rPr>
              <a:t>desloca</a:t>
            </a:r>
            <a:r>
              <a:rPr lang="en-US" sz="1800" dirty="0">
                <a:solidFill>
                  <a:srgbClr val="111827"/>
                </a:solidFill>
              </a:rPr>
              <a:t> a reta para cima ou para baixo; sem ele, a reta passa pela origem.</a:t>
            </a:r>
            <a:endParaRPr lang="en-US" sz="18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661D0B6B-89D7-CDEF-BF0E-7737714D32B5}"/>
              </a:ext>
            </a:extLst>
          </p:cNvPr>
          <p:cNvSpPr/>
          <p:nvPr/>
        </p:nvSpPr>
        <p:spPr>
          <a:xfrm>
            <a:off x="272602" y="3571170"/>
            <a:ext cx="61116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 </a:t>
            </a:r>
            <a:r>
              <a:rPr lang="en-US" sz="2800" b="1" dirty="0" err="1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</a:t>
            </a:r>
            <a:r>
              <a:rPr lang="en-US" sz="2800" b="1" dirty="0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calcular</a:t>
            </a:r>
            <a:r>
              <a:rPr lang="en-US" sz="2800" b="1" dirty="0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 </a:t>
            </a:r>
            <a:r>
              <a:rPr lang="en-US" sz="2800" b="1" dirty="0" err="1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Equação</a:t>
            </a:r>
            <a:r>
              <a:rPr lang="en-US" sz="2800" b="1" dirty="0">
                <a:solidFill>
                  <a:srgbClr val="FF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da Reta ?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D2DD8AE7-6937-36D4-97A1-89C80238CDE1}"/>
              </a:ext>
            </a:extLst>
          </p:cNvPr>
          <p:cNvSpPr/>
          <p:nvPr/>
        </p:nvSpPr>
        <p:spPr>
          <a:xfrm>
            <a:off x="868680" y="4151379"/>
            <a:ext cx="5120640" cy="14721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dirty="0"/>
              <a:t>Em </a:t>
            </a:r>
            <a:r>
              <a:rPr lang="en-US" dirty="0" err="1"/>
              <a:t>outras</a:t>
            </a:r>
            <a:r>
              <a:rPr lang="en-US" dirty="0"/>
              <a:t> </a:t>
            </a:r>
            <a:r>
              <a:rPr lang="en-US" dirty="0" err="1"/>
              <a:t>palavras</a:t>
            </a:r>
            <a:r>
              <a:rPr lang="en-US" dirty="0"/>
              <a:t>:</a:t>
            </a:r>
          </a:p>
          <a:p>
            <a:pPr marL="285750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/>
              <a:t>Como </a:t>
            </a:r>
            <a:r>
              <a:rPr lang="en-US" dirty="0" err="1"/>
              <a:t>calcular</a:t>
            </a:r>
            <a:r>
              <a:rPr lang="en-US" dirty="0"/>
              <a:t> o valor de</a:t>
            </a:r>
            <a:r>
              <a:rPr lang="en-US" dirty="0">
                <a:solidFill>
                  <a:srgbClr val="FF0000"/>
                </a:solidFill>
              </a:rPr>
              <a:t> “w”</a:t>
            </a:r>
          </a:p>
          <a:p>
            <a:pPr marL="285750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/>
              <a:t>Como </a:t>
            </a:r>
            <a:r>
              <a:rPr lang="en-US" dirty="0" err="1"/>
              <a:t>calcular</a:t>
            </a:r>
            <a:r>
              <a:rPr lang="en-US" dirty="0"/>
              <a:t> o valor de </a:t>
            </a:r>
            <a:r>
              <a:rPr lang="en-US" dirty="0">
                <a:solidFill>
                  <a:srgbClr val="FF0000"/>
                </a:solidFill>
              </a:rPr>
              <a:t>“b”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40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E INTERCEPTO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819734"/>
            <a:ext cx="267794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92886"/>
            <a:ext cx="2446997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</a:t>
            </a:r>
            <a:r>
              <a:rPr lang="en-US" sz="32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w*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+ </a:t>
            </a:r>
            <a:r>
              <a:rPr lang="en-US" sz="32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4D56AE82-0490-189B-4F1D-DBC8B419C1D5}"/>
              </a:ext>
            </a:extLst>
          </p:cNvPr>
          <p:cNvSpPr/>
          <p:nvPr/>
        </p:nvSpPr>
        <p:spPr>
          <a:xfrm>
            <a:off x="502920" y="640080"/>
            <a:ext cx="6937326" cy="10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 </a:t>
            </a:r>
            <a:r>
              <a:rPr lang="en-US" sz="2800" b="1" dirty="0" err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</a:t>
            </a:r>
            <a:r>
              <a:rPr lang="en-US" sz="2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calcular</a:t>
            </a:r>
            <a:r>
              <a:rPr lang="en-US" sz="2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 </a:t>
            </a:r>
            <a:r>
              <a:rPr lang="en-US" sz="2800" b="1" dirty="0" err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Equação</a:t>
            </a:r>
            <a:r>
              <a:rPr lang="en-US" sz="2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da Reta ?</a:t>
            </a:r>
          </a:p>
          <a:p>
            <a:pPr marL="0" indent="0">
              <a:buNone/>
            </a:pPr>
            <a:r>
              <a:rPr lang="en-US" sz="2800" b="1" dirty="0" err="1">
                <a:latin typeface="Aptos Display" pitchFamily="34" charset="0"/>
              </a:rPr>
              <a:t>Resposta</a:t>
            </a:r>
            <a:r>
              <a:rPr lang="en-US" sz="2800" b="1" dirty="0">
                <a:latin typeface="Aptos Display" pitchFamily="34" charset="0"/>
              </a:rPr>
              <a:t>:</a:t>
            </a:r>
            <a:r>
              <a:rPr lang="en-US" sz="2800" b="1" dirty="0">
                <a:solidFill>
                  <a:srgbClr val="FF0000"/>
                </a:solidFill>
                <a:latin typeface="Aptos Display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ptos Display" pitchFamily="34" charset="0"/>
              </a:rPr>
              <a:t>Método</a:t>
            </a:r>
            <a:r>
              <a:rPr lang="en-US" sz="2800" b="1" dirty="0">
                <a:solidFill>
                  <a:srgbClr val="FF0000"/>
                </a:solidFill>
                <a:latin typeface="Aptos Display" pitchFamily="34" charset="0"/>
              </a:rPr>
              <a:t> dos </a:t>
            </a:r>
            <a:r>
              <a:rPr lang="en-US" sz="2800" b="1" dirty="0" err="1">
                <a:solidFill>
                  <a:srgbClr val="FF0000"/>
                </a:solidFill>
                <a:latin typeface="Aptos Display" pitchFamily="34" charset="0"/>
              </a:rPr>
              <a:t>Mínimos</a:t>
            </a:r>
            <a:r>
              <a:rPr lang="en-US" sz="2800" b="1" dirty="0">
                <a:solidFill>
                  <a:srgbClr val="FF0000"/>
                </a:solidFill>
                <a:latin typeface="Aptos Display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ptos Display" pitchFamily="34" charset="0"/>
              </a:rPr>
              <a:t>Quadrados</a:t>
            </a:r>
            <a:endParaRPr 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F7EC93F1-C637-4FD9-A65E-FABC811A5C70}"/>
                  </a:ext>
                </a:extLst>
              </p:cNvPr>
              <p:cNvSpPr txBox="1"/>
              <p:nvPr/>
            </p:nvSpPr>
            <p:spPr>
              <a:xfrm>
                <a:off x="502920" y="3075441"/>
                <a:ext cx="2426433" cy="707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nary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borderBox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F7EC93F1-C637-4FD9-A65E-FABC811A5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075441"/>
                <a:ext cx="2426433" cy="7071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8" name="Tabela 27">
                <a:extLst>
                  <a:ext uri="{FF2B5EF4-FFF2-40B4-BE49-F238E27FC236}">
                    <a16:creationId xmlns:a16="http://schemas.microsoft.com/office/drawing/2014/main" id="{B0DFEDC4-260E-9FBA-4847-D17BC533D4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9845338"/>
                  </p:ext>
                </p:extLst>
              </p:nvPr>
            </p:nvGraphicFramePr>
            <p:xfrm>
              <a:off x="3576318" y="1787393"/>
              <a:ext cx="8128002" cy="33271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8751">
                      <a:extLst>
                        <a:ext uri="{9D8B030D-6E8A-4147-A177-3AD203B41FA5}">
                          <a16:colId xmlns:a16="http://schemas.microsoft.com/office/drawing/2014/main" val="3374920035"/>
                        </a:ext>
                      </a:extLst>
                    </a:gridCol>
                    <a:gridCol w="679938">
                      <a:extLst>
                        <a:ext uri="{9D8B030D-6E8A-4147-A177-3AD203B41FA5}">
                          <a16:colId xmlns:a16="http://schemas.microsoft.com/office/drawing/2014/main" val="844098638"/>
                        </a:ext>
                      </a:extLst>
                    </a:gridCol>
                    <a:gridCol w="1078523">
                      <a:extLst>
                        <a:ext uri="{9D8B030D-6E8A-4147-A177-3AD203B41FA5}">
                          <a16:colId xmlns:a16="http://schemas.microsoft.com/office/drawing/2014/main" val="2061866256"/>
                        </a:ext>
                      </a:extLst>
                    </a:gridCol>
                    <a:gridCol w="1383323">
                      <a:extLst>
                        <a:ext uri="{9D8B030D-6E8A-4147-A177-3AD203B41FA5}">
                          <a16:colId xmlns:a16="http://schemas.microsoft.com/office/drawing/2014/main" val="850354109"/>
                        </a:ext>
                      </a:extLst>
                    </a:gridCol>
                    <a:gridCol w="2039816">
                      <a:extLst>
                        <a:ext uri="{9D8B030D-6E8A-4147-A177-3AD203B41FA5}">
                          <a16:colId xmlns:a16="http://schemas.microsoft.com/office/drawing/2014/main" val="4250565737"/>
                        </a:ext>
                      </a:extLst>
                    </a:gridCol>
                    <a:gridCol w="2097651">
                      <a:extLst>
                        <a:ext uri="{9D8B030D-6E8A-4147-A177-3AD203B41FA5}">
                          <a16:colId xmlns:a16="http://schemas.microsoft.com/office/drawing/2014/main" val="12496542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1" i="0" dirty="0">
                              <a:solidFill>
                                <a:srgbClr val="374151"/>
                              </a:solidFill>
                              <a:effectLst/>
                              <a:latin typeface="KaTeX_Main"/>
                            </a:rPr>
                            <a:t>(</a:t>
                          </a:r>
                          <a:r>
                            <a:rPr lang="pt-BR" b="1" i="1" dirty="0">
                              <a:solidFill>
                                <a:srgbClr val="374151"/>
                              </a:solidFill>
                              <a:effectLst/>
                              <a:latin typeface="KaTeX_Math"/>
                            </a:rPr>
                            <a:t>x</a:t>
                          </a:r>
                          <a:r>
                            <a:rPr lang="pt-BR" b="1" i="0" dirty="0">
                              <a:solidFill>
                                <a:srgbClr val="374151"/>
                              </a:solidFill>
                              <a:effectLst/>
                              <a:latin typeface="KaTeX_Main"/>
                            </a:rPr>
                            <a:t>)</a:t>
                          </a:r>
                          <a:endParaRPr lang="pt-BR" b="1" i="0" dirty="0">
                            <a:solidFill>
                              <a:srgbClr val="37415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114300" marB="1143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b="1" i="0">
                            <a:solidFill>
                              <a:srgbClr val="37415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114300" marB="1143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pt-BR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pt-BR" b="1" i="0">
                            <a:solidFill>
                              <a:srgbClr val="37415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114300" marB="1143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pt-BR" b="1" i="0">
                            <a:solidFill>
                              <a:srgbClr val="37415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114300" marB="1143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pt-BR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pt-BR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pt-BR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pt-BR" b="1" i="0">
                            <a:solidFill>
                              <a:srgbClr val="37415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114300" marB="1143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pt-BR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pt-BR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pt-BR" i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pt-BR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pt-BR" i="1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pt-BR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pt-BR" b="1" i="0">
                            <a:solidFill>
                              <a:srgbClr val="37415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114300" marB="114300" anchor="ctr"/>
                    </a:tc>
                    <a:extLst>
                      <a:ext uri="{0D108BD9-81ED-4DB2-BD59-A6C34878D82A}">
                        <a16:rowId xmlns:a16="http://schemas.microsoft.com/office/drawing/2014/main" val="26888600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40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220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-20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-90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1800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400</a:t>
                          </a: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2773635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50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260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-10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-50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500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100</a:t>
                          </a: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25611263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60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310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26369819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70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350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10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40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400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100</a:t>
                          </a: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3471860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80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410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20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100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2000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400</a:t>
                          </a: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26810605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1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Soma</a:t>
                          </a:r>
                          <a:endParaRPr lang="pt-BR" b="0" i="0">
                            <a:solidFill>
                              <a:srgbClr val="4B5563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endParaRPr lang="pt-BR" b="0" i="0">
                            <a:solidFill>
                              <a:srgbClr val="4B5563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endParaRPr lang="pt-BR" b="0" i="0">
                            <a:solidFill>
                              <a:srgbClr val="4B5563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endParaRPr lang="pt-BR" b="0" i="0">
                            <a:solidFill>
                              <a:srgbClr val="4B5563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1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4700</a:t>
                          </a:r>
                          <a:endParaRPr lang="pt-BR" b="0" i="0" dirty="0">
                            <a:solidFill>
                              <a:srgbClr val="4B5563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1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1000</a:t>
                          </a:r>
                          <a:endParaRPr lang="pt-BR" b="0" i="0" dirty="0">
                            <a:solidFill>
                              <a:srgbClr val="4B5563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8019241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8" name="Tabela 27">
                <a:extLst>
                  <a:ext uri="{FF2B5EF4-FFF2-40B4-BE49-F238E27FC236}">
                    <a16:creationId xmlns:a16="http://schemas.microsoft.com/office/drawing/2014/main" id="{B0DFEDC4-260E-9FBA-4847-D17BC533D4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9845338"/>
                  </p:ext>
                </p:extLst>
              </p:nvPr>
            </p:nvGraphicFramePr>
            <p:xfrm>
              <a:off x="3576318" y="1787393"/>
              <a:ext cx="8128002" cy="33271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8751">
                      <a:extLst>
                        <a:ext uri="{9D8B030D-6E8A-4147-A177-3AD203B41FA5}">
                          <a16:colId xmlns:a16="http://schemas.microsoft.com/office/drawing/2014/main" val="3374920035"/>
                        </a:ext>
                      </a:extLst>
                    </a:gridCol>
                    <a:gridCol w="679938">
                      <a:extLst>
                        <a:ext uri="{9D8B030D-6E8A-4147-A177-3AD203B41FA5}">
                          <a16:colId xmlns:a16="http://schemas.microsoft.com/office/drawing/2014/main" val="844098638"/>
                        </a:ext>
                      </a:extLst>
                    </a:gridCol>
                    <a:gridCol w="1078523">
                      <a:extLst>
                        <a:ext uri="{9D8B030D-6E8A-4147-A177-3AD203B41FA5}">
                          <a16:colId xmlns:a16="http://schemas.microsoft.com/office/drawing/2014/main" val="2061866256"/>
                        </a:ext>
                      </a:extLst>
                    </a:gridCol>
                    <a:gridCol w="1383323">
                      <a:extLst>
                        <a:ext uri="{9D8B030D-6E8A-4147-A177-3AD203B41FA5}">
                          <a16:colId xmlns:a16="http://schemas.microsoft.com/office/drawing/2014/main" val="850354109"/>
                        </a:ext>
                      </a:extLst>
                    </a:gridCol>
                    <a:gridCol w="2039816">
                      <a:extLst>
                        <a:ext uri="{9D8B030D-6E8A-4147-A177-3AD203B41FA5}">
                          <a16:colId xmlns:a16="http://schemas.microsoft.com/office/drawing/2014/main" val="4250565737"/>
                        </a:ext>
                      </a:extLst>
                    </a:gridCol>
                    <a:gridCol w="2097651">
                      <a:extLst>
                        <a:ext uri="{9D8B030D-6E8A-4147-A177-3AD203B41FA5}">
                          <a16:colId xmlns:a16="http://schemas.microsoft.com/office/drawing/2014/main" val="1249654243"/>
                        </a:ext>
                      </a:extLst>
                    </a:gridCol>
                  </a:tblGrid>
                  <a:tr h="538226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1" i="0" dirty="0">
                              <a:solidFill>
                                <a:srgbClr val="374151"/>
                              </a:solidFill>
                              <a:effectLst/>
                              <a:latin typeface="KaTeX_Main"/>
                            </a:rPr>
                            <a:t>(</a:t>
                          </a:r>
                          <a:r>
                            <a:rPr lang="pt-BR" b="1" i="1" dirty="0">
                              <a:solidFill>
                                <a:srgbClr val="374151"/>
                              </a:solidFill>
                              <a:effectLst/>
                              <a:latin typeface="KaTeX_Math"/>
                            </a:rPr>
                            <a:t>x</a:t>
                          </a:r>
                          <a:r>
                            <a:rPr lang="pt-BR" b="1" i="0" dirty="0">
                              <a:solidFill>
                                <a:srgbClr val="374151"/>
                              </a:solidFill>
                              <a:effectLst/>
                              <a:latin typeface="KaTeX_Main"/>
                            </a:rPr>
                            <a:t>)</a:t>
                          </a:r>
                          <a:endParaRPr lang="pt-BR" b="1" i="0" dirty="0">
                            <a:solidFill>
                              <a:srgbClr val="37415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114300" marB="11430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114300" marB="114300" anchor="ctr">
                        <a:blipFill>
                          <a:blip r:embed="rId4"/>
                          <a:stretch>
                            <a:fillRect l="-125000" t="-1136" r="-971429" b="-529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114300" marB="114300" anchor="ctr">
                        <a:blipFill>
                          <a:blip r:embed="rId4"/>
                          <a:stretch>
                            <a:fillRect l="-142373" t="-1136" r="-514689" b="-529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114300" marB="114300" anchor="ctr">
                        <a:blipFill>
                          <a:blip r:embed="rId4"/>
                          <a:stretch>
                            <a:fillRect l="-188987" t="-1136" r="-301322" b="-529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114300" marB="114300" anchor="ctr">
                        <a:blipFill>
                          <a:blip r:embed="rId4"/>
                          <a:stretch>
                            <a:fillRect l="-195821" t="-1136" r="-104179" b="-529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152400" marR="152400" marT="114300" marB="114300" anchor="ctr">
                        <a:blipFill>
                          <a:blip r:embed="rId4"/>
                          <a:stretch>
                            <a:fillRect l="-288081" t="-1136" r="-1453" b="-529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860042"/>
                      </a:ext>
                    </a:extLst>
                  </a:tr>
                  <a:tr h="46482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40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220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-20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-90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1800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400</a:t>
                          </a: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277363524"/>
                      </a:ext>
                    </a:extLst>
                  </a:tr>
                  <a:tr h="46482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50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260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-10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-50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500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100</a:t>
                          </a: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2561126374"/>
                      </a:ext>
                    </a:extLst>
                  </a:tr>
                  <a:tr h="46482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60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310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0</a:t>
                          </a: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2636981916"/>
                      </a:ext>
                    </a:extLst>
                  </a:tr>
                  <a:tr h="46482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70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350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10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40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400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100</a:t>
                          </a: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347186016"/>
                      </a:ext>
                    </a:extLst>
                  </a:tr>
                  <a:tr h="46482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80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410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20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100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2000</a:t>
                          </a: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0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400</a:t>
                          </a: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2681060594"/>
                      </a:ext>
                    </a:extLst>
                  </a:tr>
                  <a:tr h="46482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1" i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Soma</a:t>
                          </a:r>
                          <a:endParaRPr lang="pt-BR" b="0" i="0">
                            <a:solidFill>
                              <a:srgbClr val="4B5563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endParaRPr lang="pt-BR" b="0" i="0">
                            <a:solidFill>
                              <a:srgbClr val="4B5563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endParaRPr lang="pt-BR" b="0" i="0">
                            <a:solidFill>
                              <a:srgbClr val="4B5563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endParaRPr lang="pt-BR" b="0" i="0">
                            <a:solidFill>
                              <a:srgbClr val="4B5563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1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4700</a:t>
                          </a:r>
                          <a:endParaRPr lang="pt-BR" b="0" i="0" dirty="0">
                            <a:solidFill>
                              <a:srgbClr val="4B5563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95250" marB="9525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pt-BR" b="1" i="0" dirty="0">
                              <a:solidFill>
                                <a:srgbClr val="4B5563"/>
                              </a:solidFill>
                              <a:effectLst/>
                              <a:latin typeface="Inter"/>
                            </a:rPr>
                            <a:t>1000</a:t>
                          </a:r>
                          <a:endParaRPr lang="pt-BR" b="0" i="0" dirty="0">
                            <a:solidFill>
                              <a:srgbClr val="4B5563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152400" marR="152400" marT="95250" marB="95250" anchor="ctr"/>
                    </a:tc>
                    <a:extLst>
                      <a:ext uri="{0D108BD9-81ED-4DB2-BD59-A6C34878D82A}">
                        <a16:rowId xmlns:a16="http://schemas.microsoft.com/office/drawing/2014/main" val="801924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AE5C1BC4-CBA0-FB03-FDD8-E782108DF9F5}"/>
                  </a:ext>
                </a:extLst>
              </p:cNvPr>
              <p:cNvSpPr txBox="1"/>
              <p:nvPr/>
            </p:nvSpPr>
            <p:spPr>
              <a:xfrm>
                <a:off x="560048" y="3987631"/>
                <a:ext cx="1037463" cy="520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4700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AE5C1BC4-CBA0-FB03-FDD8-E782108DF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48" y="3987631"/>
                <a:ext cx="1037463" cy="520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DDEC7B25-6437-F107-396B-2A56AA1C4766}"/>
                  </a:ext>
                </a:extLst>
              </p:cNvPr>
              <p:cNvSpPr txBox="1"/>
              <p:nvPr/>
            </p:nvSpPr>
            <p:spPr>
              <a:xfrm>
                <a:off x="331522" y="4729586"/>
                <a:ext cx="2921313" cy="342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A inclinação da reta </m:t>
                      </m:r>
                      <m:borderBox>
                        <m:borderBox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=4,7</m:t>
                          </m:r>
                        </m:e>
                      </m:borderBox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DDEC7B25-6437-F107-396B-2A56AA1C4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522" y="4729586"/>
                <a:ext cx="2921313" cy="342273"/>
              </a:xfrm>
              <a:prstGeom prst="rect">
                <a:avLst/>
              </a:prstGeom>
              <a:blipFill>
                <a:blip r:embed="rId6"/>
                <a:stretch>
                  <a:fillRect l="-1458" b="-160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97EE36D5-EDA8-1D43-2152-C13E02EF30EB}"/>
              </a:ext>
            </a:extLst>
          </p:cNvPr>
          <p:cNvSpPr/>
          <p:nvPr/>
        </p:nvSpPr>
        <p:spPr>
          <a:xfrm>
            <a:off x="3024554" y="3188677"/>
            <a:ext cx="4611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E068BE48-F265-CEB4-61C1-1B11E209324F}"/>
              </a:ext>
            </a:extLst>
          </p:cNvPr>
          <p:cNvSpPr/>
          <p:nvPr/>
        </p:nvSpPr>
        <p:spPr>
          <a:xfrm>
            <a:off x="3782646" y="5298551"/>
            <a:ext cx="267794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281782E9-EE50-BB4D-549F-AB5757D87F28}"/>
              </a:ext>
            </a:extLst>
          </p:cNvPr>
          <p:cNvSpPr/>
          <p:nvPr/>
        </p:nvSpPr>
        <p:spPr>
          <a:xfrm>
            <a:off x="3919806" y="5371703"/>
            <a:ext cx="2446997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(</a:t>
            </a:r>
            <a:r>
              <a:rPr lang="en-US" sz="32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4,7)*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+ </a:t>
            </a:r>
            <a:r>
              <a:rPr lang="en-US" sz="32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C449F13E-0980-920D-ED46-EC94C420C60C}"/>
              </a:ext>
            </a:extLst>
          </p:cNvPr>
          <p:cNvSpPr/>
          <p:nvPr/>
        </p:nvSpPr>
        <p:spPr>
          <a:xfrm>
            <a:off x="6944277" y="5444855"/>
            <a:ext cx="30447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Agora </a:t>
            </a:r>
            <a:r>
              <a:rPr lang="en-US" sz="32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falta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32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descobrir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o </a:t>
            </a:r>
            <a:r>
              <a:rPr lang="en-US" sz="32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“b”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38DAC847-EDBD-2D28-C0B2-02B4E260D8CC}"/>
              </a:ext>
            </a:extLst>
          </p:cNvPr>
          <p:cNvSpPr/>
          <p:nvPr/>
        </p:nvSpPr>
        <p:spPr>
          <a:xfrm>
            <a:off x="500493" y="5524103"/>
            <a:ext cx="30447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32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Então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32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até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32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aqui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32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já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32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temos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139C21-4F17-56FD-BAF2-7AD0D2828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3AFE9208-4F76-E4C6-2CC0-CD04CC2C572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85447F-BF72-E8C1-8A31-86C6C43108E9}"/>
              </a:ext>
            </a:extLst>
          </p:cNvPr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E INTERCEPTO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C7DFB6-8E94-3479-7A12-C40185561192}"/>
              </a:ext>
            </a:extLst>
          </p:cNvPr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ACB5F27-C383-B723-9B5A-548C7839C4E8}"/>
              </a:ext>
            </a:extLst>
          </p:cNvPr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DAD77A4-C52E-F4C3-4894-0CD8AC31FD8C}"/>
              </a:ext>
            </a:extLst>
          </p:cNvPr>
          <p:cNvSpPr/>
          <p:nvPr/>
        </p:nvSpPr>
        <p:spPr>
          <a:xfrm>
            <a:off x="502920" y="1819734"/>
            <a:ext cx="267794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7B0E969-1087-DB84-BB43-A7FD83CE0EFC}"/>
              </a:ext>
            </a:extLst>
          </p:cNvPr>
          <p:cNvSpPr/>
          <p:nvPr/>
        </p:nvSpPr>
        <p:spPr>
          <a:xfrm>
            <a:off x="640080" y="1892886"/>
            <a:ext cx="2446997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</a:t>
            </a:r>
            <a:r>
              <a:rPr lang="en-US" sz="32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w*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+ </a:t>
            </a:r>
            <a:r>
              <a:rPr lang="en-US" sz="32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63B936B9-1D42-51BD-DEEF-16225BEC6AFC}"/>
              </a:ext>
            </a:extLst>
          </p:cNvPr>
          <p:cNvSpPr/>
          <p:nvPr/>
        </p:nvSpPr>
        <p:spPr>
          <a:xfrm>
            <a:off x="502920" y="640080"/>
            <a:ext cx="6937326" cy="1051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 </a:t>
            </a:r>
            <a:r>
              <a:rPr lang="en-US" sz="2800" b="1" dirty="0" err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</a:t>
            </a:r>
            <a:r>
              <a:rPr lang="en-US" sz="2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calcular</a:t>
            </a:r>
            <a:r>
              <a:rPr lang="en-US" sz="2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 </a:t>
            </a:r>
            <a:r>
              <a:rPr lang="en-US" sz="2800" b="1" dirty="0" err="1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Equação</a:t>
            </a:r>
            <a:r>
              <a:rPr lang="en-US" sz="2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da Reta ?</a:t>
            </a:r>
          </a:p>
          <a:p>
            <a:pPr marL="0" indent="0">
              <a:buNone/>
            </a:pPr>
            <a:r>
              <a:rPr lang="en-US" sz="2800" b="1" dirty="0" err="1">
                <a:latin typeface="Aptos Display" pitchFamily="34" charset="0"/>
              </a:rPr>
              <a:t>Resposta</a:t>
            </a:r>
            <a:r>
              <a:rPr lang="en-US" sz="2800" b="1" dirty="0">
                <a:latin typeface="Aptos Display" pitchFamily="34" charset="0"/>
              </a:rPr>
              <a:t>:</a:t>
            </a:r>
            <a:r>
              <a:rPr lang="en-US" sz="2800" b="1" dirty="0">
                <a:solidFill>
                  <a:srgbClr val="FF0000"/>
                </a:solidFill>
                <a:latin typeface="Aptos Display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ptos Display" pitchFamily="34" charset="0"/>
              </a:rPr>
              <a:t>Método</a:t>
            </a:r>
            <a:r>
              <a:rPr lang="en-US" sz="2800" b="1" dirty="0">
                <a:solidFill>
                  <a:srgbClr val="FF0000"/>
                </a:solidFill>
                <a:latin typeface="Aptos Display" pitchFamily="34" charset="0"/>
              </a:rPr>
              <a:t> dos </a:t>
            </a:r>
            <a:r>
              <a:rPr lang="en-US" sz="2800" b="1" dirty="0" err="1">
                <a:solidFill>
                  <a:srgbClr val="FF0000"/>
                </a:solidFill>
                <a:latin typeface="Aptos Display" pitchFamily="34" charset="0"/>
              </a:rPr>
              <a:t>Mínimos</a:t>
            </a:r>
            <a:r>
              <a:rPr lang="en-US" sz="2800" b="1" dirty="0">
                <a:solidFill>
                  <a:srgbClr val="FF0000"/>
                </a:solidFill>
                <a:latin typeface="Aptos Display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ptos Display" pitchFamily="34" charset="0"/>
              </a:rPr>
              <a:t>Quadrados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F7CFC997-C92F-4227-E871-B16C7C919943}"/>
              </a:ext>
            </a:extLst>
          </p:cNvPr>
          <p:cNvSpPr/>
          <p:nvPr/>
        </p:nvSpPr>
        <p:spPr>
          <a:xfrm>
            <a:off x="3384062" y="1970727"/>
            <a:ext cx="4611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673CE158-A735-274C-7F92-721EA1FBFE51}"/>
              </a:ext>
            </a:extLst>
          </p:cNvPr>
          <p:cNvSpPr/>
          <p:nvPr/>
        </p:nvSpPr>
        <p:spPr>
          <a:xfrm>
            <a:off x="3960055" y="1853467"/>
            <a:ext cx="267794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0C96C05F-079F-DCF2-8CF8-88A5008474F7}"/>
              </a:ext>
            </a:extLst>
          </p:cNvPr>
          <p:cNvSpPr/>
          <p:nvPr/>
        </p:nvSpPr>
        <p:spPr>
          <a:xfrm>
            <a:off x="4097215" y="1926619"/>
            <a:ext cx="2446997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(</a:t>
            </a:r>
            <a:r>
              <a:rPr lang="en-US" sz="32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4,7)*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+ </a:t>
            </a:r>
            <a:r>
              <a:rPr lang="en-US" sz="32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24BD9AA3-D339-82CB-F3C5-4B84F4C02340}"/>
              </a:ext>
            </a:extLst>
          </p:cNvPr>
          <p:cNvSpPr/>
          <p:nvPr/>
        </p:nvSpPr>
        <p:spPr>
          <a:xfrm>
            <a:off x="6752882" y="1892886"/>
            <a:ext cx="3044724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Agora </a:t>
            </a:r>
            <a:r>
              <a:rPr lang="en-US" sz="32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falta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32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descobrir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o </a:t>
            </a:r>
            <a:r>
              <a:rPr lang="en-US" sz="32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“b”</a:t>
            </a:r>
            <a:endParaRPr lang="en-US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94B0DC9-B62F-9D83-178B-20E5B9B35241}"/>
                  </a:ext>
                </a:extLst>
              </p:cNvPr>
              <p:cNvSpPr txBox="1"/>
              <p:nvPr/>
            </p:nvSpPr>
            <p:spPr>
              <a:xfrm>
                <a:off x="502920" y="3712516"/>
                <a:ext cx="1302280" cy="366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𝑤</m:t>
                          </m:r>
                          <m:acc>
                            <m:accPr>
                              <m:chr m:val="̅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borderBox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94B0DC9-B62F-9D83-178B-20E5B9B35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712516"/>
                <a:ext cx="1302280" cy="366832"/>
              </a:xfrm>
              <a:prstGeom prst="rect">
                <a:avLst/>
              </a:prstGeom>
              <a:blipFill>
                <a:blip r:embed="rId3"/>
                <a:stretch>
                  <a:fillRect r="-21127" b="-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E808F97C-6B67-50B6-064E-7504D68C1760}"/>
              </a:ext>
            </a:extLst>
          </p:cNvPr>
          <p:cNvSpPr/>
          <p:nvPr/>
        </p:nvSpPr>
        <p:spPr>
          <a:xfrm>
            <a:off x="2050134" y="3653616"/>
            <a:ext cx="4611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9F480FF6-A2B4-B851-E9A2-0198F3A84050}"/>
                  </a:ext>
                </a:extLst>
              </p:cNvPr>
              <p:cNvSpPr txBox="1"/>
              <p:nvPr/>
            </p:nvSpPr>
            <p:spPr>
              <a:xfrm>
                <a:off x="2756176" y="3773962"/>
                <a:ext cx="20826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=310−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4,7</m:t>
                          </m:r>
                        </m:e>
                      </m:d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60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9F480FF6-A2B4-B851-E9A2-0198F3A84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176" y="3773962"/>
                <a:ext cx="2082621" cy="276999"/>
              </a:xfrm>
              <a:prstGeom prst="rect">
                <a:avLst/>
              </a:prstGeom>
              <a:blipFill>
                <a:blip r:embed="rId4"/>
                <a:stretch>
                  <a:fillRect l="-2632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83548FA-A101-60FE-FAC4-0A086E6A274A}"/>
                  </a:ext>
                </a:extLst>
              </p:cNvPr>
              <p:cNvSpPr txBox="1"/>
              <p:nvPr/>
            </p:nvSpPr>
            <p:spPr>
              <a:xfrm>
                <a:off x="502920" y="2793276"/>
                <a:ext cx="32081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pt-B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média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de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todos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os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"x"</m:t>
                      </m:r>
                      <m:r>
                        <m:rPr>
                          <m:nor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 = 60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083548FA-A101-60FE-FAC4-0A086E6A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793276"/>
                <a:ext cx="3208186" cy="276999"/>
              </a:xfrm>
              <a:prstGeom prst="rect">
                <a:avLst/>
              </a:prstGeom>
              <a:blipFill>
                <a:blip r:embed="rId5"/>
                <a:stretch>
                  <a:fillRect l="-760" r="-1331" b="-86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16667C14-FDE4-A6E1-185E-EC6922A1CA6A}"/>
                  </a:ext>
                </a:extLst>
              </p:cNvPr>
              <p:cNvSpPr txBox="1"/>
              <p:nvPr/>
            </p:nvSpPr>
            <p:spPr>
              <a:xfrm>
                <a:off x="498816" y="3114396"/>
                <a:ext cx="33446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média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de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todos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os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i="0" smtClean="0">
                          <a:latin typeface="Cambria Math" panose="02040503050406030204" pitchFamily="18" charset="0"/>
                        </a:rPr>
                        <m:t>"y"</m:t>
                      </m:r>
                      <m:r>
                        <m:rPr>
                          <m:nor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 = 310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16667C14-FDE4-A6E1-185E-EC6922A1C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16" y="3114396"/>
                <a:ext cx="3344634" cy="276999"/>
              </a:xfrm>
              <a:prstGeom prst="rect">
                <a:avLst/>
              </a:prstGeom>
              <a:blipFill>
                <a:blip r:embed="rId6"/>
                <a:stretch>
                  <a:fillRect l="-1460" t="-2222" r="-1460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9D35152-BC50-463F-8C59-5C26BFA9AEA1}"/>
                  </a:ext>
                </a:extLst>
              </p:cNvPr>
              <p:cNvSpPr txBox="1"/>
              <p:nvPr/>
            </p:nvSpPr>
            <p:spPr>
              <a:xfrm>
                <a:off x="-319650" y="3435517"/>
                <a:ext cx="242277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"w" = 4,7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9D35152-BC50-463F-8C59-5C26BFA9A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9650" y="3435517"/>
                <a:ext cx="2422770" cy="276999"/>
              </a:xfrm>
              <a:prstGeom prst="rect">
                <a:avLst/>
              </a:prstGeom>
              <a:blipFill>
                <a:blip r:embed="rId7"/>
                <a:stretch>
                  <a:fillRect b="-24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A75B894A-5116-2907-1E36-F0083FAE8860}"/>
              </a:ext>
            </a:extLst>
          </p:cNvPr>
          <p:cNvSpPr/>
          <p:nvPr/>
        </p:nvSpPr>
        <p:spPr>
          <a:xfrm>
            <a:off x="4909001" y="3670145"/>
            <a:ext cx="4611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D2B49C16-F12F-C866-E15D-01F76F65456B}"/>
                  </a:ext>
                </a:extLst>
              </p:cNvPr>
              <p:cNvSpPr txBox="1"/>
              <p:nvPr/>
            </p:nvSpPr>
            <p:spPr>
              <a:xfrm>
                <a:off x="5478584" y="3752705"/>
                <a:ext cx="842154" cy="3195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=28</m:t>
                          </m:r>
                        </m:e>
                      </m:borderBox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D2B49C16-F12F-C866-E15D-01F76F654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584" y="3752705"/>
                <a:ext cx="842154" cy="319511"/>
              </a:xfrm>
              <a:prstGeom prst="rect">
                <a:avLst/>
              </a:prstGeom>
              <a:blipFill>
                <a:blip r:embed="rId8"/>
                <a:stretch>
                  <a:fillRect l="-725" b="-384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hape 6">
            <a:extLst>
              <a:ext uri="{FF2B5EF4-FFF2-40B4-BE49-F238E27FC236}">
                <a16:creationId xmlns:a16="http://schemas.microsoft.com/office/drawing/2014/main" id="{740F91FE-81FE-8433-634A-A819951C92B9}"/>
              </a:ext>
            </a:extLst>
          </p:cNvPr>
          <p:cNvSpPr/>
          <p:nvPr/>
        </p:nvSpPr>
        <p:spPr>
          <a:xfrm>
            <a:off x="4369389" y="4949449"/>
            <a:ext cx="267794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46EAE147-7036-8805-6962-CD22DDE1A7FD}"/>
              </a:ext>
            </a:extLst>
          </p:cNvPr>
          <p:cNvSpPr/>
          <p:nvPr/>
        </p:nvSpPr>
        <p:spPr>
          <a:xfrm>
            <a:off x="4506549" y="5022601"/>
            <a:ext cx="2446997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(</a:t>
            </a:r>
            <a:r>
              <a:rPr lang="en-US" sz="32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4,7)*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+ </a:t>
            </a:r>
            <a:r>
              <a:rPr lang="en-US" sz="3200" dirty="0">
                <a:solidFill>
                  <a:srgbClr val="FF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28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1A67B24-B8E6-CEA1-6985-E7F5F18A0EEA}"/>
              </a:ext>
            </a:extLst>
          </p:cNvPr>
          <p:cNvSpPr txBox="1"/>
          <p:nvPr/>
        </p:nvSpPr>
        <p:spPr>
          <a:xfrm>
            <a:off x="3087077" y="4217929"/>
            <a:ext cx="62562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Assim, </a:t>
            </a:r>
            <a:r>
              <a:rPr lang="en-US" sz="32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nosso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32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modelo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</a:t>
            </a:r>
            <a:r>
              <a:rPr lang="en-US" sz="3200" dirty="0" err="1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fica</a:t>
            </a:r>
            <a:r>
              <a:rPr lang="en-US" sz="32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: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680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5EB5C-BEE3-7EC3-AC49-A1D8B2713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ADD6FB-CC84-255B-000E-34ABA1B7FF5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825BD1E-2D5F-A3DB-59D2-581F78A8AB0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B72899-691F-8F67-5912-2EEE59FB24C9}"/>
              </a:ext>
            </a:extLst>
          </p:cNvPr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637A63-35B9-B35B-2268-6F371A376225}"/>
              </a:ext>
            </a:extLst>
          </p:cNvPr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Agora </a:t>
            </a:r>
            <a:r>
              <a:rPr lang="en-US" sz="28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</a:t>
            </a: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temos</a:t>
            </a: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nosso</a:t>
            </a: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, </a:t>
            </a:r>
            <a:r>
              <a:rPr lang="en-US" sz="28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podemos</a:t>
            </a: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responder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B302B2-B7F6-260F-B02E-16B9FF34B38B}"/>
              </a:ext>
            </a:extLst>
          </p:cNvPr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F8EDBD7-FD19-CAB3-0E52-90A09A950853}"/>
              </a:ext>
            </a:extLst>
          </p:cNvPr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  <p:graphicFrame>
        <p:nvGraphicFramePr>
          <p:cNvPr id="54" name="Tabela 53">
            <a:extLst>
              <a:ext uri="{FF2B5EF4-FFF2-40B4-BE49-F238E27FC236}">
                <a16:creationId xmlns:a16="http://schemas.microsoft.com/office/drawing/2014/main" id="{D83F0442-99DA-D67E-CCC1-876554AD3A82}"/>
              </a:ext>
            </a:extLst>
          </p:cNvPr>
          <p:cNvGraphicFramePr>
            <a:graphicFrameLocks noGrp="1"/>
          </p:cNvGraphicFramePr>
          <p:nvPr/>
        </p:nvGraphicFramePr>
        <p:xfrm>
          <a:off x="508706" y="1965349"/>
          <a:ext cx="356881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985">
                  <a:extLst>
                    <a:ext uri="{9D8B030D-6E8A-4147-A177-3AD203B41FA5}">
                      <a16:colId xmlns:a16="http://schemas.microsoft.com/office/drawing/2014/main" val="2681282552"/>
                    </a:ext>
                  </a:extLst>
                </a:gridCol>
                <a:gridCol w="2258829">
                  <a:extLst>
                    <a:ext uri="{9D8B030D-6E8A-4147-A177-3AD203B41FA5}">
                      <a16:colId xmlns:a16="http://schemas.microsoft.com/office/drawing/2014/main" val="1979758166"/>
                    </a:ext>
                  </a:extLst>
                </a:gridCol>
              </a:tblGrid>
              <a:tr h="191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Área (m</a:t>
                      </a:r>
                      <a:r>
                        <a:rPr lang="pt-BR" baseline="30000" dirty="0"/>
                        <a:t>2</a:t>
                      </a:r>
                      <a:r>
                        <a:rPr lang="pt-B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Preço (R$ mil)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26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220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03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260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955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310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3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5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350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733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410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358022"/>
                  </a:ext>
                </a:extLst>
              </a:tr>
            </a:tbl>
          </a:graphicData>
        </a:graphic>
      </p:graphicFrame>
      <p:sp>
        <p:nvSpPr>
          <p:cNvPr id="55" name="Seta: para a Direita 54">
            <a:extLst>
              <a:ext uri="{FF2B5EF4-FFF2-40B4-BE49-F238E27FC236}">
                <a16:creationId xmlns:a16="http://schemas.microsoft.com/office/drawing/2014/main" id="{F2B83CD3-D9B8-FDDF-3F93-C69E794CCDFA}"/>
              </a:ext>
            </a:extLst>
          </p:cNvPr>
          <p:cNvSpPr/>
          <p:nvPr/>
        </p:nvSpPr>
        <p:spPr>
          <a:xfrm>
            <a:off x="4173770" y="2431499"/>
            <a:ext cx="513510" cy="374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FA2296A-DD6E-BEDB-6EE6-736A6C750010}"/>
              </a:ext>
            </a:extLst>
          </p:cNvPr>
          <p:cNvSpPr/>
          <p:nvPr/>
        </p:nvSpPr>
        <p:spPr>
          <a:xfrm>
            <a:off x="502920" y="1024129"/>
            <a:ext cx="11074400" cy="5828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2000" dirty="0"/>
              <a:t>Quanto vale um </a:t>
            </a:r>
            <a:r>
              <a:rPr lang="en-US" sz="2000" dirty="0" err="1"/>
              <a:t>apartamento</a:t>
            </a:r>
            <a:r>
              <a:rPr lang="en-US" sz="2000" dirty="0"/>
              <a:t> de 65m</a:t>
            </a:r>
            <a:r>
              <a:rPr lang="en-US" sz="2000" baseline="30000" dirty="0"/>
              <a:t>2</a:t>
            </a:r>
            <a:r>
              <a:rPr lang="en-US" sz="2000" dirty="0"/>
              <a:t> ?</a:t>
            </a:r>
            <a:endParaRPr lang="en-US" sz="2000" baseline="300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E7F68AA-5F01-EAA7-4526-10AA88AFA471}"/>
              </a:ext>
            </a:extLst>
          </p:cNvPr>
          <p:cNvSpPr/>
          <p:nvPr/>
        </p:nvSpPr>
        <p:spPr>
          <a:xfrm>
            <a:off x="318971" y="5588420"/>
            <a:ext cx="989185" cy="28154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28BC8D4-3214-E2AE-7BDF-FD65C17BF79B}"/>
              </a:ext>
            </a:extLst>
          </p:cNvPr>
          <p:cNvSpPr/>
          <p:nvPr/>
        </p:nvSpPr>
        <p:spPr>
          <a:xfrm>
            <a:off x="324196" y="5651019"/>
            <a:ext cx="983960" cy="1876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X = 65 (m</a:t>
            </a:r>
            <a:r>
              <a:rPr lang="en-US" sz="1800" b="1" baseline="30000" dirty="0">
                <a:solidFill>
                  <a:srgbClr val="0B1F3A"/>
                </a:solidFill>
              </a:rPr>
              <a:t>2</a:t>
            </a:r>
            <a:r>
              <a:rPr lang="en-US" sz="1800" b="1" dirty="0">
                <a:solidFill>
                  <a:srgbClr val="0B1F3A"/>
                </a:solidFill>
              </a:rPr>
              <a:t>)</a:t>
            </a:r>
            <a:endParaRPr lang="en-US" sz="18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C0AFC40C-D680-05CE-17B9-C0E31A4BE976}"/>
              </a:ext>
            </a:extLst>
          </p:cNvPr>
          <p:cNvSpPr/>
          <p:nvPr/>
        </p:nvSpPr>
        <p:spPr>
          <a:xfrm>
            <a:off x="1308156" y="5705149"/>
            <a:ext cx="236415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500C1A89-8BBA-26F7-1A6B-494E8937E8D0}"/>
              </a:ext>
            </a:extLst>
          </p:cNvPr>
          <p:cNvSpPr/>
          <p:nvPr/>
        </p:nvSpPr>
        <p:spPr>
          <a:xfrm>
            <a:off x="1617723" y="5431698"/>
            <a:ext cx="1325803" cy="535606"/>
          </a:xfrm>
          <a:prstGeom prst="roundRect">
            <a:avLst>
              <a:gd name="adj" fmla="val 8421"/>
            </a:avLst>
          </a:prstGeom>
          <a:solidFill>
            <a:srgbClr val="FFFF00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DCDE2B00-072B-7387-CD22-4D1850C45D11}"/>
              </a:ext>
            </a:extLst>
          </p:cNvPr>
          <p:cNvSpPr/>
          <p:nvPr/>
        </p:nvSpPr>
        <p:spPr>
          <a:xfrm>
            <a:off x="1672346" y="5588658"/>
            <a:ext cx="1184038" cy="2813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</a:rPr>
              <a:t>Y = 4,7(x) + 28</a:t>
            </a:r>
            <a:endParaRPr lang="en-US" sz="14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2E5E01B5-0E23-7B4B-8B9B-4EF708B666E8}"/>
              </a:ext>
            </a:extLst>
          </p:cNvPr>
          <p:cNvSpPr/>
          <p:nvPr/>
        </p:nvSpPr>
        <p:spPr>
          <a:xfrm>
            <a:off x="3015987" y="5744856"/>
            <a:ext cx="26244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79716758-611C-8C1E-0714-A715A83C3C06}"/>
              </a:ext>
            </a:extLst>
          </p:cNvPr>
          <p:cNvSpPr/>
          <p:nvPr/>
        </p:nvSpPr>
        <p:spPr>
          <a:xfrm>
            <a:off x="3296647" y="5522062"/>
            <a:ext cx="1390633" cy="371506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1530BD28-2D5F-6FCA-2948-7FAABA472CCA}"/>
              </a:ext>
            </a:extLst>
          </p:cNvPr>
          <p:cNvSpPr/>
          <p:nvPr/>
        </p:nvSpPr>
        <p:spPr>
          <a:xfrm>
            <a:off x="3369799" y="5532157"/>
            <a:ext cx="1256909" cy="345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Y = 333,5 (R$)</a:t>
            </a:r>
            <a:endParaRPr lang="en-US" sz="18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7A64E9C6-00D6-01F8-8CDA-8B3EC7B74BA2}"/>
              </a:ext>
            </a:extLst>
          </p:cNvPr>
          <p:cNvSpPr/>
          <p:nvPr/>
        </p:nvSpPr>
        <p:spPr>
          <a:xfrm>
            <a:off x="182810" y="5267940"/>
            <a:ext cx="1307139" cy="2815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entrada</a:t>
            </a:r>
            <a:endParaRPr lang="en-US" sz="18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C4BE3BFC-248C-D7CB-0F5A-5F180C8EAFCB}"/>
              </a:ext>
            </a:extLst>
          </p:cNvPr>
          <p:cNvSpPr/>
          <p:nvPr/>
        </p:nvSpPr>
        <p:spPr>
          <a:xfrm>
            <a:off x="3302352" y="5225095"/>
            <a:ext cx="1307139" cy="2815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0B1F3A"/>
                </a:solidFill>
              </a:rPr>
              <a:t>saída</a:t>
            </a:r>
            <a:endParaRPr lang="en-US" sz="18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61618AB3-299A-5ED8-A8FF-CBEC213B7076}"/>
              </a:ext>
            </a:extLst>
          </p:cNvPr>
          <p:cNvSpPr/>
          <p:nvPr/>
        </p:nvSpPr>
        <p:spPr>
          <a:xfrm>
            <a:off x="1627054" y="4984103"/>
            <a:ext cx="1307139" cy="2815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0B1F3A"/>
                </a:solidFill>
              </a:rPr>
              <a:t>Fórmula</a:t>
            </a:r>
            <a:r>
              <a:rPr lang="en-US" sz="1800" b="1" dirty="0">
                <a:solidFill>
                  <a:srgbClr val="0B1F3A"/>
                </a:solidFill>
              </a:rPr>
              <a:t> ?</a:t>
            </a:r>
            <a:endParaRPr lang="en-US" sz="18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10B5404-8419-5D43-3C53-4685C35A5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370" y="1458541"/>
            <a:ext cx="6610350" cy="4419600"/>
          </a:xfrm>
          <a:prstGeom prst="rect">
            <a:avLst/>
          </a:prstGeom>
        </p:spPr>
      </p:pic>
      <p:sp>
        <p:nvSpPr>
          <p:cNvPr id="14" name="Shape 12">
            <a:extLst>
              <a:ext uri="{FF2B5EF4-FFF2-40B4-BE49-F238E27FC236}">
                <a16:creationId xmlns:a16="http://schemas.microsoft.com/office/drawing/2014/main" id="{D2894A95-2B68-CE94-2E99-61D7898AF916}"/>
              </a:ext>
            </a:extLst>
          </p:cNvPr>
          <p:cNvSpPr/>
          <p:nvPr/>
        </p:nvSpPr>
        <p:spPr>
          <a:xfrm flipV="1">
            <a:off x="3102708" y="3016738"/>
            <a:ext cx="6221046" cy="614072"/>
          </a:xfrm>
          <a:prstGeom prst="line">
            <a:avLst/>
          </a:prstGeom>
          <a:ln>
            <a:solidFill>
              <a:srgbClr val="FF0000"/>
            </a:solidFill>
            <a:headEnd type="non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2459522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DE OTIMIZAÇÃO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Parte II — O que significa treinar?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2157984"/>
            <a:ext cx="10332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Treinar é encontrar os valores de </a:t>
            </a:r>
            <a:r>
              <a:rPr lang="en-US" sz="2000" b="1" dirty="0">
                <a:solidFill>
                  <a:srgbClr val="FF0000"/>
                </a:solidFill>
              </a:rPr>
              <a:t>w</a:t>
            </a:r>
            <a:r>
              <a:rPr lang="en-US" sz="2000" b="1" dirty="0">
                <a:solidFill>
                  <a:srgbClr val="0B1F3A"/>
                </a:solidFill>
              </a:rPr>
              <a:t> e </a:t>
            </a:r>
            <a:r>
              <a:rPr lang="en-US" sz="2000" b="1" dirty="0">
                <a:solidFill>
                  <a:srgbClr val="FF0000"/>
                </a:solidFill>
              </a:rPr>
              <a:t>b</a:t>
            </a:r>
            <a:r>
              <a:rPr lang="en-US" sz="2000" b="1" dirty="0">
                <a:solidFill>
                  <a:srgbClr val="0B1F3A"/>
                </a:solidFill>
              </a:rPr>
              <a:t> que tornam as previsões o mais próximas possível dos valores reais.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20624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4279392"/>
            <a:ext cx="168249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parâmetros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80360" y="4498848"/>
            <a:ext cx="11887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51960" y="420624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5112" y="4279392"/>
            <a:ext cx="168249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previsões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4498848"/>
            <a:ext cx="11887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89520" y="420624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FFF7E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62672" y="4279392"/>
            <a:ext cx="145389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erros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326880" y="4498848"/>
            <a:ext cx="8229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332720" y="420624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05872" y="4279392"/>
            <a:ext cx="95097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loss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Y E Ŷ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Erro, resíduo e perda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14300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216152"/>
            <a:ext cx="33375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erroᵢ = yᵢ − ŷᵢ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6492240" y="5623560"/>
            <a:ext cx="44805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417320"/>
            <a:ext cx="0" cy="42062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5879" y="4614062"/>
            <a:ext cx="3674059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88759" y="4446727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29907" y="4403750"/>
            <a:ext cx="0" cy="8412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71232" y="4026103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12380" y="3993642"/>
            <a:ext cx="0" cy="73609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3705" y="368960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4853" y="3583534"/>
            <a:ext cx="0" cy="147218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80983" y="3184855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2131" y="3141878"/>
            <a:ext cx="0" cy="8412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97873" y="2722169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39021" y="2637130"/>
            <a:ext cx="0" cy="126187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25151" y="221742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66299" y="2195474"/>
            <a:ext cx="0" cy="63094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5703113"/>
            <a:ext cx="4023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Linhas tracejadas: distância vertical entre o valor real e a previsão.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8680" y="2331720"/>
            <a:ext cx="1463040" cy="50292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2368296"/>
            <a:ext cx="1408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Valor real </a:t>
            </a:r>
          </a:p>
          <a:p>
            <a:pPr marL="0" indent="0" algn="ctr">
              <a:buNone/>
            </a:pPr>
            <a:r>
              <a:rPr lang="en-US" sz="1500" b="1" dirty="0" err="1">
                <a:solidFill>
                  <a:srgbClr val="111827"/>
                </a:solidFill>
              </a:rPr>
              <a:t>saida</a:t>
            </a:r>
            <a:r>
              <a:rPr lang="en-US" sz="1500" b="1" dirty="0">
                <a:solidFill>
                  <a:srgbClr val="111827"/>
                </a:solidFill>
              </a:rPr>
              <a:t> 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331720" y="2331720"/>
            <a:ext cx="1463040" cy="50292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59152" y="2368296"/>
            <a:ext cx="1408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11827"/>
                </a:solidFill>
              </a:rPr>
              <a:t>Previsão</a:t>
            </a:r>
            <a:r>
              <a:rPr lang="en-US" sz="1500" b="1" dirty="0">
                <a:solidFill>
                  <a:srgbClr val="111827"/>
                </a:solidFill>
              </a:rPr>
              <a:t> do </a:t>
            </a:r>
            <a:r>
              <a:rPr lang="en-US" sz="1500" b="1" dirty="0" err="1">
                <a:solidFill>
                  <a:srgbClr val="111827"/>
                </a:solidFill>
              </a:rPr>
              <a:t>modelo</a:t>
            </a:r>
            <a:r>
              <a:rPr lang="en-US" sz="1500" b="1" dirty="0">
                <a:solidFill>
                  <a:srgbClr val="111827"/>
                </a:solidFill>
              </a:rPr>
              <a:t> para ŷ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794760" y="2331720"/>
            <a:ext cx="1463040" cy="50292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22192" y="2368296"/>
            <a:ext cx="1408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erro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68680" y="2834640"/>
            <a:ext cx="146304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2871216"/>
            <a:ext cx="1408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100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331720" y="2834640"/>
            <a:ext cx="146304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59152" y="2871216"/>
            <a:ext cx="1408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90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794760" y="2834640"/>
            <a:ext cx="146304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22192" y="2871216"/>
            <a:ext cx="1408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+10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68680" y="3337560"/>
            <a:ext cx="146304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3374136"/>
            <a:ext cx="1408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100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331720" y="3337560"/>
            <a:ext cx="146304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59152" y="3374136"/>
            <a:ext cx="1408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110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794760" y="3337560"/>
            <a:ext cx="146304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22192" y="3374136"/>
            <a:ext cx="1408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−10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686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A"/>
                </a:solidFill>
              </a:rPr>
              <a:t>Erros positivos e negativos podem se cancelar. Por isso usamos o erro ao quadrado.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 DE PERDA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MSE e Mínimos Quadrados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" y="123444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307592"/>
            <a:ext cx="52120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MSE = (1/n) Σ (yᵢ − ŷᵢ)²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097280" y="242316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496312"/>
            <a:ext cx="52120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(1/n) Σ ½(ŷᵢ − yᵢ)²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97280" y="3886200"/>
            <a:ext cx="5669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</a:rPr>
              <a:t>Objetivo: minimizar a soma dos erros quadráticos.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98080" y="5623560"/>
            <a:ext cx="34747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417320"/>
            <a:ext cx="0" cy="42062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41310" y="4614062"/>
            <a:ext cx="284927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73898" y="4446727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15046" y="4403750"/>
            <a:ext cx="0" cy="8412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5612" y="4026103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3993642"/>
            <a:ext cx="0" cy="73609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7326" y="368960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18474" y="3583534"/>
            <a:ext cx="0" cy="147218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63786" y="3184855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04934" y="3141878"/>
            <a:ext cx="0" cy="8412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19742" y="2722169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60890" y="2637130"/>
            <a:ext cx="0" cy="126187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06202" y="221742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47350" y="2195474"/>
            <a:ext cx="0" cy="63094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5532120"/>
            <a:ext cx="3291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Melhor reta = menor perda total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A ÁLGEBRA RESOLVE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Solução analítica: Ordinary Least Squares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3258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399032"/>
            <a:ext cx="484632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W* = (XᵀX)⁻¹ XᵀY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53949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</a:rPr>
              <a:t>A solução analítica encontra diretamente os parâmetros ótimos ao zerar o gradiente da perda.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0" y="1508760"/>
            <a:ext cx="12801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8352" y="1581912"/>
            <a:ext cx="113385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X e 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32520" y="1810512"/>
            <a:ext cx="7315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646920" y="15087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20072" y="1581912"/>
            <a:ext cx="122529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álgebra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332720" y="2286000"/>
            <a:ext cx="0" cy="82296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46920" y="32461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0072" y="3319272"/>
            <a:ext cx="122529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W*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4572000"/>
            <a:ext cx="4572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34155"/>
                </a:solidFill>
              </a:rPr>
              <a:t>Boa para entender a regressão linear. Nem sempre é viável ou adequada em problemas grandes, singulares ou não convexos.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PONTE PARA ML MODERNO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falar de gradiente?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Muitos modelos não têm solução fechada simples. Então usamos otimização iterativa.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25603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633472"/>
            <a:ext cx="168249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começa com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w e 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34640" y="2971800"/>
            <a:ext cx="10972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0" y="25603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2633472"/>
            <a:ext cx="168249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mede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a loss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80760" y="2971800"/>
            <a:ext cx="10972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60920" y="25603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34072" y="2633472"/>
            <a:ext cx="168249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calcula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gradiente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326880" y="2971800"/>
            <a:ext cx="10058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515600" y="25603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88752" y="2633472"/>
            <a:ext cx="122529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atualiza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w e 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23360" y="4937760"/>
            <a:ext cx="4114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Repete até a perda parar de diminuir.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ATUALIZAÇÃO DOS PARÂMETROS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Gradient Descent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18872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61872"/>
            <a:ext cx="4023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← w − η · ∂L/∂w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30552"/>
            <a:ext cx="4023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 ← b − η · ∂L/∂b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4846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</a:rPr>
              <a:t>O gradiente aponta a direção de aumento da loss. Caminhamos no sentido oposto.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675120" y="5440680"/>
            <a:ext cx="4023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143000"/>
            <a:ext cx="0" cy="42976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143000"/>
            <a:ext cx="67056" cy="281737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42176" y="1424737"/>
            <a:ext cx="67056" cy="272186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09232" y="1696923"/>
            <a:ext cx="67056" cy="262636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76288" y="1959559"/>
            <a:ext cx="67056" cy="253086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3344" y="2212645"/>
            <a:ext cx="67056" cy="243535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10400" y="2456180"/>
            <a:ext cx="67056" cy="233985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77456" y="2690165"/>
            <a:ext cx="67056" cy="224434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44512" y="2914599"/>
            <a:ext cx="67056" cy="214884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11568" y="3129483"/>
            <a:ext cx="67056" cy="205334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78624" y="3334817"/>
            <a:ext cx="67056" cy="195783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45680" y="3530600"/>
            <a:ext cx="67056" cy="186233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12736" y="3716833"/>
            <a:ext cx="67056" cy="176682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79792" y="3893515"/>
            <a:ext cx="67056" cy="167132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6848" y="4060647"/>
            <a:ext cx="67056" cy="157582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13904" y="4218229"/>
            <a:ext cx="67056" cy="148031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4366260"/>
            <a:ext cx="67056" cy="138481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48016" y="4504741"/>
            <a:ext cx="67056" cy="12893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5072" y="4633671"/>
            <a:ext cx="67056" cy="11938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82128" y="4753051"/>
            <a:ext cx="67056" cy="10983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49184" y="4862881"/>
            <a:ext cx="67056" cy="100279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16240" y="4963160"/>
            <a:ext cx="67056" cy="90729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83296" y="5053889"/>
            <a:ext cx="67056" cy="81178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50352" y="5135067"/>
            <a:ext cx="67056" cy="71628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17408" y="5206695"/>
            <a:ext cx="67056" cy="62078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84464" y="5268773"/>
            <a:ext cx="67056" cy="52527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51520" y="5321300"/>
            <a:ext cx="67056" cy="42977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8576" y="5364277"/>
            <a:ext cx="67056" cy="33426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85632" y="5397703"/>
            <a:ext cx="67056" cy="23876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52688" y="5421579"/>
            <a:ext cx="67056" cy="14326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19744" y="5435905"/>
            <a:ext cx="67056" cy="4775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86800" y="5440680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53856" y="5435905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20912" y="5421579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87968" y="5397703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55024" y="5364277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22080" y="5321300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89136" y="5268773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6192" y="5206695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23248" y="5135067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90304" y="5053889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57360" y="4963160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424416" y="4862881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91472" y="4753051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58528" y="4633671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625584" y="4504741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692640" y="4366260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59696" y="4218229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826752" y="4060647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93808" y="3893515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960864" y="3716833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027920" y="3530600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94976" y="3334817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162032" y="3129483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29088" y="2914599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296144" y="2690165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63200" y="2456180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30256" y="2212645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497312" y="1959559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564368" y="1696923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631424" y="1424737"/>
            <a:ext cx="67056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053828" y="3293669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49256" y="3353105"/>
            <a:ext cx="0" cy="903027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9550908" y="452925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546336" y="4588688"/>
            <a:ext cx="0" cy="52698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9098280" y="5184648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093708" y="5244084"/>
            <a:ext cx="0" cy="18585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8796528" y="537804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412480" y="5559552"/>
            <a:ext cx="1005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mínimo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Η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rate: o tamanho do passo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914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07592"/>
            <a:ext cx="64008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η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9202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</a:rPr>
              <a:t>η controla o tamanho de cada atualização.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16352"/>
            <a:ext cx="232257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</a:rPr>
              <a:t>muito pequeno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</a:rPr>
              <a:t>aprende devagar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5394960"/>
            <a:ext cx="1920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3931920"/>
            <a:ext cx="0" cy="14630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21892" y="485089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23060" y="471373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4228" y="457657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25396" y="443941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6564" y="430225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7432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2816352"/>
            <a:ext cx="232257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</a:rPr>
              <a:t>adequado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0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converge bem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46320" y="5394960"/>
            <a:ext cx="1920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931920"/>
            <a:ext cx="0" cy="14630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79492" y="485089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08676" y="462229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37860" y="439369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67044" y="416509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74320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2816352"/>
            <a:ext cx="2322576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</a:rPr>
              <a:t>muito grande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229600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</a:rPr>
              <a:t>pode divergir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503920" y="5394960"/>
            <a:ext cx="1920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3931920"/>
            <a:ext cx="0" cy="14630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37092" y="503377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21140" y="402793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5188" y="503377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89236" y="402793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ESCALABILIDADE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Batch, SGD e Mini-batch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280160"/>
            <a:ext cx="1645920" cy="68580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316736"/>
            <a:ext cx="15910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Estratégia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1280160"/>
            <a:ext cx="3017520" cy="68580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316736"/>
            <a:ext cx="29626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Dados usados por atualização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0" y="1280160"/>
            <a:ext cx="2103120" cy="68580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13832" y="1316736"/>
            <a:ext cx="20482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Vantagem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1965960"/>
            <a:ext cx="16459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002536"/>
            <a:ext cx="15910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Batch GD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68880" y="1965960"/>
            <a:ext cx="30175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2002536"/>
            <a:ext cx="29626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dataset inteiro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0" y="1965960"/>
            <a:ext cx="21031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2002536"/>
            <a:ext cx="20482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estável, mas caro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2651760"/>
            <a:ext cx="16459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2688336"/>
            <a:ext cx="15910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SGD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468880" y="2651760"/>
            <a:ext cx="30175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2688336"/>
            <a:ext cx="29626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1 exemplo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0" y="2651760"/>
            <a:ext cx="21031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2688336"/>
            <a:ext cx="20482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barato, mas ruidoso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3337560"/>
            <a:ext cx="16459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374136"/>
            <a:ext cx="15910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Mini-batch SGD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468880" y="3337560"/>
            <a:ext cx="30175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96312" y="3374136"/>
            <a:ext cx="29626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pequeno lote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0" y="3337560"/>
            <a:ext cx="21031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3374136"/>
            <a:ext cx="20482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equilíbrio prático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143000" y="4709160"/>
            <a:ext cx="6126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4782312"/>
            <a:ext cx="58521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← W − η · média(gradientes do lote)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8412480" y="150876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85632" y="1581912"/>
            <a:ext cx="195681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dados grandes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464040" y="2240280"/>
            <a:ext cx="0" cy="73152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412480" y="310896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85632" y="3182112"/>
            <a:ext cx="195681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lotes β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464040" y="3840480"/>
            <a:ext cx="0" cy="73152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412480" y="470916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85632" y="4782312"/>
            <a:ext cx="195681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atualizações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frequentes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MÃO NA MASSA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Parte III — Mini-laboratório em Python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98755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A"/>
                </a:solidFill>
              </a:rPr>
              <a:t>Objetivo: ajustar uma reta para prever preço a partir da área.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1783080"/>
            <a:ext cx="6217920" cy="4160520"/>
          </a:xfrm>
          <a:prstGeom prst="roundRect">
            <a:avLst>
              <a:gd name="adj" fmla="val 175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993392"/>
            <a:ext cx="576072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LinearRegression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np.array([[40], [50], [60], [70], [80]])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np.array([220, 260, 310, 350, 410])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= LinearRegression()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modelo.fit(X, y)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print(modelo.coef_)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print(modelo.intercept_)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print(modelo.predict([[65]]))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818120" y="187452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91272" y="1947672"/>
            <a:ext cx="232257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1. Treinar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fit(X,y)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18120" y="30632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91272" y="3136392"/>
            <a:ext cx="232257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2. Ler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coef_ e intercept_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18120" y="425196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91272" y="4325112"/>
            <a:ext cx="232257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3. Predizer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predict([[65]])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Exercício em sala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10241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Use os dados abaixo para treinar uma regressão linear e prever a nota de quem estudou 6 horas.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05840" y="2011680"/>
            <a:ext cx="1554480" cy="52578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48256"/>
            <a:ext cx="14996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Horas estudadas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60320" y="2011680"/>
            <a:ext cx="822960" cy="52578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2048256"/>
            <a:ext cx="76809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83280" y="2011680"/>
            <a:ext cx="822960" cy="52578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2048256"/>
            <a:ext cx="76809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06240" y="2011680"/>
            <a:ext cx="822960" cy="52578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2048256"/>
            <a:ext cx="76809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0" y="2011680"/>
            <a:ext cx="822960" cy="52578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2048256"/>
            <a:ext cx="76809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52160" y="2011680"/>
            <a:ext cx="822960" cy="525780"/>
          </a:xfrm>
          <a:prstGeom prst="rect">
            <a:avLst/>
          </a:prstGeom>
          <a:solidFill>
            <a:srgbClr val="EAF4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9592" y="2048256"/>
            <a:ext cx="76809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05840" y="2537460"/>
            <a:ext cx="155448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2574036"/>
            <a:ext cx="14996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Nota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560320" y="2537460"/>
            <a:ext cx="82296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2574036"/>
            <a:ext cx="76809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2.0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383280" y="2537460"/>
            <a:ext cx="82296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574036"/>
            <a:ext cx="76809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3.5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206240" y="2537460"/>
            <a:ext cx="82296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33672" y="2574036"/>
            <a:ext cx="76809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5.1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29200" y="2537460"/>
            <a:ext cx="82296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56632" y="2574036"/>
            <a:ext cx="76809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6.8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852160" y="2537460"/>
            <a:ext cx="822960" cy="5257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9592" y="2574036"/>
            <a:ext cx="76809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8.0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05840" y="38862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3959352"/>
            <a:ext cx="259689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Tarefa 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Faça o gráfico de dispersão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617720" y="38862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0872" y="3959352"/>
            <a:ext cx="259689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Tarefa 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Ajuste o modelo linear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229600" y="38862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3959352"/>
            <a:ext cx="259689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Tarefa 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Interprete w, b e a previsão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371600" y="5760720"/>
            <a:ext cx="9509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Discussão: a previsão é confiável fora do intervalo observado?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Resumo final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Regressão Linear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4712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234440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307592"/>
            <a:ext cx="2871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Função conhecida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07592"/>
            <a:ext cx="4023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+ f → y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" y="2057400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130552"/>
            <a:ext cx="2871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Machine Learning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2057400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130552"/>
            <a:ext cx="4023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+ Y → modelo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" y="2880360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EAF4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953512"/>
            <a:ext cx="2871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Regressão Linear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2880360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953512"/>
            <a:ext cx="4023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wx + b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4400" y="3703320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776472"/>
            <a:ext cx="2871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Treinamento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0" y="3703320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776472"/>
            <a:ext cx="4023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minimizar erro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14400" y="4526280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599432"/>
            <a:ext cx="287121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Otimização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0" y="4526280"/>
            <a:ext cx="4297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599432"/>
            <a:ext cx="4023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1F3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OLS, GD ou SGD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5806440"/>
            <a:ext cx="9875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Ideia central: aprender um modelo é estimar parâmetros que reduzem o erro entre previsão e realidade.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1780</Words>
  <Application>Microsoft Office PowerPoint</Application>
  <PresentationFormat>Widescreen</PresentationFormat>
  <Paragraphs>509</Paragraphs>
  <Slides>26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Consolas</vt:lpstr>
      <vt:lpstr>Inter</vt:lpstr>
      <vt:lpstr>KaTeX_Main</vt:lpstr>
      <vt:lpstr>KaTeX_Math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UNIP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Regressão Linear</dc:title>
  <dc:subject>Aula de Regressão Linear</dc:subject>
  <dc:creator>OpenAI</dc:creator>
  <cp:lastModifiedBy>Miguel Suarez Xavier Penteado</cp:lastModifiedBy>
  <cp:revision>9</cp:revision>
  <dcterms:created xsi:type="dcterms:W3CDTF">2026-08-17T22:52:05Z</dcterms:created>
  <dcterms:modified xsi:type="dcterms:W3CDTF">2026-08-18T05:31:10Z</dcterms:modified>
</cp:coreProperties>
</file>